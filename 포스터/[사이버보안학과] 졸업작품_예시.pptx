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30275213" cy="42803763"/>
  <p:notesSz cx="6797675" cy="9926638"/>
  <p:embeddedFontLst>
    <p:embeddedFont>
      <p:font typeface="Book Antiqua" panose="02040602050305030304" pitchFamily="18" charset="0"/>
      <p:regular r:id="rId5"/>
      <p:bold r:id="rId6"/>
      <p:italic r:id="rId7"/>
      <p:boldItalic r:id="rId8"/>
    </p:embeddedFont>
    <p:embeddedFont>
      <p:font typeface="Cambria Math" panose="02040503050406030204" pitchFamily="18" charset="0"/>
      <p:regular r:id="rId9"/>
    </p:embeddedFont>
    <p:embeddedFont>
      <p:font typeface="Constantia" panose="02030602050306030303" pitchFamily="18" charset="0"/>
      <p:regular r:id="rId10"/>
      <p:bold r:id="rId11"/>
      <p:italic r:id="rId12"/>
      <p:boldItalic r:id="rId13"/>
    </p:embeddedFont>
    <p:embeddedFont>
      <p:font typeface="Lora" pitchFamily="2" charset="0"/>
      <p:regular r:id="rId14"/>
      <p:bold r:id="rId15"/>
      <p:italic r:id="rId16"/>
      <p:boldItalic r:id="rId17"/>
    </p:embeddedFont>
    <p:embeddedFont>
      <p:font typeface="Norwester" panose="020B0600000101010101" charset="0"/>
      <p:regular r:id="rId18"/>
    </p:embeddedFont>
    <p:embeddedFont>
      <p:font typeface="Tahoma" panose="020B0604030504040204" pitchFamily="34" charset="0"/>
      <p:regular r:id="rId19"/>
      <p:bold r:id="rId20"/>
    </p:embeddedFont>
    <p:embeddedFont>
      <p:font typeface="맑은 고딕" panose="020B0503020000020004" pitchFamily="50" charset="-127"/>
      <p:regular r:id="rId21"/>
      <p:bold r:id="rId22"/>
    </p:embeddedFont>
    <p:embeddedFont>
      <p:font typeface="함초롬바탕" panose="02030604000101010101" pitchFamily="18" charset="-127"/>
      <p:regular r:id="rId23"/>
      <p:bold r:id="rId24"/>
    </p:embeddedFont>
  </p:embeddedFontLst>
  <p:defaultTextStyle>
    <a:defPPr>
      <a:defRPr lang="ko-KR"/>
    </a:defPPr>
    <a:lvl1pPr marL="0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1pPr>
    <a:lvl2pPr marL="1829986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2pPr>
    <a:lvl3pPr marL="3659976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3pPr>
    <a:lvl4pPr marL="5489961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4pPr>
    <a:lvl5pPr marL="7319951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5pPr>
    <a:lvl6pPr marL="9149937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6pPr>
    <a:lvl7pPr marL="10979927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7pPr>
    <a:lvl8pPr marL="12809912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8pPr>
    <a:lvl9pPr marL="14639902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1" userDrawn="1">
          <p15:clr>
            <a:srgbClr val="A4A3A4"/>
          </p15:clr>
        </p15:guide>
        <p15:guide id="2" pos="865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62"/>
    <a:srgbClr val="9A95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7735B-96E0-4A54-986C-AABF5F5E7DF0}" v="294" dt="2023-06-11T09:39:50.08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66" autoAdjust="0"/>
    <p:restoredTop sz="94714" autoAdjust="0"/>
  </p:normalViewPr>
  <p:slideViewPr>
    <p:cSldViewPr>
      <p:cViewPr>
        <p:scale>
          <a:sx n="33" d="100"/>
          <a:sy n="33" d="100"/>
        </p:scale>
        <p:origin x="2274" y="-3114"/>
      </p:cViewPr>
      <p:guideLst>
        <p:guide orient="horz" pos="11521"/>
        <p:guide pos="865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159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7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font" Target="fonts/font20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font" Target="fonts/font19.fntdata"/><Relationship Id="rId28" Type="http://schemas.openxmlformats.org/officeDocument/2006/relationships/tableStyles" Target="tableStyles.xml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3F5CC7-5F30-49B5-B6FB-CCBB823ABBA9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</dgm:pt>
    <dgm:pt modelId="{281893D3-A09E-4476-871E-EE98F09A65D4}">
      <dgm:prSet phldrT="[텍스트]"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Whitelist check</a:t>
          </a:r>
          <a:endParaRPr lang="ko-KR" altLang="en-US" sz="2400" dirty="0">
            <a:latin typeface="Lora" pitchFamily="2" charset="0"/>
          </a:endParaRPr>
        </a:p>
      </dgm:t>
    </dgm:pt>
    <dgm:pt modelId="{A56CA7A9-A3E0-4B43-8A41-D127CCEE52A2}" type="parTrans" cxnId="{CB6D30B4-C04C-4101-9380-692337A668B8}">
      <dgm:prSet/>
      <dgm:spPr/>
      <dgm:t>
        <a:bodyPr/>
        <a:lstStyle/>
        <a:p>
          <a:pPr latinLnBrk="1"/>
          <a:endParaRPr lang="ko-KR" altLang="en-US" sz="1200"/>
        </a:p>
      </dgm:t>
    </dgm:pt>
    <dgm:pt modelId="{F6580B72-9EBC-4358-A3DA-6A9036E24192}" type="sibTrans" cxnId="{CB6D30B4-C04C-4101-9380-692337A668B8}">
      <dgm:prSet custT="1"/>
      <dgm:spPr>
        <a:solidFill>
          <a:srgbClr val="C00000"/>
        </a:solidFill>
      </dgm:spPr>
      <dgm:t>
        <a:bodyPr/>
        <a:lstStyle/>
        <a:p>
          <a:pPr latinLnBrk="1"/>
          <a:endParaRPr lang="ko-KR" altLang="en-US" sz="1100"/>
        </a:p>
      </dgm:t>
    </dgm:pt>
    <dgm:pt modelId="{0FA6C5F2-DE98-4898-86EB-7B4C0CEB5CC3}">
      <dgm:prSet phldrT="[텍스트]"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Access pattern check</a:t>
          </a:r>
          <a:endParaRPr lang="ko-KR" altLang="en-US" sz="2400" dirty="0">
            <a:latin typeface="Lora" pitchFamily="2" charset="0"/>
          </a:endParaRPr>
        </a:p>
      </dgm:t>
    </dgm:pt>
    <dgm:pt modelId="{BBE1BAD1-42E9-46B6-8D24-64E7A98055E5}" type="parTrans" cxnId="{4A58F585-DE6A-4252-8BC9-32C6D1189557}">
      <dgm:prSet/>
      <dgm:spPr/>
      <dgm:t>
        <a:bodyPr/>
        <a:lstStyle/>
        <a:p>
          <a:pPr latinLnBrk="1"/>
          <a:endParaRPr lang="ko-KR" altLang="en-US" sz="1200"/>
        </a:p>
      </dgm:t>
    </dgm:pt>
    <dgm:pt modelId="{797F63C3-55B7-42D8-A11F-56773C4E514C}" type="sibTrans" cxnId="{4A58F585-DE6A-4252-8BC9-32C6D1189557}">
      <dgm:prSet custT="1"/>
      <dgm:spPr>
        <a:solidFill>
          <a:srgbClr val="C00000"/>
        </a:solidFill>
      </dgm:spPr>
      <dgm:t>
        <a:bodyPr/>
        <a:lstStyle/>
        <a:p>
          <a:pPr latinLnBrk="1"/>
          <a:endParaRPr lang="ko-KR" altLang="en-US" sz="1100"/>
        </a:p>
      </dgm:t>
    </dgm:pt>
    <dgm:pt modelId="{9B99A6EA-0ACB-43C2-93A4-408CAE5A4244}">
      <dgm:prSet phldrT="[텍스트]"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Entropy check</a:t>
          </a:r>
          <a:endParaRPr lang="ko-KR" altLang="en-US" sz="2400" dirty="0">
            <a:latin typeface="Lora" pitchFamily="2" charset="0"/>
          </a:endParaRPr>
        </a:p>
      </dgm:t>
    </dgm:pt>
    <dgm:pt modelId="{8DA841C2-E1B7-4126-B252-0BD63FD167A8}" type="parTrans" cxnId="{9E3D9C5F-E4B1-4672-8B45-2070247D653A}">
      <dgm:prSet/>
      <dgm:spPr/>
      <dgm:t>
        <a:bodyPr/>
        <a:lstStyle/>
        <a:p>
          <a:pPr latinLnBrk="1"/>
          <a:endParaRPr lang="ko-KR" altLang="en-US" sz="1200"/>
        </a:p>
      </dgm:t>
    </dgm:pt>
    <dgm:pt modelId="{052D7302-88DA-4980-8941-0CF6AD46AA50}" type="sibTrans" cxnId="{9E3D9C5F-E4B1-4672-8B45-2070247D653A}">
      <dgm:prSet custT="1"/>
      <dgm:spPr>
        <a:solidFill>
          <a:srgbClr val="C00000"/>
        </a:solidFill>
      </dgm:spPr>
      <dgm:t>
        <a:bodyPr/>
        <a:lstStyle/>
        <a:p>
          <a:pPr latinLnBrk="1"/>
          <a:endParaRPr lang="ko-KR" altLang="en-US" sz="1100"/>
        </a:p>
      </dgm:t>
    </dgm:pt>
    <dgm:pt modelId="{D67FACB9-6D6D-46BA-B877-1E7429938EDD}">
      <dgm:prSet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Encoding</a:t>
          </a:r>
          <a:r>
            <a:rPr lang="en-US" altLang="ko-KR" sz="2000" dirty="0">
              <a:latin typeface="Lora" pitchFamily="2" charset="0"/>
            </a:rPr>
            <a:t> </a:t>
          </a:r>
          <a:r>
            <a:rPr lang="en-US" altLang="ko-KR" sz="2400" dirty="0">
              <a:latin typeface="Lora" pitchFamily="2" charset="0"/>
            </a:rPr>
            <a:t>check</a:t>
          </a:r>
          <a:endParaRPr lang="ko-KR" altLang="en-US" sz="2000" dirty="0">
            <a:latin typeface="Lora" pitchFamily="2" charset="0"/>
          </a:endParaRPr>
        </a:p>
      </dgm:t>
    </dgm:pt>
    <dgm:pt modelId="{3D9C3514-FFCA-4B06-9997-7A208671B61A}" type="parTrans" cxnId="{922EE41A-3FF6-480D-AA0C-F9887E9EE54B}">
      <dgm:prSet/>
      <dgm:spPr/>
      <dgm:t>
        <a:bodyPr/>
        <a:lstStyle/>
        <a:p>
          <a:pPr latinLnBrk="1"/>
          <a:endParaRPr lang="ko-KR" altLang="en-US" sz="1800"/>
        </a:p>
      </dgm:t>
    </dgm:pt>
    <dgm:pt modelId="{E332AAA8-E981-4583-9018-98160FBA3EF6}" type="sibTrans" cxnId="{922EE41A-3FF6-480D-AA0C-F9887E9EE54B}">
      <dgm:prSet custT="1"/>
      <dgm:spPr>
        <a:solidFill>
          <a:srgbClr val="C00000"/>
        </a:solidFill>
      </dgm:spPr>
      <dgm:t>
        <a:bodyPr/>
        <a:lstStyle/>
        <a:p>
          <a:pPr latinLnBrk="1"/>
          <a:endParaRPr lang="ko-KR" altLang="en-US" sz="2400"/>
        </a:p>
      </dgm:t>
    </dgm:pt>
    <dgm:pt modelId="{CD9D6E9A-5105-4A61-896F-F3BAF45DA4CF}">
      <dgm:prSet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Kill process</a:t>
          </a:r>
          <a:endParaRPr lang="ko-KR" altLang="en-US" sz="2400" dirty="0"/>
        </a:p>
      </dgm:t>
    </dgm:pt>
    <dgm:pt modelId="{694C1A94-2A09-4859-884D-142FEE46383E}" type="parTrans" cxnId="{29EB3414-9CC4-49B7-A3C0-666D46389505}">
      <dgm:prSet/>
      <dgm:spPr/>
      <dgm:t>
        <a:bodyPr/>
        <a:lstStyle/>
        <a:p>
          <a:pPr latinLnBrk="1"/>
          <a:endParaRPr lang="ko-KR" altLang="en-US" sz="1800"/>
        </a:p>
      </dgm:t>
    </dgm:pt>
    <dgm:pt modelId="{B818ADF2-C393-4692-A8B0-99EF7463DA98}" type="sibTrans" cxnId="{29EB3414-9CC4-49B7-A3C0-666D46389505}">
      <dgm:prSet custT="1"/>
      <dgm:spPr>
        <a:solidFill>
          <a:srgbClr val="C00000"/>
        </a:solidFill>
      </dgm:spPr>
      <dgm:t>
        <a:bodyPr/>
        <a:lstStyle/>
        <a:p>
          <a:pPr latinLnBrk="1"/>
          <a:endParaRPr lang="ko-KR" altLang="en-US" sz="2400"/>
        </a:p>
      </dgm:t>
    </dgm:pt>
    <dgm:pt modelId="{6964E65D-F6F8-4201-B3A3-7EBFDCDF2EDF}">
      <dgm:prSet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Restore</a:t>
          </a:r>
        </a:p>
        <a:p>
          <a:pPr latinLnBrk="1"/>
          <a:r>
            <a:rPr lang="en-US" altLang="ko-KR" sz="2400" dirty="0">
              <a:latin typeface="Lora" pitchFamily="2" charset="0"/>
            </a:rPr>
            <a:t>if needed</a:t>
          </a:r>
          <a:endParaRPr lang="ko-KR" altLang="en-US" sz="2400" dirty="0"/>
        </a:p>
      </dgm:t>
    </dgm:pt>
    <dgm:pt modelId="{E21E2E21-D9AD-4D58-986E-9A783FBE6D4C}" type="parTrans" cxnId="{54A41883-0966-4E60-A1B8-AA33E4499927}">
      <dgm:prSet/>
      <dgm:spPr/>
      <dgm:t>
        <a:bodyPr/>
        <a:lstStyle/>
        <a:p>
          <a:pPr latinLnBrk="1"/>
          <a:endParaRPr lang="ko-KR" altLang="en-US" sz="1800"/>
        </a:p>
      </dgm:t>
    </dgm:pt>
    <dgm:pt modelId="{67F9326F-9C4A-48A0-9FC5-937523B8DF8A}" type="sibTrans" cxnId="{54A41883-0966-4E60-A1B8-AA33E4499927}">
      <dgm:prSet/>
      <dgm:spPr/>
      <dgm:t>
        <a:bodyPr/>
        <a:lstStyle/>
        <a:p>
          <a:pPr latinLnBrk="1"/>
          <a:endParaRPr lang="ko-KR" altLang="en-US" sz="1800"/>
        </a:p>
      </dgm:t>
    </dgm:pt>
    <dgm:pt modelId="{075B53DF-0C9B-4B5F-B034-E776227E6AF1}" type="pres">
      <dgm:prSet presAssocID="{463F5CC7-5F30-49B5-B6FB-CCBB823ABBA9}" presName="Name0" presStyleCnt="0">
        <dgm:presLayoutVars>
          <dgm:dir/>
          <dgm:resizeHandles val="exact"/>
        </dgm:presLayoutVars>
      </dgm:prSet>
      <dgm:spPr/>
    </dgm:pt>
    <dgm:pt modelId="{73BD7BDE-08A9-491A-AACA-0A5A59D18B2D}" type="pres">
      <dgm:prSet presAssocID="{281893D3-A09E-4476-871E-EE98F09A65D4}" presName="node" presStyleLbl="node1" presStyleIdx="0" presStyleCnt="6" custScaleY="134650">
        <dgm:presLayoutVars>
          <dgm:bulletEnabled val="1"/>
        </dgm:presLayoutVars>
      </dgm:prSet>
      <dgm:spPr/>
    </dgm:pt>
    <dgm:pt modelId="{B7DEB294-F466-48BE-935B-9DBA2E7C19F2}" type="pres">
      <dgm:prSet presAssocID="{F6580B72-9EBC-4358-A3DA-6A9036E24192}" presName="sibTrans" presStyleLbl="sibTrans2D1" presStyleIdx="0" presStyleCnt="5" custScaleY="134649"/>
      <dgm:spPr/>
    </dgm:pt>
    <dgm:pt modelId="{FA2BC588-859D-4278-B570-EABFFDE5A00A}" type="pres">
      <dgm:prSet presAssocID="{F6580B72-9EBC-4358-A3DA-6A9036E24192}" presName="connectorText" presStyleLbl="sibTrans2D1" presStyleIdx="0" presStyleCnt="5"/>
      <dgm:spPr/>
    </dgm:pt>
    <dgm:pt modelId="{DD72F3F0-0624-4D2A-9623-EF39DA4FD9FA}" type="pres">
      <dgm:prSet presAssocID="{0FA6C5F2-DE98-4898-86EB-7B4C0CEB5CC3}" presName="node" presStyleLbl="node1" presStyleIdx="1" presStyleCnt="6" custScaleY="134650">
        <dgm:presLayoutVars>
          <dgm:bulletEnabled val="1"/>
        </dgm:presLayoutVars>
      </dgm:prSet>
      <dgm:spPr/>
    </dgm:pt>
    <dgm:pt modelId="{2635C715-C9BA-471D-AC5B-BA84B401B679}" type="pres">
      <dgm:prSet presAssocID="{797F63C3-55B7-42D8-A11F-56773C4E514C}" presName="sibTrans" presStyleLbl="sibTrans2D1" presStyleIdx="1" presStyleCnt="5" custScaleY="134649"/>
      <dgm:spPr/>
    </dgm:pt>
    <dgm:pt modelId="{067930D0-E4E5-4A3E-A007-99481AD8242C}" type="pres">
      <dgm:prSet presAssocID="{797F63C3-55B7-42D8-A11F-56773C4E514C}" presName="connectorText" presStyleLbl="sibTrans2D1" presStyleIdx="1" presStyleCnt="5"/>
      <dgm:spPr/>
    </dgm:pt>
    <dgm:pt modelId="{C98073A6-4A5A-4CE5-A8C4-97D42C0EC531}" type="pres">
      <dgm:prSet presAssocID="{9B99A6EA-0ACB-43C2-93A4-408CAE5A4244}" presName="node" presStyleLbl="node1" presStyleIdx="2" presStyleCnt="6" custScaleY="134650">
        <dgm:presLayoutVars>
          <dgm:bulletEnabled val="1"/>
        </dgm:presLayoutVars>
      </dgm:prSet>
      <dgm:spPr/>
    </dgm:pt>
    <dgm:pt modelId="{F9918D30-8430-4A4B-B835-85A979E23FDE}" type="pres">
      <dgm:prSet presAssocID="{052D7302-88DA-4980-8941-0CF6AD46AA50}" presName="sibTrans" presStyleLbl="sibTrans2D1" presStyleIdx="2" presStyleCnt="5" custScaleY="134649"/>
      <dgm:spPr/>
    </dgm:pt>
    <dgm:pt modelId="{80DB7259-B45B-419C-B6AF-EDDFE71B08E3}" type="pres">
      <dgm:prSet presAssocID="{052D7302-88DA-4980-8941-0CF6AD46AA50}" presName="connectorText" presStyleLbl="sibTrans2D1" presStyleIdx="2" presStyleCnt="5"/>
      <dgm:spPr/>
    </dgm:pt>
    <dgm:pt modelId="{B74E6206-59FC-49BB-85BF-337A9C11BCF3}" type="pres">
      <dgm:prSet presAssocID="{D67FACB9-6D6D-46BA-B877-1E7429938EDD}" presName="node" presStyleLbl="node1" presStyleIdx="3" presStyleCnt="6" custScaleY="134650">
        <dgm:presLayoutVars>
          <dgm:bulletEnabled val="1"/>
        </dgm:presLayoutVars>
      </dgm:prSet>
      <dgm:spPr/>
    </dgm:pt>
    <dgm:pt modelId="{C48E4ED9-EFB5-4550-BBBE-63CA2335E1E6}" type="pres">
      <dgm:prSet presAssocID="{E332AAA8-E981-4583-9018-98160FBA3EF6}" presName="sibTrans" presStyleLbl="sibTrans2D1" presStyleIdx="3" presStyleCnt="5" custScaleY="134649"/>
      <dgm:spPr/>
    </dgm:pt>
    <dgm:pt modelId="{D8DC317C-34F3-4F1A-AC3E-211220EDC206}" type="pres">
      <dgm:prSet presAssocID="{E332AAA8-E981-4583-9018-98160FBA3EF6}" presName="connectorText" presStyleLbl="sibTrans2D1" presStyleIdx="3" presStyleCnt="5"/>
      <dgm:spPr/>
    </dgm:pt>
    <dgm:pt modelId="{2B50330D-B7BF-4445-9328-A403E8D8CD1D}" type="pres">
      <dgm:prSet presAssocID="{CD9D6E9A-5105-4A61-896F-F3BAF45DA4CF}" presName="node" presStyleLbl="node1" presStyleIdx="4" presStyleCnt="6" custScaleY="134650">
        <dgm:presLayoutVars>
          <dgm:bulletEnabled val="1"/>
        </dgm:presLayoutVars>
      </dgm:prSet>
      <dgm:spPr/>
    </dgm:pt>
    <dgm:pt modelId="{9ADA734E-FAAD-4FC3-867C-764F2675A72C}" type="pres">
      <dgm:prSet presAssocID="{B818ADF2-C393-4692-A8B0-99EF7463DA98}" presName="sibTrans" presStyleLbl="sibTrans2D1" presStyleIdx="4" presStyleCnt="5" custScaleY="134649"/>
      <dgm:spPr/>
    </dgm:pt>
    <dgm:pt modelId="{D14FD3B1-D6D4-4B69-BD57-E9E770A5AE82}" type="pres">
      <dgm:prSet presAssocID="{B818ADF2-C393-4692-A8B0-99EF7463DA98}" presName="connectorText" presStyleLbl="sibTrans2D1" presStyleIdx="4" presStyleCnt="5"/>
      <dgm:spPr/>
    </dgm:pt>
    <dgm:pt modelId="{D9FDC670-59AA-410D-BC5D-74C6A66A9E7A}" type="pres">
      <dgm:prSet presAssocID="{6964E65D-F6F8-4201-B3A3-7EBFDCDF2EDF}" presName="node" presStyleLbl="node1" presStyleIdx="5" presStyleCnt="6" custScaleY="134650">
        <dgm:presLayoutVars>
          <dgm:bulletEnabled val="1"/>
        </dgm:presLayoutVars>
      </dgm:prSet>
      <dgm:spPr/>
    </dgm:pt>
  </dgm:ptLst>
  <dgm:cxnLst>
    <dgm:cxn modelId="{AAEBFE0B-5FDE-4E1C-B6D1-CFA00D3B2C90}" type="presOf" srcId="{D67FACB9-6D6D-46BA-B877-1E7429938EDD}" destId="{B74E6206-59FC-49BB-85BF-337A9C11BCF3}" srcOrd="0" destOrd="0" presId="urn:microsoft.com/office/officeart/2005/8/layout/process1"/>
    <dgm:cxn modelId="{40274411-4499-44E8-B484-D8382EE93D1A}" type="presOf" srcId="{281893D3-A09E-4476-871E-EE98F09A65D4}" destId="{73BD7BDE-08A9-491A-AACA-0A5A59D18B2D}" srcOrd="0" destOrd="0" presId="urn:microsoft.com/office/officeart/2005/8/layout/process1"/>
    <dgm:cxn modelId="{29EB3414-9CC4-49B7-A3C0-666D46389505}" srcId="{463F5CC7-5F30-49B5-B6FB-CCBB823ABBA9}" destId="{CD9D6E9A-5105-4A61-896F-F3BAF45DA4CF}" srcOrd="4" destOrd="0" parTransId="{694C1A94-2A09-4859-884D-142FEE46383E}" sibTransId="{B818ADF2-C393-4692-A8B0-99EF7463DA98}"/>
    <dgm:cxn modelId="{97522317-A750-4610-8B46-51245CD01433}" type="presOf" srcId="{052D7302-88DA-4980-8941-0CF6AD46AA50}" destId="{80DB7259-B45B-419C-B6AF-EDDFE71B08E3}" srcOrd="1" destOrd="0" presId="urn:microsoft.com/office/officeart/2005/8/layout/process1"/>
    <dgm:cxn modelId="{922EE41A-3FF6-480D-AA0C-F9887E9EE54B}" srcId="{463F5CC7-5F30-49B5-B6FB-CCBB823ABBA9}" destId="{D67FACB9-6D6D-46BA-B877-1E7429938EDD}" srcOrd="3" destOrd="0" parTransId="{3D9C3514-FFCA-4B06-9997-7A208671B61A}" sibTransId="{E332AAA8-E981-4583-9018-98160FBA3EF6}"/>
    <dgm:cxn modelId="{0E09523C-0549-4C79-B20F-0C04B84AA30F}" type="presOf" srcId="{463F5CC7-5F30-49B5-B6FB-CCBB823ABBA9}" destId="{075B53DF-0C9B-4B5F-B034-E776227E6AF1}" srcOrd="0" destOrd="0" presId="urn:microsoft.com/office/officeart/2005/8/layout/process1"/>
    <dgm:cxn modelId="{9E3D9C5F-E4B1-4672-8B45-2070247D653A}" srcId="{463F5CC7-5F30-49B5-B6FB-CCBB823ABBA9}" destId="{9B99A6EA-0ACB-43C2-93A4-408CAE5A4244}" srcOrd="2" destOrd="0" parTransId="{8DA841C2-E1B7-4126-B252-0BD63FD167A8}" sibTransId="{052D7302-88DA-4980-8941-0CF6AD46AA50}"/>
    <dgm:cxn modelId="{B42D3A61-C37A-4ADC-82B3-EFC292BF0940}" type="presOf" srcId="{797F63C3-55B7-42D8-A11F-56773C4E514C}" destId="{067930D0-E4E5-4A3E-A007-99481AD8242C}" srcOrd="1" destOrd="0" presId="urn:microsoft.com/office/officeart/2005/8/layout/process1"/>
    <dgm:cxn modelId="{7D01904F-0184-478F-862C-A9F0FAEB3F88}" type="presOf" srcId="{9B99A6EA-0ACB-43C2-93A4-408CAE5A4244}" destId="{C98073A6-4A5A-4CE5-A8C4-97D42C0EC531}" srcOrd="0" destOrd="0" presId="urn:microsoft.com/office/officeart/2005/8/layout/process1"/>
    <dgm:cxn modelId="{9BD93F82-DC19-4EB0-BB34-D6511696B362}" type="presOf" srcId="{B818ADF2-C393-4692-A8B0-99EF7463DA98}" destId="{9ADA734E-FAAD-4FC3-867C-764F2675A72C}" srcOrd="0" destOrd="0" presId="urn:microsoft.com/office/officeart/2005/8/layout/process1"/>
    <dgm:cxn modelId="{54A41883-0966-4E60-A1B8-AA33E4499927}" srcId="{463F5CC7-5F30-49B5-B6FB-CCBB823ABBA9}" destId="{6964E65D-F6F8-4201-B3A3-7EBFDCDF2EDF}" srcOrd="5" destOrd="0" parTransId="{E21E2E21-D9AD-4D58-986E-9A783FBE6D4C}" sibTransId="{67F9326F-9C4A-48A0-9FC5-937523B8DF8A}"/>
    <dgm:cxn modelId="{4A58F585-DE6A-4252-8BC9-32C6D1189557}" srcId="{463F5CC7-5F30-49B5-B6FB-CCBB823ABBA9}" destId="{0FA6C5F2-DE98-4898-86EB-7B4C0CEB5CC3}" srcOrd="1" destOrd="0" parTransId="{BBE1BAD1-42E9-46B6-8D24-64E7A98055E5}" sibTransId="{797F63C3-55B7-42D8-A11F-56773C4E514C}"/>
    <dgm:cxn modelId="{58B3C192-AF75-4D9F-B580-56B8B83F719A}" type="presOf" srcId="{052D7302-88DA-4980-8941-0CF6AD46AA50}" destId="{F9918D30-8430-4A4B-B835-85A979E23FDE}" srcOrd="0" destOrd="0" presId="urn:microsoft.com/office/officeart/2005/8/layout/process1"/>
    <dgm:cxn modelId="{620E6193-B819-4D05-B6A5-550F5807BDCE}" type="presOf" srcId="{0FA6C5F2-DE98-4898-86EB-7B4C0CEB5CC3}" destId="{DD72F3F0-0624-4D2A-9623-EF39DA4FD9FA}" srcOrd="0" destOrd="0" presId="urn:microsoft.com/office/officeart/2005/8/layout/process1"/>
    <dgm:cxn modelId="{B55590A8-64DD-4D90-88A8-DF2646579263}" type="presOf" srcId="{E332AAA8-E981-4583-9018-98160FBA3EF6}" destId="{C48E4ED9-EFB5-4550-BBBE-63CA2335E1E6}" srcOrd="0" destOrd="0" presId="urn:microsoft.com/office/officeart/2005/8/layout/process1"/>
    <dgm:cxn modelId="{3F675AA9-0094-4CDC-9DF5-3925ECB70D25}" type="presOf" srcId="{B818ADF2-C393-4692-A8B0-99EF7463DA98}" destId="{D14FD3B1-D6D4-4B69-BD57-E9E770A5AE82}" srcOrd="1" destOrd="0" presId="urn:microsoft.com/office/officeart/2005/8/layout/process1"/>
    <dgm:cxn modelId="{4DA880AF-2D29-4E08-B776-1BD36FA2875B}" type="presOf" srcId="{E332AAA8-E981-4583-9018-98160FBA3EF6}" destId="{D8DC317C-34F3-4F1A-AC3E-211220EDC206}" srcOrd="1" destOrd="0" presId="urn:microsoft.com/office/officeart/2005/8/layout/process1"/>
    <dgm:cxn modelId="{CB6D30B4-C04C-4101-9380-692337A668B8}" srcId="{463F5CC7-5F30-49B5-B6FB-CCBB823ABBA9}" destId="{281893D3-A09E-4476-871E-EE98F09A65D4}" srcOrd="0" destOrd="0" parTransId="{A56CA7A9-A3E0-4B43-8A41-D127CCEE52A2}" sibTransId="{F6580B72-9EBC-4358-A3DA-6A9036E24192}"/>
    <dgm:cxn modelId="{35F568BA-F3D5-4EE2-A8D7-D9F29B936088}" type="presOf" srcId="{797F63C3-55B7-42D8-A11F-56773C4E514C}" destId="{2635C715-C9BA-471D-AC5B-BA84B401B679}" srcOrd="0" destOrd="0" presId="urn:microsoft.com/office/officeart/2005/8/layout/process1"/>
    <dgm:cxn modelId="{BEBEFFC0-FAB4-4570-917D-1882F143911B}" type="presOf" srcId="{6964E65D-F6F8-4201-B3A3-7EBFDCDF2EDF}" destId="{D9FDC670-59AA-410D-BC5D-74C6A66A9E7A}" srcOrd="0" destOrd="0" presId="urn:microsoft.com/office/officeart/2005/8/layout/process1"/>
    <dgm:cxn modelId="{87F594E6-D2C6-4776-A4BA-165EFA9BB0E0}" type="presOf" srcId="{CD9D6E9A-5105-4A61-896F-F3BAF45DA4CF}" destId="{2B50330D-B7BF-4445-9328-A403E8D8CD1D}" srcOrd="0" destOrd="0" presId="urn:microsoft.com/office/officeart/2005/8/layout/process1"/>
    <dgm:cxn modelId="{A37B42EE-BAB1-411E-84F2-68CDC122A250}" type="presOf" srcId="{F6580B72-9EBC-4358-A3DA-6A9036E24192}" destId="{FA2BC588-859D-4278-B570-EABFFDE5A00A}" srcOrd="1" destOrd="0" presId="urn:microsoft.com/office/officeart/2005/8/layout/process1"/>
    <dgm:cxn modelId="{244AABFE-0699-4FAC-8E1B-28106DB630BA}" type="presOf" srcId="{F6580B72-9EBC-4358-A3DA-6A9036E24192}" destId="{B7DEB294-F466-48BE-935B-9DBA2E7C19F2}" srcOrd="0" destOrd="0" presId="urn:microsoft.com/office/officeart/2005/8/layout/process1"/>
    <dgm:cxn modelId="{7D81B6E9-5A8B-4CA5-8D7A-1FDF8301ECB9}" type="presParOf" srcId="{075B53DF-0C9B-4B5F-B034-E776227E6AF1}" destId="{73BD7BDE-08A9-491A-AACA-0A5A59D18B2D}" srcOrd="0" destOrd="0" presId="urn:microsoft.com/office/officeart/2005/8/layout/process1"/>
    <dgm:cxn modelId="{B72B7753-7766-4BB9-9364-7076363ECF19}" type="presParOf" srcId="{075B53DF-0C9B-4B5F-B034-E776227E6AF1}" destId="{B7DEB294-F466-48BE-935B-9DBA2E7C19F2}" srcOrd="1" destOrd="0" presId="urn:microsoft.com/office/officeart/2005/8/layout/process1"/>
    <dgm:cxn modelId="{90458BF5-F815-4712-8A33-DF8053338056}" type="presParOf" srcId="{B7DEB294-F466-48BE-935B-9DBA2E7C19F2}" destId="{FA2BC588-859D-4278-B570-EABFFDE5A00A}" srcOrd="0" destOrd="0" presId="urn:microsoft.com/office/officeart/2005/8/layout/process1"/>
    <dgm:cxn modelId="{F1471AB3-FC4A-40E8-B0B0-3072BE065E9C}" type="presParOf" srcId="{075B53DF-0C9B-4B5F-B034-E776227E6AF1}" destId="{DD72F3F0-0624-4D2A-9623-EF39DA4FD9FA}" srcOrd="2" destOrd="0" presId="urn:microsoft.com/office/officeart/2005/8/layout/process1"/>
    <dgm:cxn modelId="{509834B0-B0BB-4E7A-994C-97881CBC5F2E}" type="presParOf" srcId="{075B53DF-0C9B-4B5F-B034-E776227E6AF1}" destId="{2635C715-C9BA-471D-AC5B-BA84B401B679}" srcOrd="3" destOrd="0" presId="urn:microsoft.com/office/officeart/2005/8/layout/process1"/>
    <dgm:cxn modelId="{6B1CC6D2-6506-4920-8D53-5BD4D314386B}" type="presParOf" srcId="{2635C715-C9BA-471D-AC5B-BA84B401B679}" destId="{067930D0-E4E5-4A3E-A007-99481AD8242C}" srcOrd="0" destOrd="0" presId="urn:microsoft.com/office/officeart/2005/8/layout/process1"/>
    <dgm:cxn modelId="{B81A6A30-A8DD-4FF4-99D8-7E6C3518C2AF}" type="presParOf" srcId="{075B53DF-0C9B-4B5F-B034-E776227E6AF1}" destId="{C98073A6-4A5A-4CE5-A8C4-97D42C0EC531}" srcOrd="4" destOrd="0" presId="urn:microsoft.com/office/officeart/2005/8/layout/process1"/>
    <dgm:cxn modelId="{12F27701-F1C6-4F5F-B201-AC4EC42F767E}" type="presParOf" srcId="{075B53DF-0C9B-4B5F-B034-E776227E6AF1}" destId="{F9918D30-8430-4A4B-B835-85A979E23FDE}" srcOrd="5" destOrd="0" presId="urn:microsoft.com/office/officeart/2005/8/layout/process1"/>
    <dgm:cxn modelId="{1846207A-4CA1-4279-8FA7-0EAEEF1059A7}" type="presParOf" srcId="{F9918D30-8430-4A4B-B835-85A979E23FDE}" destId="{80DB7259-B45B-419C-B6AF-EDDFE71B08E3}" srcOrd="0" destOrd="0" presId="urn:microsoft.com/office/officeart/2005/8/layout/process1"/>
    <dgm:cxn modelId="{7A426DE3-A307-4E3E-8953-F282B7F17D67}" type="presParOf" srcId="{075B53DF-0C9B-4B5F-B034-E776227E6AF1}" destId="{B74E6206-59FC-49BB-85BF-337A9C11BCF3}" srcOrd="6" destOrd="0" presId="urn:microsoft.com/office/officeart/2005/8/layout/process1"/>
    <dgm:cxn modelId="{D92E2CB6-C3F9-4233-BC07-198D1FCD3C02}" type="presParOf" srcId="{075B53DF-0C9B-4B5F-B034-E776227E6AF1}" destId="{C48E4ED9-EFB5-4550-BBBE-63CA2335E1E6}" srcOrd="7" destOrd="0" presId="urn:microsoft.com/office/officeart/2005/8/layout/process1"/>
    <dgm:cxn modelId="{496D2512-557A-4000-B196-4CFD83FB60A6}" type="presParOf" srcId="{C48E4ED9-EFB5-4550-BBBE-63CA2335E1E6}" destId="{D8DC317C-34F3-4F1A-AC3E-211220EDC206}" srcOrd="0" destOrd="0" presId="urn:microsoft.com/office/officeart/2005/8/layout/process1"/>
    <dgm:cxn modelId="{B1C884D8-B2E0-4490-857C-20B9F59C59E9}" type="presParOf" srcId="{075B53DF-0C9B-4B5F-B034-E776227E6AF1}" destId="{2B50330D-B7BF-4445-9328-A403E8D8CD1D}" srcOrd="8" destOrd="0" presId="urn:microsoft.com/office/officeart/2005/8/layout/process1"/>
    <dgm:cxn modelId="{9931850E-5962-40EC-9F63-F53581D26467}" type="presParOf" srcId="{075B53DF-0C9B-4B5F-B034-E776227E6AF1}" destId="{9ADA734E-FAAD-4FC3-867C-764F2675A72C}" srcOrd="9" destOrd="0" presId="urn:microsoft.com/office/officeart/2005/8/layout/process1"/>
    <dgm:cxn modelId="{BA9BF4CF-207A-4581-BA87-177A1529FAF1}" type="presParOf" srcId="{9ADA734E-FAAD-4FC3-867C-764F2675A72C}" destId="{D14FD3B1-D6D4-4B69-BD57-E9E770A5AE82}" srcOrd="0" destOrd="0" presId="urn:microsoft.com/office/officeart/2005/8/layout/process1"/>
    <dgm:cxn modelId="{09114B5A-ED35-4BC2-8410-3051FDF6C0A8}" type="presParOf" srcId="{075B53DF-0C9B-4B5F-B034-E776227E6AF1}" destId="{D9FDC670-59AA-410D-BC5D-74C6A66A9E7A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3F5CC7-5F30-49B5-B6FB-CCBB823ABBA9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</dgm:pt>
    <dgm:pt modelId="{281893D3-A09E-4476-871E-EE98F09A65D4}">
      <dgm:prSet phldrT="[텍스트]"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Whitelist check</a:t>
          </a:r>
          <a:endParaRPr lang="ko-KR" alt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6CA7A9-A3E0-4B43-8A41-D127CCEE52A2}" type="parTrans" cxnId="{CB6D30B4-C04C-4101-9380-692337A668B8}">
      <dgm:prSet/>
      <dgm:spPr/>
      <dgm:t>
        <a:bodyPr/>
        <a:lstStyle/>
        <a:p>
          <a:pPr latinLnBrk="1"/>
          <a:endParaRPr lang="ko-KR" alt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580B72-9EBC-4358-A3DA-6A9036E24192}" type="sibTrans" cxnId="{CB6D30B4-C04C-4101-9380-692337A668B8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endParaRPr lang="ko-KR" alt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A6C5F2-DE98-4898-86EB-7B4C0CEB5CC3}">
      <dgm:prSet phldrT="[텍스트]"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Access pattern check</a:t>
          </a:r>
          <a:endParaRPr lang="ko-KR" alt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E1BAD1-42E9-46B6-8D24-64E7A98055E5}" type="parTrans" cxnId="{4A58F585-DE6A-4252-8BC9-32C6D1189557}">
      <dgm:prSet/>
      <dgm:spPr/>
      <dgm:t>
        <a:bodyPr/>
        <a:lstStyle/>
        <a:p>
          <a:pPr latinLnBrk="1"/>
          <a:endParaRPr lang="ko-KR" alt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7F63C3-55B7-42D8-A11F-56773C4E514C}" type="sibTrans" cxnId="{4A58F585-DE6A-4252-8BC9-32C6D1189557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endParaRPr lang="ko-KR" alt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99A6EA-0ACB-43C2-93A4-408CAE5A4244}">
      <dgm:prSet phldrT="[텍스트]"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Entropy check</a:t>
          </a:r>
          <a:endParaRPr lang="ko-KR" alt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A841C2-E1B7-4126-B252-0BD63FD167A8}" type="parTrans" cxnId="{9E3D9C5F-E4B1-4672-8B45-2070247D653A}">
      <dgm:prSet/>
      <dgm:spPr/>
      <dgm:t>
        <a:bodyPr/>
        <a:lstStyle/>
        <a:p>
          <a:pPr latinLnBrk="1"/>
          <a:endParaRPr lang="ko-KR" alt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2D7302-88DA-4980-8941-0CF6AD46AA50}" type="sibTrans" cxnId="{9E3D9C5F-E4B1-4672-8B45-2070247D653A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endParaRPr lang="ko-KR" alt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7FACB9-6D6D-46BA-B877-1E7429938EDD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Encoding</a:t>
          </a:r>
          <a:r>
            <a: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check</a:t>
          </a:r>
          <a:endParaRPr lang="ko-KR" alt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9C3514-FFCA-4B06-9997-7A208671B61A}" type="parTrans" cxnId="{922EE41A-3FF6-480D-AA0C-F9887E9EE54B}">
      <dgm:prSet/>
      <dgm:spPr/>
      <dgm:t>
        <a:bodyPr/>
        <a:lstStyle/>
        <a:p>
          <a:pPr latinLnBrk="1"/>
          <a:endParaRPr lang="ko-KR" alt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32AAA8-E981-4583-9018-98160FBA3EF6}" type="sibTrans" cxnId="{922EE41A-3FF6-480D-AA0C-F9887E9EE54B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endParaRPr lang="ko-KR" alt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9D6E9A-5105-4A61-896F-F3BAF45DA4CF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Kill process</a:t>
          </a:r>
          <a:endParaRPr lang="ko-KR" alt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4C1A94-2A09-4859-884D-142FEE46383E}" type="parTrans" cxnId="{29EB3414-9CC4-49B7-A3C0-666D46389505}">
      <dgm:prSet/>
      <dgm:spPr/>
      <dgm:t>
        <a:bodyPr/>
        <a:lstStyle/>
        <a:p>
          <a:pPr latinLnBrk="1"/>
          <a:endParaRPr lang="ko-KR" alt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18ADF2-C393-4692-A8B0-99EF7463DA98}" type="sibTrans" cxnId="{29EB3414-9CC4-49B7-A3C0-666D46389505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endParaRPr lang="ko-KR" alt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64E65D-F6F8-4201-B3A3-7EBFDCDF2EDF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Restore</a:t>
          </a:r>
        </a:p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if needed</a:t>
          </a:r>
          <a:endParaRPr lang="ko-KR" alt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1E2E21-D9AD-4D58-986E-9A783FBE6D4C}" type="parTrans" cxnId="{54A41883-0966-4E60-A1B8-AA33E4499927}">
      <dgm:prSet/>
      <dgm:spPr/>
      <dgm:t>
        <a:bodyPr/>
        <a:lstStyle/>
        <a:p>
          <a:pPr latinLnBrk="1"/>
          <a:endParaRPr lang="ko-KR" alt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F9326F-9C4A-48A0-9FC5-937523B8DF8A}" type="sibTrans" cxnId="{54A41883-0966-4E60-A1B8-AA33E4499927}">
      <dgm:prSet/>
      <dgm:spPr/>
      <dgm:t>
        <a:bodyPr/>
        <a:lstStyle/>
        <a:p>
          <a:pPr latinLnBrk="1"/>
          <a:endParaRPr lang="ko-KR" alt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5B53DF-0C9B-4B5F-B034-E776227E6AF1}" type="pres">
      <dgm:prSet presAssocID="{463F5CC7-5F30-49B5-B6FB-CCBB823ABBA9}" presName="Name0" presStyleCnt="0">
        <dgm:presLayoutVars>
          <dgm:dir/>
          <dgm:resizeHandles val="exact"/>
        </dgm:presLayoutVars>
      </dgm:prSet>
      <dgm:spPr/>
    </dgm:pt>
    <dgm:pt modelId="{73BD7BDE-08A9-491A-AACA-0A5A59D18B2D}" type="pres">
      <dgm:prSet presAssocID="{281893D3-A09E-4476-871E-EE98F09A65D4}" presName="node" presStyleLbl="node1" presStyleIdx="0" presStyleCnt="6" custScaleY="134650">
        <dgm:presLayoutVars>
          <dgm:bulletEnabled val="1"/>
        </dgm:presLayoutVars>
      </dgm:prSet>
      <dgm:spPr/>
    </dgm:pt>
    <dgm:pt modelId="{B7DEB294-F466-48BE-935B-9DBA2E7C19F2}" type="pres">
      <dgm:prSet presAssocID="{F6580B72-9EBC-4358-A3DA-6A9036E24192}" presName="sibTrans" presStyleLbl="sibTrans2D1" presStyleIdx="0" presStyleCnt="5" custScaleY="134649"/>
      <dgm:spPr/>
    </dgm:pt>
    <dgm:pt modelId="{FA2BC588-859D-4278-B570-EABFFDE5A00A}" type="pres">
      <dgm:prSet presAssocID="{F6580B72-9EBC-4358-A3DA-6A9036E24192}" presName="connectorText" presStyleLbl="sibTrans2D1" presStyleIdx="0" presStyleCnt="5"/>
      <dgm:spPr/>
    </dgm:pt>
    <dgm:pt modelId="{DD72F3F0-0624-4D2A-9623-EF39DA4FD9FA}" type="pres">
      <dgm:prSet presAssocID="{0FA6C5F2-DE98-4898-86EB-7B4C0CEB5CC3}" presName="node" presStyleLbl="node1" presStyleIdx="1" presStyleCnt="6" custScaleY="134650">
        <dgm:presLayoutVars>
          <dgm:bulletEnabled val="1"/>
        </dgm:presLayoutVars>
      </dgm:prSet>
      <dgm:spPr/>
    </dgm:pt>
    <dgm:pt modelId="{2635C715-C9BA-471D-AC5B-BA84B401B679}" type="pres">
      <dgm:prSet presAssocID="{797F63C3-55B7-42D8-A11F-56773C4E514C}" presName="sibTrans" presStyleLbl="sibTrans2D1" presStyleIdx="1" presStyleCnt="5" custScaleY="134649"/>
      <dgm:spPr/>
    </dgm:pt>
    <dgm:pt modelId="{067930D0-E4E5-4A3E-A007-99481AD8242C}" type="pres">
      <dgm:prSet presAssocID="{797F63C3-55B7-42D8-A11F-56773C4E514C}" presName="connectorText" presStyleLbl="sibTrans2D1" presStyleIdx="1" presStyleCnt="5"/>
      <dgm:spPr/>
    </dgm:pt>
    <dgm:pt modelId="{C98073A6-4A5A-4CE5-A8C4-97D42C0EC531}" type="pres">
      <dgm:prSet presAssocID="{9B99A6EA-0ACB-43C2-93A4-408CAE5A4244}" presName="node" presStyleLbl="node1" presStyleIdx="2" presStyleCnt="6" custScaleY="134650">
        <dgm:presLayoutVars>
          <dgm:bulletEnabled val="1"/>
        </dgm:presLayoutVars>
      </dgm:prSet>
      <dgm:spPr/>
    </dgm:pt>
    <dgm:pt modelId="{F9918D30-8430-4A4B-B835-85A979E23FDE}" type="pres">
      <dgm:prSet presAssocID="{052D7302-88DA-4980-8941-0CF6AD46AA50}" presName="sibTrans" presStyleLbl="sibTrans2D1" presStyleIdx="2" presStyleCnt="5" custScaleY="134649"/>
      <dgm:spPr/>
    </dgm:pt>
    <dgm:pt modelId="{80DB7259-B45B-419C-B6AF-EDDFE71B08E3}" type="pres">
      <dgm:prSet presAssocID="{052D7302-88DA-4980-8941-0CF6AD46AA50}" presName="connectorText" presStyleLbl="sibTrans2D1" presStyleIdx="2" presStyleCnt="5"/>
      <dgm:spPr/>
    </dgm:pt>
    <dgm:pt modelId="{B74E6206-59FC-49BB-85BF-337A9C11BCF3}" type="pres">
      <dgm:prSet presAssocID="{D67FACB9-6D6D-46BA-B877-1E7429938EDD}" presName="node" presStyleLbl="node1" presStyleIdx="3" presStyleCnt="6" custScaleY="134650">
        <dgm:presLayoutVars>
          <dgm:bulletEnabled val="1"/>
        </dgm:presLayoutVars>
      </dgm:prSet>
      <dgm:spPr/>
    </dgm:pt>
    <dgm:pt modelId="{C48E4ED9-EFB5-4550-BBBE-63CA2335E1E6}" type="pres">
      <dgm:prSet presAssocID="{E332AAA8-E981-4583-9018-98160FBA3EF6}" presName="sibTrans" presStyleLbl="sibTrans2D1" presStyleIdx="3" presStyleCnt="5" custScaleY="134649"/>
      <dgm:spPr/>
    </dgm:pt>
    <dgm:pt modelId="{D8DC317C-34F3-4F1A-AC3E-211220EDC206}" type="pres">
      <dgm:prSet presAssocID="{E332AAA8-E981-4583-9018-98160FBA3EF6}" presName="connectorText" presStyleLbl="sibTrans2D1" presStyleIdx="3" presStyleCnt="5"/>
      <dgm:spPr/>
    </dgm:pt>
    <dgm:pt modelId="{2B50330D-B7BF-4445-9328-A403E8D8CD1D}" type="pres">
      <dgm:prSet presAssocID="{CD9D6E9A-5105-4A61-896F-F3BAF45DA4CF}" presName="node" presStyleLbl="node1" presStyleIdx="4" presStyleCnt="6" custScaleY="134650">
        <dgm:presLayoutVars>
          <dgm:bulletEnabled val="1"/>
        </dgm:presLayoutVars>
      </dgm:prSet>
      <dgm:spPr/>
    </dgm:pt>
    <dgm:pt modelId="{9ADA734E-FAAD-4FC3-867C-764F2675A72C}" type="pres">
      <dgm:prSet presAssocID="{B818ADF2-C393-4692-A8B0-99EF7463DA98}" presName="sibTrans" presStyleLbl="sibTrans2D1" presStyleIdx="4" presStyleCnt="5" custScaleY="134649"/>
      <dgm:spPr/>
    </dgm:pt>
    <dgm:pt modelId="{D14FD3B1-D6D4-4B69-BD57-E9E770A5AE82}" type="pres">
      <dgm:prSet presAssocID="{B818ADF2-C393-4692-A8B0-99EF7463DA98}" presName="connectorText" presStyleLbl="sibTrans2D1" presStyleIdx="4" presStyleCnt="5"/>
      <dgm:spPr/>
    </dgm:pt>
    <dgm:pt modelId="{D9FDC670-59AA-410D-BC5D-74C6A66A9E7A}" type="pres">
      <dgm:prSet presAssocID="{6964E65D-F6F8-4201-B3A3-7EBFDCDF2EDF}" presName="node" presStyleLbl="node1" presStyleIdx="5" presStyleCnt="6" custScaleY="134650">
        <dgm:presLayoutVars>
          <dgm:bulletEnabled val="1"/>
        </dgm:presLayoutVars>
      </dgm:prSet>
      <dgm:spPr/>
    </dgm:pt>
  </dgm:ptLst>
  <dgm:cxnLst>
    <dgm:cxn modelId="{AAEBFE0B-5FDE-4E1C-B6D1-CFA00D3B2C90}" type="presOf" srcId="{D67FACB9-6D6D-46BA-B877-1E7429938EDD}" destId="{B74E6206-59FC-49BB-85BF-337A9C11BCF3}" srcOrd="0" destOrd="0" presId="urn:microsoft.com/office/officeart/2005/8/layout/process1"/>
    <dgm:cxn modelId="{40274411-4499-44E8-B484-D8382EE93D1A}" type="presOf" srcId="{281893D3-A09E-4476-871E-EE98F09A65D4}" destId="{73BD7BDE-08A9-491A-AACA-0A5A59D18B2D}" srcOrd="0" destOrd="0" presId="urn:microsoft.com/office/officeart/2005/8/layout/process1"/>
    <dgm:cxn modelId="{29EB3414-9CC4-49B7-A3C0-666D46389505}" srcId="{463F5CC7-5F30-49B5-B6FB-CCBB823ABBA9}" destId="{CD9D6E9A-5105-4A61-896F-F3BAF45DA4CF}" srcOrd="4" destOrd="0" parTransId="{694C1A94-2A09-4859-884D-142FEE46383E}" sibTransId="{B818ADF2-C393-4692-A8B0-99EF7463DA98}"/>
    <dgm:cxn modelId="{97522317-A750-4610-8B46-51245CD01433}" type="presOf" srcId="{052D7302-88DA-4980-8941-0CF6AD46AA50}" destId="{80DB7259-B45B-419C-B6AF-EDDFE71B08E3}" srcOrd="1" destOrd="0" presId="urn:microsoft.com/office/officeart/2005/8/layout/process1"/>
    <dgm:cxn modelId="{922EE41A-3FF6-480D-AA0C-F9887E9EE54B}" srcId="{463F5CC7-5F30-49B5-B6FB-CCBB823ABBA9}" destId="{D67FACB9-6D6D-46BA-B877-1E7429938EDD}" srcOrd="3" destOrd="0" parTransId="{3D9C3514-FFCA-4B06-9997-7A208671B61A}" sibTransId="{E332AAA8-E981-4583-9018-98160FBA3EF6}"/>
    <dgm:cxn modelId="{0E09523C-0549-4C79-B20F-0C04B84AA30F}" type="presOf" srcId="{463F5CC7-5F30-49B5-B6FB-CCBB823ABBA9}" destId="{075B53DF-0C9B-4B5F-B034-E776227E6AF1}" srcOrd="0" destOrd="0" presId="urn:microsoft.com/office/officeart/2005/8/layout/process1"/>
    <dgm:cxn modelId="{9E3D9C5F-E4B1-4672-8B45-2070247D653A}" srcId="{463F5CC7-5F30-49B5-B6FB-CCBB823ABBA9}" destId="{9B99A6EA-0ACB-43C2-93A4-408CAE5A4244}" srcOrd="2" destOrd="0" parTransId="{8DA841C2-E1B7-4126-B252-0BD63FD167A8}" sibTransId="{052D7302-88DA-4980-8941-0CF6AD46AA50}"/>
    <dgm:cxn modelId="{B42D3A61-C37A-4ADC-82B3-EFC292BF0940}" type="presOf" srcId="{797F63C3-55B7-42D8-A11F-56773C4E514C}" destId="{067930D0-E4E5-4A3E-A007-99481AD8242C}" srcOrd="1" destOrd="0" presId="urn:microsoft.com/office/officeart/2005/8/layout/process1"/>
    <dgm:cxn modelId="{7D01904F-0184-478F-862C-A9F0FAEB3F88}" type="presOf" srcId="{9B99A6EA-0ACB-43C2-93A4-408CAE5A4244}" destId="{C98073A6-4A5A-4CE5-A8C4-97D42C0EC531}" srcOrd="0" destOrd="0" presId="urn:microsoft.com/office/officeart/2005/8/layout/process1"/>
    <dgm:cxn modelId="{9BD93F82-DC19-4EB0-BB34-D6511696B362}" type="presOf" srcId="{B818ADF2-C393-4692-A8B0-99EF7463DA98}" destId="{9ADA734E-FAAD-4FC3-867C-764F2675A72C}" srcOrd="0" destOrd="0" presId="urn:microsoft.com/office/officeart/2005/8/layout/process1"/>
    <dgm:cxn modelId="{54A41883-0966-4E60-A1B8-AA33E4499927}" srcId="{463F5CC7-5F30-49B5-B6FB-CCBB823ABBA9}" destId="{6964E65D-F6F8-4201-B3A3-7EBFDCDF2EDF}" srcOrd="5" destOrd="0" parTransId="{E21E2E21-D9AD-4D58-986E-9A783FBE6D4C}" sibTransId="{67F9326F-9C4A-48A0-9FC5-937523B8DF8A}"/>
    <dgm:cxn modelId="{4A58F585-DE6A-4252-8BC9-32C6D1189557}" srcId="{463F5CC7-5F30-49B5-B6FB-CCBB823ABBA9}" destId="{0FA6C5F2-DE98-4898-86EB-7B4C0CEB5CC3}" srcOrd="1" destOrd="0" parTransId="{BBE1BAD1-42E9-46B6-8D24-64E7A98055E5}" sibTransId="{797F63C3-55B7-42D8-A11F-56773C4E514C}"/>
    <dgm:cxn modelId="{58B3C192-AF75-4D9F-B580-56B8B83F719A}" type="presOf" srcId="{052D7302-88DA-4980-8941-0CF6AD46AA50}" destId="{F9918D30-8430-4A4B-B835-85A979E23FDE}" srcOrd="0" destOrd="0" presId="urn:microsoft.com/office/officeart/2005/8/layout/process1"/>
    <dgm:cxn modelId="{620E6193-B819-4D05-B6A5-550F5807BDCE}" type="presOf" srcId="{0FA6C5F2-DE98-4898-86EB-7B4C0CEB5CC3}" destId="{DD72F3F0-0624-4D2A-9623-EF39DA4FD9FA}" srcOrd="0" destOrd="0" presId="urn:microsoft.com/office/officeart/2005/8/layout/process1"/>
    <dgm:cxn modelId="{B55590A8-64DD-4D90-88A8-DF2646579263}" type="presOf" srcId="{E332AAA8-E981-4583-9018-98160FBA3EF6}" destId="{C48E4ED9-EFB5-4550-BBBE-63CA2335E1E6}" srcOrd="0" destOrd="0" presId="urn:microsoft.com/office/officeart/2005/8/layout/process1"/>
    <dgm:cxn modelId="{3F675AA9-0094-4CDC-9DF5-3925ECB70D25}" type="presOf" srcId="{B818ADF2-C393-4692-A8B0-99EF7463DA98}" destId="{D14FD3B1-D6D4-4B69-BD57-E9E770A5AE82}" srcOrd="1" destOrd="0" presId="urn:microsoft.com/office/officeart/2005/8/layout/process1"/>
    <dgm:cxn modelId="{4DA880AF-2D29-4E08-B776-1BD36FA2875B}" type="presOf" srcId="{E332AAA8-E981-4583-9018-98160FBA3EF6}" destId="{D8DC317C-34F3-4F1A-AC3E-211220EDC206}" srcOrd="1" destOrd="0" presId="urn:microsoft.com/office/officeart/2005/8/layout/process1"/>
    <dgm:cxn modelId="{CB6D30B4-C04C-4101-9380-692337A668B8}" srcId="{463F5CC7-5F30-49B5-B6FB-CCBB823ABBA9}" destId="{281893D3-A09E-4476-871E-EE98F09A65D4}" srcOrd="0" destOrd="0" parTransId="{A56CA7A9-A3E0-4B43-8A41-D127CCEE52A2}" sibTransId="{F6580B72-9EBC-4358-A3DA-6A9036E24192}"/>
    <dgm:cxn modelId="{35F568BA-F3D5-4EE2-A8D7-D9F29B936088}" type="presOf" srcId="{797F63C3-55B7-42D8-A11F-56773C4E514C}" destId="{2635C715-C9BA-471D-AC5B-BA84B401B679}" srcOrd="0" destOrd="0" presId="urn:microsoft.com/office/officeart/2005/8/layout/process1"/>
    <dgm:cxn modelId="{BEBEFFC0-FAB4-4570-917D-1882F143911B}" type="presOf" srcId="{6964E65D-F6F8-4201-B3A3-7EBFDCDF2EDF}" destId="{D9FDC670-59AA-410D-BC5D-74C6A66A9E7A}" srcOrd="0" destOrd="0" presId="urn:microsoft.com/office/officeart/2005/8/layout/process1"/>
    <dgm:cxn modelId="{87F594E6-D2C6-4776-A4BA-165EFA9BB0E0}" type="presOf" srcId="{CD9D6E9A-5105-4A61-896F-F3BAF45DA4CF}" destId="{2B50330D-B7BF-4445-9328-A403E8D8CD1D}" srcOrd="0" destOrd="0" presId="urn:microsoft.com/office/officeart/2005/8/layout/process1"/>
    <dgm:cxn modelId="{A37B42EE-BAB1-411E-84F2-68CDC122A250}" type="presOf" srcId="{F6580B72-9EBC-4358-A3DA-6A9036E24192}" destId="{FA2BC588-859D-4278-B570-EABFFDE5A00A}" srcOrd="1" destOrd="0" presId="urn:microsoft.com/office/officeart/2005/8/layout/process1"/>
    <dgm:cxn modelId="{244AABFE-0699-4FAC-8E1B-28106DB630BA}" type="presOf" srcId="{F6580B72-9EBC-4358-A3DA-6A9036E24192}" destId="{B7DEB294-F466-48BE-935B-9DBA2E7C19F2}" srcOrd="0" destOrd="0" presId="urn:microsoft.com/office/officeart/2005/8/layout/process1"/>
    <dgm:cxn modelId="{7D81B6E9-5A8B-4CA5-8D7A-1FDF8301ECB9}" type="presParOf" srcId="{075B53DF-0C9B-4B5F-B034-E776227E6AF1}" destId="{73BD7BDE-08A9-491A-AACA-0A5A59D18B2D}" srcOrd="0" destOrd="0" presId="urn:microsoft.com/office/officeart/2005/8/layout/process1"/>
    <dgm:cxn modelId="{B72B7753-7766-4BB9-9364-7076363ECF19}" type="presParOf" srcId="{075B53DF-0C9B-4B5F-B034-E776227E6AF1}" destId="{B7DEB294-F466-48BE-935B-9DBA2E7C19F2}" srcOrd="1" destOrd="0" presId="urn:microsoft.com/office/officeart/2005/8/layout/process1"/>
    <dgm:cxn modelId="{90458BF5-F815-4712-8A33-DF8053338056}" type="presParOf" srcId="{B7DEB294-F466-48BE-935B-9DBA2E7C19F2}" destId="{FA2BC588-859D-4278-B570-EABFFDE5A00A}" srcOrd="0" destOrd="0" presId="urn:microsoft.com/office/officeart/2005/8/layout/process1"/>
    <dgm:cxn modelId="{F1471AB3-FC4A-40E8-B0B0-3072BE065E9C}" type="presParOf" srcId="{075B53DF-0C9B-4B5F-B034-E776227E6AF1}" destId="{DD72F3F0-0624-4D2A-9623-EF39DA4FD9FA}" srcOrd="2" destOrd="0" presId="urn:microsoft.com/office/officeart/2005/8/layout/process1"/>
    <dgm:cxn modelId="{509834B0-B0BB-4E7A-994C-97881CBC5F2E}" type="presParOf" srcId="{075B53DF-0C9B-4B5F-B034-E776227E6AF1}" destId="{2635C715-C9BA-471D-AC5B-BA84B401B679}" srcOrd="3" destOrd="0" presId="urn:microsoft.com/office/officeart/2005/8/layout/process1"/>
    <dgm:cxn modelId="{6B1CC6D2-6506-4920-8D53-5BD4D314386B}" type="presParOf" srcId="{2635C715-C9BA-471D-AC5B-BA84B401B679}" destId="{067930D0-E4E5-4A3E-A007-99481AD8242C}" srcOrd="0" destOrd="0" presId="urn:microsoft.com/office/officeart/2005/8/layout/process1"/>
    <dgm:cxn modelId="{B81A6A30-A8DD-4FF4-99D8-7E6C3518C2AF}" type="presParOf" srcId="{075B53DF-0C9B-4B5F-B034-E776227E6AF1}" destId="{C98073A6-4A5A-4CE5-A8C4-97D42C0EC531}" srcOrd="4" destOrd="0" presId="urn:microsoft.com/office/officeart/2005/8/layout/process1"/>
    <dgm:cxn modelId="{12F27701-F1C6-4F5F-B201-AC4EC42F767E}" type="presParOf" srcId="{075B53DF-0C9B-4B5F-B034-E776227E6AF1}" destId="{F9918D30-8430-4A4B-B835-85A979E23FDE}" srcOrd="5" destOrd="0" presId="urn:microsoft.com/office/officeart/2005/8/layout/process1"/>
    <dgm:cxn modelId="{1846207A-4CA1-4279-8FA7-0EAEEF1059A7}" type="presParOf" srcId="{F9918D30-8430-4A4B-B835-85A979E23FDE}" destId="{80DB7259-B45B-419C-B6AF-EDDFE71B08E3}" srcOrd="0" destOrd="0" presId="urn:microsoft.com/office/officeart/2005/8/layout/process1"/>
    <dgm:cxn modelId="{7A426DE3-A307-4E3E-8953-F282B7F17D67}" type="presParOf" srcId="{075B53DF-0C9B-4B5F-B034-E776227E6AF1}" destId="{B74E6206-59FC-49BB-85BF-337A9C11BCF3}" srcOrd="6" destOrd="0" presId="urn:microsoft.com/office/officeart/2005/8/layout/process1"/>
    <dgm:cxn modelId="{D92E2CB6-C3F9-4233-BC07-198D1FCD3C02}" type="presParOf" srcId="{075B53DF-0C9B-4B5F-B034-E776227E6AF1}" destId="{C48E4ED9-EFB5-4550-BBBE-63CA2335E1E6}" srcOrd="7" destOrd="0" presId="urn:microsoft.com/office/officeart/2005/8/layout/process1"/>
    <dgm:cxn modelId="{496D2512-557A-4000-B196-4CFD83FB60A6}" type="presParOf" srcId="{C48E4ED9-EFB5-4550-BBBE-63CA2335E1E6}" destId="{D8DC317C-34F3-4F1A-AC3E-211220EDC206}" srcOrd="0" destOrd="0" presId="urn:microsoft.com/office/officeart/2005/8/layout/process1"/>
    <dgm:cxn modelId="{B1C884D8-B2E0-4490-857C-20B9F59C59E9}" type="presParOf" srcId="{075B53DF-0C9B-4B5F-B034-E776227E6AF1}" destId="{2B50330D-B7BF-4445-9328-A403E8D8CD1D}" srcOrd="8" destOrd="0" presId="urn:microsoft.com/office/officeart/2005/8/layout/process1"/>
    <dgm:cxn modelId="{9931850E-5962-40EC-9F63-F53581D26467}" type="presParOf" srcId="{075B53DF-0C9B-4B5F-B034-E776227E6AF1}" destId="{9ADA734E-FAAD-4FC3-867C-764F2675A72C}" srcOrd="9" destOrd="0" presId="urn:microsoft.com/office/officeart/2005/8/layout/process1"/>
    <dgm:cxn modelId="{BA9BF4CF-207A-4581-BA87-177A1529FAF1}" type="presParOf" srcId="{9ADA734E-FAAD-4FC3-867C-764F2675A72C}" destId="{D14FD3B1-D6D4-4B69-BD57-E9E770A5AE82}" srcOrd="0" destOrd="0" presId="urn:microsoft.com/office/officeart/2005/8/layout/process1"/>
    <dgm:cxn modelId="{09114B5A-ED35-4BC2-8410-3051FDF6C0A8}" type="presParOf" srcId="{075B53DF-0C9B-4B5F-B034-E776227E6AF1}" destId="{D9FDC670-59AA-410D-BC5D-74C6A66A9E7A}" srcOrd="10" destOrd="0" presId="urn:microsoft.com/office/officeart/2005/8/layout/process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D7BDE-08A9-491A-AACA-0A5A59D18B2D}">
      <dsp:nvSpPr>
        <dsp:cNvPr id="0" name=""/>
        <dsp:cNvSpPr/>
      </dsp:nvSpPr>
      <dsp:spPr>
        <a:xfrm>
          <a:off x="0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Whitelist check</a:t>
          </a:r>
          <a:endParaRPr lang="ko-KR" altLang="en-US" sz="2400" kern="1200" dirty="0">
            <a:latin typeface="Lora" pitchFamily="2" charset="0"/>
          </a:endParaRPr>
        </a:p>
      </dsp:txBody>
      <dsp:txXfrm>
        <a:off x="50906" y="155616"/>
        <a:ext cx="1641049" cy="1636258"/>
      </dsp:txXfrm>
    </dsp:sp>
    <dsp:sp modelId="{B7DEB294-F466-48BE-935B-9DBA2E7C19F2}">
      <dsp:nvSpPr>
        <dsp:cNvPr id="0" name=""/>
        <dsp:cNvSpPr/>
      </dsp:nvSpPr>
      <dsp:spPr>
        <a:xfrm>
          <a:off x="1917147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1917147" y="799147"/>
        <a:ext cx="258640" cy="349196"/>
      </dsp:txXfrm>
    </dsp:sp>
    <dsp:sp modelId="{DD72F3F0-0624-4D2A-9623-EF39DA4FD9FA}">
      <dsp:nvSpPr>
        <dsp:cNvPr id="0" name=""/>
        <dsp:cNvSpPr/>
      </dsp:nvSpPr>
      <dsp:spPr>
        <a:xfrm>
          <a:off x="2440005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Access pattern check</a:t>
          </a:r>
          <a:endParaRPr lang="ko-KR" altLang="en-US" sz="2400" kern="1200" dirty="0">
            <a:latin typeface="Lora" pitchFamily="2" charset="0"/>
          </a:endParaRPr>
        </a:p>
      </dsp:txBody>
      <dsp:txXfrm>
        <a:off x="2490911" y="155616"/>
        <a:ext cx="1641049" cy="1636258"/>
      </dsp:txXfrm>
    </dsp:sp>
    <dsp:sp modelId="{2635C715-C9BA-471D-AC5B-BA84B401B679}">
      <dsp:nvSpPr>
        <dsp:cNvPr id="0" name=""/>
        <dsp:cNvSpPr/>
      </dsp:nvSpPr>
      <dsp:spPr>
        <a:xfrm>
          <a:off x="4357152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4357152" y="799147"/>
        <a:ext cx="258640" cy="349196"/>
      </dsp:txXfrm>
    </dsp:sp>
    <dsp:sp modelId="{C98073A6-4A5A-4CE5-A8C4-97D42C0EC531}">
      <dsp:nvSpPr>
        <dsp:cNvPr id="0" name=""/>
        <dsp:cNvSpPr/>
      </dsp:nvSpPr>
      <dsp:spPr>
        <a:xfrm>
          <a:off x="4880010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Entropy check</a:t>
          </a:r>
          <a:endParaRPr lang="ko-KR" altLang="en-US" sz="2400" kern="1200" dirty="0">
            <a:latin typeface="Lora" pitchFamily="2" charset="0"/>
          </a:endParaRPr>
        </a:p>
      </dsp:txBody>
      <dsp:txXfrm>
        <a:off x="4930916" y="155616"/>
        <a:ext cx="1641049" cy="1636258"/>
      </dsp:txXfrm>
    </dsp:sp>
    <dsp:sp modelId="{F9918D30-8430-4A4B-B835-85A979E23FDE}">
      <dsp:nvSpPr>
        <dsp:cNvPr id="0" name=""/>
        <dsp:cNvSpPr/>
      </dsp:nvSpPr>
      <dsp:spPr>
        <a:xfrm>
          <a:off x="6797157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6797157" y="799147"/>
        <a:ext cx="258640" cy="349196"/>
      </dsp:txXfrm>
    </dsp:sp>
    <dsp:sp modelId="{B74E6206-59FC-49BB-85BF-337A9C11BCF3}">
      <dsp:nvSpPr>
        <dsp:cNvPr id="0" name=""/>
        <dsp:cNvSpPr/>
      </dsp:nvSpPr>
      <dsp:spPr>
        <a:xfrm>
          <a:off x="7320016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Encoding</a:t>
          </a:r>
          <a:r>
            <a:rPr lang="en-US" altLang="ko-KR" sz="2000" kern="1200" dirty="0">
              <a:latin typeface="Lora" pitchFamily="2" charset="0"/>
            </a:rPr>
            <a:t> </a:t>
          </a:r>
          <a:r>
            <a:rPr lang="en-US" altLang="ko-KR" sz="2400" kern="1200" dirty="0">
              <a:latin typeface="Lora" pitchFamily="2" charset="0"/>
            </a:rPr>
            <a:t>check</a:t>
          </a:r>
          <a:endParaRPr lang="ko-KR" altLang="en-US" sz="2000" kern="1200" dirty="0">
            <a:latin typeface="Lora" pitchFamily="2" charset="0"/>
          </a:endParaRPr>
        </a:p>
      </dsp:txBody>
      <dsp:txXfrm>
        <a:off x="7370922" y="155616"/>
        <a:ext cx="1641049" cy="1636258"/>
      </dsp:txXfrm>
    </dsp:sp>
    <dsp:sp modelId="{C48E4ED9-EFB5-4550-BBBE-63CA2335E1E6}">
      <dsp:nvSpPr>
        <dsp:cNvPr id="0" name=""/>
        <dsp:cNvSpPr/>
      </dsp:nvSpPr>
      <dsp:spPr>
        <a:xfrm>
          <a:off x="9237163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>
        <a:off x="9237163" y="799147"/>
        <a:ext cx="258640" cy="349196"/>
      </dsp:txXfrm>
    </dsp:sp>
    <dsp:sp modelId="{2B50330D-B7BF-4445-9328-A403E8D8CD1D}">
      <dsp:nvSpPr>
        <dsp:cNvPr id="0" name=""/>
        <dsp:cNvSpPr/>
      </dsp:nvSpPr>
      <dsp:spPr>
        <a:xfrm>
          <a:off x="9760021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Kill process</a:t>
          </a:r>
          <a:endParaRPr lang="ko-KR" altLang="en-US" sz="2400" kern="1200" dirty="0"/>
        </a:p>
      </dsp:txBody>
      <dsp:txXfrm>
        <a:off x="9810927" y="155616"/>
        <a:ext cx="1641049" cy="1636258"/>
      </dsp:txXfrm>
    </dsp:sp>
    <dsp:sp modelId="{9ADA734E-FAAD-4FC3-867C-764F2675A72C}">
      <dsp:nvSpPr>
        <dsp:cNvPr id="0" name=""/>
        <dsp:cNvSpPr/>
      </dsp:nvSpPr>
      <dsp:spPr>
        <a:xfrm>
          <a:off x="11677168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>
        <a:off x="11677168" y="799147"/>
        <a:ext cx="258640" cy="349196"/>
      </dsp:txXfrm>
    </dsp:sp>
    <dsp:sp modelId="{D9FDC670-59AA-410D-BC5D-74C6A66A9E7A}">
      <dsp:nvSpPr>
        <dsp:cNvPr id="0" name=""/>
        <dsp:cNvSpPr/>
      </dsp:nvSpPr>
      <dsp:spPr>
        <a:xfrm>
          <a:off x="12200027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Restore</a:t>
          </a:r>
        </a:p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if needed</a:t>
          </a:r>
          <a:endParaRPr lang="ko-KR" altLang="en-US" sz="2400" kern="1200" dirty="0"/>
        </a:p>
      </dsp:txBody>
      <dsp:txXfrm>
        <a:off x="12250933" y="155616"/>
        <a:ext cx="1641049" cy="1636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D7BDE-08A9-491A-AACA-0A5A59D18B2D}">
      <dsp:nvSpPr>
        <dsp:cNvPr id="0" name=""/>
        <dsp:cNvSpPr/>
      </dsp:nvSpPr>
      <dsp:spPr>
        <a:xfrm>
          <a:off x="0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Whitelist check</a:t>
          </a:r>
          <a:endParaRPr lang="ko-KR" alt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047" y="56753"/>
        <a:ext cx="1640767" cy="1833984"/>
      </dsp:txXfrm>
    </dsp:sp>
    <dsp:sp modelId="{B7DEB294-F466-48BE-935B-9DBA2E7C19F2}">
      <dsp:nvSpPr>
        <dsp:cNvPr id="0" name=""/>
        <dsp:cNvSpPr/>
      </dsp:nvSpPr>
      <dsp:spPr>
        <a:xfrm>
          <a:off x="1917147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 w="38100">
          <a:solidFill>
            <a:schemeClr val="tx1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17147" y="799147"/>
        <a:ext cx="258640" cy="349196"/>
      </dsp:txXfrm>
    </dsp:sp>
    <dsp:sp modelId="{DD72F3F0-0624-4D2A-9623-EF39DA4FD9FA}">
      <dsp:nvSpPr>
        <dsp:cNvPr id="0" name=""/>
        <dsp:cNvSpPr/>
      </dsp:nvSpPr>
      <dsp:spPr>
        <a:xfrm>
          <a:off x="2440005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Access pattern check</a:t>
          </a:r>
          <a:endParaRPr lang="ko-KR" alt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91052" y="56753"/>
        <a:ext cx="1640767" cy="1833984"/>
      </dsp:txXfrm>
    </dsp:sp>
    <dsp:sp modelId="{2635C715-C9BA-471D-AC5B-BA84B401B679}">
      <dsp:nvSpPr>
        <dsp:cNvPr id="0" name=""/>
        <dsp:cNvSpPr/>
      </dsp:nvSpPr>
      <dsp:spPr>
        <a:xfrm>
          <a:off x="4357152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 w="38100">
          <a:solidFill>
            <a:schemeClr val="tx1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57152" y="799147"/>
        <a:ext cx="258640" cy="349196"/>
      </dsp:txXfrm>
    </dsp:sp>
    <dsp:sp modelId="{C98073A6-4A5A-4CE5-A8C4-97D42C0EC531}">
      <dsp:nvSpPr>
        <dsp:cNvPr id="0" name=""/>
        <dsp:cNvSpPr/>
      </dsp:nvSpPr>
      <dsp:spPr>
        <a:xfrm>
          <a:off x="4880010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Entropy check</a:t>
          </a:r>
          <a:endParaRPr lang="ko-KR" alt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31057" y="56753"/>
        <a:ext cx="1640767" cy="1833984"/>
      </dsp:txXfrm>
    </dsp:sp>
    <dsp:sp modelId="{F9918D30-8430-4A4B-B835-85A979E23FDE}">
      <dsp:nvSpPr>
        <dsp:cNvPr id="0" name=""/>
        <dsp:cNvSpPr/>
      </dsp:nvSpPr>
      <dsp:spPr>
        <a:xfrm>
          <a:off x="6797157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 w="38100">
          <a:solidFill>
            <a:schemeClr val="tx1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97157" y="799147"/>
        <a:ext cx="258640" cy="349196"/>
      </dsp:txXfrm>
    </dsp:sp>
    <dsp:sp modelId="{B74E6206-59FC-49BB-85BF-337A9C11BCF3}">
      <dsp:nvSpPr>
        <dsp:cNvPr id="0" name=""/>
        <dsp:cNvSpPr/>
      </dsp:nvSpPr>
      <dsp:spPr>
        <a:xfrm>
          <a:off x="7320016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Encoding</a:t>
          </a:r>
          <a:r>
            <a:rPr lang="en-US" altLang="ko-K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check</a:t>
          </a:r>
          <a:endParaRPr lang="ko-KR" alt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71063" y="56753"/>
        <a:ext cx="1640767" cy="1833984"/>
      </dsp:txXfrm>
    </dsp:sp>
    <dsp:sp modelId="{C48E4ED9-EFB5-4550-BBBE-63CA2335E1E6}">
      <dsp:nvSpPr>
        <dsp:cNvPr id="0" name=""/>
        <dsp:cNvSpPr/>
      </dsp:nvSpPr>
      <dsp:spPr>
        <a:xfrm>
          <a:off x="9237163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 w="38100">
          <a:solidFill>
            <a:schemeClr val="tx1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237163" y="799147"/>
        <a:ext cx="258640" cy="349196"/>
      </dsp:txXfrm>
    </dsp:sp>
    <dsp:sp modelId="{2B50330D-B7BF-4445-9328-A403E8D8CD1D}">
      <dsp:nvSpPr>
        <dsp:cNvPr id="0" name=""/>
        <dsp:cNvSpPr/>
      </dsp:nvSpPr>
      <dsp:spPr>
        <a:xfrm>
          <a:off x="9760021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Kill process</a:t>
          </a:r>
          <a:endParaRPr lang="ko-KR" alt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811068" y="56753"/>
        <a:ext cx="1640767" cy="1833984"/>
      </dsp:txXfrm>
    </dsp:sp>
    <dsp:sp modelId="{9ADA734E-FAAD-4FC3-867C-764F2675A72C}">
      <dsp:nvSpPr>
        <dsp:cNvPr id="0" name=""/>
        <dsp:cNvSpPr/>
      </dsp:nvSpPr>
      <dsp:spPr>
        <a:xfrm>
          <a:off x="11677168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 w="38100">
          <a:solidFill>
            <a:schemeClr val="tx1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677168" y="799147"/>
        <a:ext cx="258640" cy="349196"/>
      </dsp:txXfrm>
    </dsp:sp>
    <dsp:sp modelId="{D9FDC670-59AA-410D-BC5D-74C6A66A9E7A}">
      <dsp:nvSpPr>
        <dsp:cNvPr id="0" name=""/>
        <dsp:cNvSpPr/>
      </dsp:nvSpPr>
      <dsp:spPr>
        <a:xfrm>
          <a:off x="12200027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Restore</a:t>
          </a:r>
        </a:p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if needed</a:t>
          </a:r>
          <a:endParaRPr lang="ko-KR" alt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251074" y="56753"/>
        <a:ext cx="1640767" cy="1833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113" y="1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/>
          <a:lstStyle>
            <a:lvl1pPr algn="r">
              <a:defRPr sz="1100"/>
            </a:lvl1pPr>
          </a:lstStyle>
          <a:p>
            <a:fld id="{BF0B7669-FAF0-4F0A-B994-0A988D29AE6D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14563" y="1241425"/>
            <a:ext cx="23685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3752" tIns="41876" rIns="83752" bIns="4187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747"/>
            <a:ext cx="5438140" cy="3908798"/>
          </a:xfrm>
          <a:prstGeom prst="rect">
            <a:avLst/>
          </a:prstGeom>
        </p:spPr>
        <p:txBody>
          <a:bodyPr vert="horz" lIns="83752" tIns="41876" rIns="83752" bIns="41876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835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113" y="9428835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 anchor="b"/>
          <a:lstStyle>
            <a:lvl1pPr algn="r">
              <a:defRPr sz="1100"/>
            </a:lvl1pPr>
          </a:lstStyle>
          <a:p>
            <a:fld id="{19EF15D3-AD89-4442-8A9E-54CF4E4F1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9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1pPr>
    <a:lvl2pPr marL="1829986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2pPr>
    <a:lvl3pPr marL="3659976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3pPr>
    <a:lvl4pPr marL="5489961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4pPr>
    <a:lvl5pPr marL="7319951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5pPr>
    <a:lvl6pPr marL="9149937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6pPr>
    <a:lvl7pPr marL="10979927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7pPr>
    <a:lvl8pPr marL="12809912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8pPr>
    <a:lvl9pPr marL="14639902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72546" y="13269164"/>
            <a:ext cx="25755554" cy="6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545098" y="23970113"/>
            <a:ext cx="2121045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2647200"/>
          </a:xfrm>
        </p:spPr>
        <p:txBody>
          <a:bodyPr lIns="0" tIns="0" rIns="0" bIns="0"/>
          <a:lstStyle>
            <a:lvl1pPr>
              <a:defRPr sz="17202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2647200"/>
          </a:xfrm>
        </p:spPr>
        <p:txBody>
          <a:bodyPr lIns="0" tIns="0" rIns="0" bIns="0"/>
          <a:lstStyle>
            <a:lvl1pPr>
              <a:defRPr sz="17202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15037" y="9844870"/>
            <a:ext cx="131807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6153871" y="11536227"/>
            <a:ext cx="11270520" cy="6156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2647200"/>
          </a:xfrm>
        </p:spPr>
        <p:txBody>
          <a:bodyPr lIns="0" tIns="0" rIns="0" bIns="0"/>
          <a:lstStyle>
            <a:lvl1pPr>
              <a:defRPr sz="17202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0" y="881056"/>
            <a:ext cx="30300654" cy="4191000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30300654" cy="42791112"/>
          </a:xfrm>
          <a:custGeom>
            <a:avLst/>
            <a:gdLst/>
            <a:ahLst/>
            <a:cxnLst/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>
            <a:srgbClr val="373362"/>
          </a:solidFill>
        </p:spPr>
        <p:txBody>
          <a:bodyPr wrap="square" lIns="0" tIns="0" rIns="0" bIns="0" rtlCol="0"/>
          <a:lstStyle/>
          <a:p>
            <a:endParaRPr sz="28823" dirty="0"/>
          </a:p>
        </p:txBody>
      </p:sp>
      <p:sp>
        <p:nvSpPr>
          <p:cNvPr id="18" name="bg object 18"/>
          <p:cNvSpPr/>
          <p:nvPr/>
        </p:nvSpPr>
        <p:spPr>
          <a:xfrm>
            <a:off x="0" y="294481"/>
            <a:ext cx="30300654" cy="42214800"/>
          </a:xfrm>
          <a:custGeom>
            <a:avLst/>
            <a:gdLst/>
            <a:ahLst/>
            <a:cxnLst/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8823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6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15037" y="9844870"/>
            <a:ext cx="2727058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302223" y="39807506"/>
            <a:ext cx="9696209" cy="1108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15037" y="39807506"/>
            <a:ext cx="6969148" cy="1108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1816473" y="39807506"/>
            <a:ext cx="6969148" cy="1108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828983">
        <a:defRPr>
          <a:latin typeface="+mn-lt"/>
          <a:ea typeface="+mn-ea"/>
          <a:cs typeface="+mn-cs"/>
        </a:defRPr>
      </a:lvl2pPr>
      <a:lvl3pPr marL="3657966">
        <a:defRPr>
          <a:latin typeface="+mn-lt"/>
          <a:ea typeface="+mn-ea"/>
          <a:cs typeface="+mn-cs"/>
        </a:defRPr>
      </a:lvl3pPr>
      <a:lvl4pPr marL="5486949">
        <a:defRPr>
          <a:latin typeface="+mn-lt"/>
          <a:ea typeface="+mn-ea"/>
          <a:cs typeface="+mn-cs"/>
        </a:defRPr>
      </a:lvl4pPr>
      <a:lvl5pPr marL="7315932">
        <a:defRPr>
          <a:latin typeface="+mn-lt"/>
          <a:ea typeface="+mn-ea"/>
          <a:cs typeface="+mn-cs"/>
        </a:defRPr>
      </a:lvl5pPr>
      <a:lvl6pPr marL="9144914">
        <a:defRPr>
          <a:latin typeface="+mn-lt"/>
          <a:ea typeface="+mn-ea"/>
          <a:cs typeface="+mn-cs"/>
        </a:defRPr>
      </a:lvl6pPr>
      <a:lvl7pPr marL="10973897">
        <a:defRPr>
          <a:latin typeface="+mn-lt"/>
          <a:ea typeface="+mn-ea"/>
          <a:cs typeface="+mn-cs"/>
        </a:defRPr>
      </a:lvl7pPr>
      <a:lvl8pPr marL="12802880">
        <a:defRPr>
          <a:latin typeface="+mn-lt"/>
          <a:ea typeface="+mn-ea"/>
          <a:cs typeface="+mn-cs"/>
        </a:defRPr>
      </a:lvl8pPr>
      <a:lvl9pPr marL="1463186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828983">
        <a:defRPr>
          <a:latin typeface="+mn-lt"/>
          <a:ea typeface="+mn-ea"/>
          <a:cs typeface="+mn-cs"/>
        </a:defRPr>
      </a:lvl2pPr>
      <a:lvl3pPr marL="3657966">
        <a:defRPr>
          <a:latin typeface="+mn-lt"/>
          <a:ea typeface="+mn-ea"/>
          <a:cs typeface="+mn-cs"/>
        </a:defRPr>
      </a:lvl3pPr>
      <a:lvl4pPr marL="5486949">
        <a:defRPr>
          <a:latin typeface="+mn-lt"/>
          <a:ea typeface="+mn-ea"/>
          <a:cs typeface="+mn-cs"/>
        </a:defRPr>
      </a:lvl4pPr>
      <a:lvl5pPr marL="7315932">
        <a:defRPr>
          <a:latin typeface="+mn-lt"/>
          <a:ea typeface="+mn-ea"/>
          <a:cs typeface="+mn-cs"/>
        </a:defRPr>
      </a:lvl5pPr>
      <a:lvl6pPr marL="9144914">
        <a:defRPr>
          <a:latin typeface="+mn-lt"/>
          <a:ea typeface="+mn-ea"/>
          <a:cs typeface="+mn-cs"/>
        </a:defRPr>
      </a:lvl6pPr>
      <a:lvl7pPr marL="10973897">
        <a:defRPr>
          <a:latin typeface="+mn-lt"/>
          <a:ea typeface="+mn-ea"/>
          <a:cs typeface="+mn-cs"/>
        </a:defRPr>
      </a:lvl7pPr>
      <a:lvl8pPr marL="12802880">
        <a:defRPr>
          <a:latin typeface="+mn-lt"/>
          <a:ea typeface="+mn-ea"/>
          <a:cs typeface="+mn-cs"/>
        </a:defRPr>
      </a:lvl8pPr>
      <a:lvl9pPr marL="1463186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501F5EF4-6BA4-4D7D-9575-3041FBDA6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0206" y="2141178"/>
            <a:ext cx="5181573" cy="3470677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896" y="-110897"/>
            <a:ext cx="28039656" cy="4129425"/>
          </a:xfrm>
          <a:prstGeom prst="rect">
            <a:avLst/>
          </a:prstGeom>
        </p:spPr>
        <p:txBody>
          <a:bodyPr vert="horz" wrap="square" lIns="0" tIns="797649" rIns="0" bIns="0" rtlCol="0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ko-KR" sz="8800" spc="600" dirty="0">
                <a:latin typeface="Norwester" panose="00000506000000000000" pitchFamily="50" charset="0"/>
                <a:ea typeface="Cascadia Code SemiLight" panose="020B0609020000020004" pitchFamily="49" charset="0"/>
                <a:cs typeface="Dreaming Outloud Script Pro" panose="020F0502020204030204" pitchFamily="66" charset="0"/>
              </a:rPr>
              <a:t>R-HUNT: Real-Time Detection of Ransomware and File Recovery in the User-Space Filesystem</a:t>
            </a:r>
            <a:br>
              <a:rPr lang="en-US" altLang="ko-KR" sz="8000" spc="-600" dirty="0">
                <a:latin typeface="Constantia" panose="02030602050306030303" pitchFamily="18" charset="0"/>
                <a:ea typeface="Cascadia Code SemiLight" panose="020B0609020000020004" pitchFamily="49" charset="0"/>
                <a:cs typeface="Dreaming Outloud Script Pro" panose="020F0502020204030204" pitchFamily="66" charset="0"/>
              </a:rPr>
            </a:br>
            <a:endParaRPr sz="3200" kern="1200" dirty="0">
              <a:latin typeface="Constantia" panose="02030602050306030303" pitchFamily="18" charset="0"/>
              <a:ea typeface="Cascadia Code SemiLight" panose="020B0609020000020004" pitchFamily="49" charset="0"/>
              <a:cs typeface="Dreaming Outloud Script Pro" panose="020F0502020204030204" pitchFamily="66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/>
          <p:nvPr/>
        </p:nvSpPr>
        <p:spPr>
          <a:xfrm flipV="1">
            <a:off x="704810" y="5663119"/>
            <a:ext cx="28865591" cy="122892"/>
          </a:xfrm>
          <a:prstGeom prst="rect">
            <a:avLst/>
          </a:prstGeom>
          <a:solidFill>
            <a:srgbClr val="373362"/>
          </a:solidFill>
          <a:ln>
            <a:solidFill>
              <a:srgbClr val="373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9"/>
          <p:cNvSpPr txBox="1">
            <a:spLocks noGrp="1"/>
          </p:cNvSpPr>
          <p:nvPr>
            <p:ph sz="half" idx="3"/>
          </p:nvPr>
        </p:nvSpPr>
        <p:spPr>
          <a:xfrm>
            <a:off x="435974" y="36413281"/>
            <a:ext cx="28798577" cy="5295718"/>
          </a:xfrm>
          <a:prstGeom prst="rect">
            <a:avLst/>
          </a:prstGeom>
        </p:spPr>
        <p:txBody>
          <a:bodyPr vert="horz" wrap="square" lIns="0" tIns="335317" rIns="0" bIns="0" rtlCol="0">
            <a:spAutoFit/>
          </a:bodyPr>
          <a:lstStyle/>
          <a:p>
            <a:pPr marL="360000" marR="1836604" algn="just"/>
            <a:r>
              <a:rPr lang="en-US" altLang="ko-KR" sz="5400" b="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4. Discussion &amp; Conclusion</a:t>
            </a:r>
          </a:p>
          <a:p>
            <a:pPr marL="1291500" marR="170197" indent="-571500" algn="just">
              <a:lnSpc>
                <a:spcPct val="125000"/>
              </a:lnSpc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sz="3600" spc="240" dirty="0">
                <a:solidFill>
                  <a:srgbClr val="373362"/>
                </a:solidFill>
                <a:latin typeface="Lora" pitchFamily="2" charset="0"/>
              </a:rPr>
              <a:t>R-Hunt</a:t>
            </a:r>
            <a:r>
              <a:rPr lang="en-US" sz="3600" b="0" spc="240" dirty="0">
                <a:solidFill>
                  <a:srgbClr val="373362"/>
                </a:solidFill>
                <a:latin typeface="Lora" pitchFamily="2" charset="0"/>
              </a:rPr>
              <a:t> requires enhancements to effectively defend against encryption-less ransomware, a cutting-edge form of ransomware.</a:t>
            </a:r>
          </a:p>
          <a:p>
            <a:pPr marL="1291500" marR="170197" indent="-571500" algn="just">
              <a:lnSpc>
                <a:spcPct val="125000"/>
              </a:lnSpc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sz="3600" b="0" spc="240" dirty="0">
                <a:solidFill>
                  <a:srgbClr val="373362"/>
                </a:solidFill>
                <a:latin typeface="Lora" pitchFamily="2" charset="0"/>
              </a:rPr>
              <a:t>In this poster, we present </a:t>
            </a:r>
            <a:r>
              <a:rPr lang="en-US" sz="3600" spc="240" dirty="0">
                <a:solidFill>
                  <a:srgbClr val="373362"/>
                </a:solidFill>
                <a:latin typeface="Lora" pitchFamily="2" charset="0"/>
              </a:rPr>
              <a:t>R-Hunt</a:t>
            </a:r>
            <a:r>
              <a:rPr lang="en-US" sz="3600" b="0" spc="240" dirty="0">
                <a:solidFill>
                  <a:srgbClr val="373362"/>
                </a:solidFill>
                <a:latin typeface="Lora" pitchFamily="2" charset="0"/>
              </a:rPr>
              <a:t>, a FUSE-based filesystem capable of detecting a wide range of ransomware families and restoring corrupted files, all without requiring kernel code modifications across different operating systems.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 txBox="1"/>
          <p:nvPr/>
        </p:nvSpPr>
        <p:spPr>
          <a:xfrm>
            <a:off x="14913476" y="6191564"/>
            <a:ext cx="14174289" cy="22813941"/>
          </a:xfrm>
          <a:prstGeom prst="rect">
            <a:avLst/>
          </a:prstGeom>
        </p:spPr>
        <p:txBody>
          <a:bodyPr vert="horz" wrap="square" lIns="0" tIns="58423" rIns="0" bIns="0" rtlCol="0">
            <a:spAutoFit/>
          </a:bodyPr>
          <a:lstStyle/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Behavioral Monitoring: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 Tracks file access patterns to detect delayed or stealthy encryption tactics.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Entropy Analysis: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 Monitors file block entropy to identify malicious encryption.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Decoding Mechanism: 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Decodes suspicious blocks to counteract post-encryption encoding (e.g., Base64).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Killing Ransomware: 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Terminates ransomware.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Restoring Files: 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Restores original file blocks in a read cache for restoration upon detection.</a:t>
            </a:r>
          </a:p>
          <a:p>
            <a:pPr marL="360000"/>
            <a:endParaRPr lang="en-US" altLang="ko-KR" sz="5400" spc="300" dirty="0">
              <a:solidFill>
                <a:srgbClr val="373362"/>
              </a:solidFill>
              <a:latin typeface="Norwester" panose="00000506000000000000" pitchFamily="50" charset="0"/>
              <a:cs typeface="Tahoma"/>
            </a:endParaRPr>
          </a:p>
          <a:p>
            <a:pPr marL="360000"/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3</a:t>
            </a:r>
            <a:r>
              <a:rPr lang="en-US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. Experimental </a:t>
            </a:r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Results</a:t>
            </a:r>
            <a:endParaRPr lang="en-US" sz="5400" spc="300" dirty="0">
              <a:latin typeface="Norwester" panose="00000506000000000000" pitchFamily="50" charset="0"/>
              <a:cs typeface="Palatino Linotype"/>
            </a:endParaRP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cs typeface="Tahoma"/>
              </a:rPr>
              <a:t>Setup and Method</a:t>
            </a:r>
            <a:endParaRPr lang="en-US" altLang="ko-KR" sz="3600" dirty="0">
              <a:solidFill>
                <a:srgbClr val="373362"/>
              </a:solidFill>
              <a:latin typeface="Lora" pitchFamily="2" charset="0"/>
              <a:cs typeface="Tahoma"/>
            </a:endParaRP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cs typeface="Tahoma"/>
              </a:rPr>
              <a:t>Threshold of # of high entropy blocks at a particular block number among the last ten released files : 4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cs typeface="Tahoma"/>
              </a:rPr>
              <a:t>Threshold of # of accessible clusters, where each cluster defines a group of similar file types : 3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cs typeface="Tahoma"/>
              </a:rPr>
              <a:t>Executed 54 ransomware families including advanced evasion tactics like intermittent encryption and encoding post-encryption  and 19 benign applications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cs typeface="Palatino Linotype"/>
              </a:rPr>
              <a:t>Results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cs typeface="Palatino Linotype"/>
              </a:rPr>
              <a:t>Accuracy: 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cs typeface="Palatino Linotype"/>
              </a:rPr>
              <a:t>Achieved 100% detection rate with zero false positives and zero false negatives.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cs typeface="Palatino Linotype"/>
              </a:rPr>
              <a:t>Recovery: 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cs typeface="Palatino Linotype"/>
              </a:rPr>
              <a:t>All corrupted files were fully restored without data loss.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cs typeface="Palatino Linotype"/>
              </a:rPr>
              <a:t>Overhead: 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cs typeface="Palatino Linotype"/>
              </a:rPr>
              <a:t>Approx. 6% for read and 13% for write operations compared to naive FUSE filesystems</a:t>
            </a:r>
            <a:endParaRPr lang="en-US" altLang="ko-KR" sz="3600" b="1" dirty="0">
              <a:solidFill>
                <a:srgbClr val="373362"/>
              </a:solidFill>
              <a:latin typeface="Lora" pitchFamily="2" charset="0"/>
              <a:cs typeface="Palatino Linotype"/>
            </a:endParaRPr>
          </a:p>
          <a:p>
            <a:pPr marL="1252538" indent="-541338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cs typeface="Palatino Linotype"/>
              </a:rPr>
              <a:t>Case Studies (Fig. 2)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cs typeface="Palatino Linotype"/>
              </a:rPr>
              <a:t>Selected results of (1) full encryption of WannaCry, (2) intermittent encryption of Conti, (3) delayed encryption, and (4) encoding post-encryption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 txBox="1"/>
          <p:nvPr/>
        </p:nvSpPr>
        <p:spPr>
          <a:xfrm>
            <a:off x="435974" y="6276912"/>
            <a:ext cx="14096503" cy="1598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4400" indent="-914400">
              <a:buAutoNum type="arabicPeriod"/>
            </a:pPr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Motivation &amp; Research Goals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Ransomware poses an escalating threat to critical infrastructure, supply chains, and individuals, leading to significant disruptions.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Current anti-ransomware solutions face challenges such as operating system dependencies, reliance on kernel modifications, and susceptibility to advanced evasion techniques.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This poster introduces an OS-independent, user-space filesystem designed to detect ransomware and recover corrupted files.</a:t>
            </a:r>
          </a:p>
          <a:p>
            <a:pPr marL="1274400" indent="-914400">
              <a:buAutoNum type="arabicPeriod"/>
            </a:pPr>
            <a:endParaRPr lang="en-US" altLang="ko-KR" sz="5400" spc="300" dirty="0">
              <a:solidFill>
                <a:srgbClr val="373362"/>
              </a:solidFill>
              <a:latin typeface="Norwester" panose="00000506000000000000" pitchFamily="50" charset="0"/>
              <a:cs typeface="Tahoma"/>
            </a:endParaRPr>
          </a:p>
          <a:p>
            <a:pPr marL="1274400" indent="-914400">
              <a:buFont typeface="+mj-lt"/>
              <a:buAutoNum type="arabicPeriod" startAt="2"/>
            </a:pPr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Proposed Method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We propose </a:t>
            </a: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R-Hunt, 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a FUSE-based filesystem for detecting ransomware and restoring attacked files</a:t>
            </a: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,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 which operates entirely in the user space, avoiding kernel modifications and ensuring cross-platform compatibility.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Fig. 1 shows the overall structure of R-Hunt.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Main features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Process Whitelist: 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Allows legitimate encryption without performance degradation.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endParaRPr lang="en-US" altLang="ko-KR" sz="3600" dirty="0">
              <a:solidFill>
                <a:srgbClr val="373362"/>
              </a:solidFill>
              <a:latin typeface="Lora" pitchFamily="2" charset="0"/>
              <a:ea typeface="맑은 고딕" panose="020B0503020000020004" pitchFamily="50" charset="-127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8035F0D2-FCAB-562F-E5DD-37681C67D371}"/>
                  </a:ext>
                </a:extLst>
              </p:cNvPr>
              <p:cNvSpPr/>
              <p:nvPr/>
            </p:nvSpPr>
            <p:spPr>
              <a:xfrm>
                <a:off x="1268289" y="34228687"/>
                <a:ext cx="27892869" cy="1915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norm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rgbClr val="373362"/>
                    </a:solidFill>
                    <a:latin typeface="Lora" pitchFamily="2" charset="0"/>
                  </a:rPr>
                  <a:t>Fig. 2. </a:t>
                </a:r>
                <a:r>
                  <a:rPr lang="en-US" altLang="ko-KR" sz="3600" dirty="0">
                    <a:solidFill>
                      <a:srgbClr val="373362"/>
                    </a:solidFill>
                    <a:latin typeface="Lora" pitchFamily="2" charset="0"/>
                  </a:rPr>
                  <a:t>File access sequences found in the Case Study. The bottom row displays the color assigned to each cluster. (</a:t>
                </a:r>
                <a14:m>
                  <m:oMath xmlns:m="http://schemas.openxmlformats.org/officeDocument/2006/math">
                    <m:r>
                      <a:rPr lang="en-US" altLang="ko-KR" sz="3600" b="0" i="1" smtClean="0">
                        <a:solidFill>
                          <a:srgbClr val="373362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ko-KR" sz="3600" dirty="0">
                    <a:solidFill>
                      <a:srgbClr val="373362"/>
                    </a:solidFill>
                    <a:latin typeface="Lora" pitchFamily="2" charset="0"/>
                  </a:rPr>
                  <a:t>): contains high-entropy blocks,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3600" i="1" smtClean="0">
                            <a:solidFill>
                              <a:srgbClr val="37336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3600" b="0" i="1" smtClean="0">
                            <a:solidFill>
                              <a:srgbClr val="37336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altLang="ko-KR" sz="3600" dirty="0">
                    <a:solidFill>
                      <a:srgbClr val="373362"/>
                    </a:solidFill>
                    <a:latin typeface="Lora" pitchFamily="2" charset="0"/>
                  </a:rPr>
                  <a:t>): contains high-entropy blocks after decoding, →: pre-attack stage, ⇒: attack stage, ✓: success.</a:t>
                </a:r>
                <a:endParaRPr lang="ko-KR" altLang="en-US" sz="3600" dirty="0">
                  <a:solidFill>
                    <a:srgbClr val="373362"/>
                  </a:solidFill>
                  <a:latin typeface="Lora" pitchFamily="2" charset="0"/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8035F0D2-FCAB-562F-E5DD-37681C67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289" y="34228687"/>
                <a:ext cx="27892869" cy="1915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 txBox="1"/>
          <p:nvPr/>
        </p:nvSpPr>
        <p:spPr>
          <a:xfrm>
            <a:off x="4047855" y="3502285"/>
            <a:ext cx="22167596" cy="1821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altLang="ko-KR" sz="4800" dirty="0" err="1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Jiseok</a:t>
            </a:r>
            <a:r>
              <a:rPr lang="en-US" altLang="ko-KR" sz="48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 Bang  (Advisor: Prof. </a:t>
            </a:r>
            <a:r>
              <a:rPr lang="en-US" altLang="ko-KR" sz="4800" dirty="0" err="1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Seungkwang</a:t>
            </a:r>
            <a:r>
              <a:rPr lang="en-US" altLang="ko-KR" sz="48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 Lee)</a:t>
            </a:r>
            <a:br>
              <a:rPr lang="en-US" altLang="ko-KR" sz="48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</a:br>
            <a:r>
              <a:rPr lang="en-US" altLang="ko-KR" sz="48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Dept. of Cyber Security, </a:t>
            </a:r>
            <a:r>
              <a:rPr lang="en-US" altLang="ko-KR" sz="4800" dirty="0" err="1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Dankook</a:t>
            </a:r>
            <a:r>
              <a:rPr lang="en-US" altLang="ko-KR" sz="4800" dirty="0">
                <a:solidFill>
                  <a:srgbClr val="373362"/>
                </a:solidFill>
                <a:latin typeface="Lora" pitchFamily="2" charset="0"/>
                <a:ea typeface="맑은 고딕" panose="020B0503020000020004" pitchFamily="50" charset="-127"/>
                <a:cs typeface="Tahoma"/>
              </a:rPr>
              <a:t> University, Republic of Korea</a:t>
            </a:r>
            <a:endParaRPr lang="ko-KR" altLang="en-US" sz="4400" dirty="0">
              <a:solidFill>
                <a:srgbClr val="373362"/>
              </a:solidFill>
              <a:latin typeface="Lora" pitchFamily="2" charset="0"/>
              <a:ea typeface="맑은 고딕" panose="020B0503020000020004" pitchFamily="50" charset="-127"/>
              <a:cs typeface="Tahom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/>
          <p:nvPr/>
        </p:nvSpPr>
        <p:spPr>
          <a:xfrm>
            <a:off x="126206" y="294481"/>
            <a:ext cx="30022800" cy="42214800"/>
          </a:xfrm>
          <a:prstGeom prst="rect">
            <a:avLst/>
          </a:prstGeom>
          <a:noFill/>
          <a:ln w="76200">
            <a:solidFill>
              <a:srgbClr val="373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301CD99-F47D-4569-BC83-6B7824F5F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895" y="29326681"/>
            <a:ext cx="27892869" cy="4993218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/>
          <p:nvPr/>
        </p:nvSpPr>
        <p:spPr>
          <a:xfrm>
            <a:off x="795569" y="27867326"/>
            <a:ext cx="14701628" cy="1133823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altLang="ko-KR" sz="3600" b="1" dirty="0">
                <a:solidFill>
                  <a:srgbClr val="373362"/>
                </a:solidFill>
                <a:latin typeface="Lora" pitchFamily="2" charset="0"/>
              </a:rPr>
              <a:t>Fig. 1. </a:t>
            </a:r>
            <a:r>
              <a:rPr lang="en-US" altLang="ko-KR" sz="3600" dirty="0">
                <a:solidFill>
                  <a:srgbClr val="373362"/>
                </a:solidFill>
                <a:latin typeface="Lora" pitchFamily="2" charset="0"/>
              </a:rPr>
              <a:t>Overview of R-Hunt.</a:t>
            </a:r>
            <a:endParaRPr lang="ko-KR" altLang="en-US" sz="3600" dirty="0">
              <a:solidFill>
                <a:srgbClr val="373362"/>
              </a:solidFill>
              <a:latin typeface="Lora" pitchFamily="2" charset="0"/>
            </a:endParaRPr>
          </a:p>
        </p:txBody>
      </p: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BEBB7C88-3EA5-4E7B-B131-19F005493335}"/>
              </a:ext>
            </a:extLst>
          </p:cNvPr>
          <p:cNvGrpSpPr/>
          <p:nvPr/>
        </p:nvGrpSpPr>
        <p:grpSpPr>
          <a:xfrm>
            <a:off x="1073440" y="22010056"/>
            <a:ext cx="14064166" cy="5659522"/>
            <a:chOff x="1252020" y="18875241"/>
            <a:chExt cx="14216566" cy="8794337"/>
          </a:xfrm>
        </p:grpSpPr>
        <p:sp>
          <p:nvSpPr>
            <p:cNvPr id="8" name="AutoShape 2" descr="단국대학교 - 나무위키">
              <a:extLst>
                <a:ext uri="{FF2B5EF4-FFF2-40B4-BE49-F238E27FC236}">
                  <a16:creationId xmlns:a16="http://schemas.microsoft.com/office/drawing/2014/main" id="{5AC33F30-6F74-4E68-B787-8797D72307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4413" y="20949018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5BA02F91-707C-44EB-91E7-E340BDCA25F6}"/>
                </a:ext>
              </a:extLst>
            </p:cNvPr>
            <p:cNvGrpSpPr/>
            <p:nvPr/>
          </p:nvGrpSpPr>
          <p:grpSpPr>
            <a:xfrm>
              <a:off x="1334627" y="22403625"/>
              <a:ext cx="14133959" cy="5265953"/>
              <a:chOff x="1027485" y="2154785"/>
              <a:chExt cx="3267751" cy="2108635"/>
            </a:xfrm>
          </p:grpSpPr>
          <p:cxnSp>
            <p:nvCxnSpPr>
              <p:cNvPr id="35" name="직선 연결선 8">
                <a:extLst>
                  <a:ext uri="{FF2B5EF4-FFF2-40B4-BE49-F238E27FC236}">
                    <a16:creationId xmlns:a16="http://schemas.microsoft.com/office/drawing/2014/main" id="{FE66C379-FCB4-4866-96D3-2642911B8DB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027486" y="3144808"/>
                <a:ext cx="3267750" cy="0"/>
              </a:xfrm>
              <a:prstGeom prst="line">
                <a:avLst/>
              </a:prstGeom>
              <a:noFill/>
              <a:ln w="76200" algn="ctr">
                <a:solidFill>
                  <a:srgbClr val="000000"/>
                </a:solidFill>
                <a:prstDash val="sys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" name="사각형: 둥근 모서리 9">
                <a:extLst>
                  <a:ext uri="{FF2B5EF4-FFF2-40B4-BE49-F238E27FC236}">
                    <a16:creationId xmlns:a16="http://schemas.microsoft.com/office/drawing/2014/main" id="{607776B1-1921-47C0-B575-41F9237E3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1545" y="2173465"/>
                <a:ext cx="2296886" cy="770257"/>
              </a:xfrm>
              <a:prstGeom prst="roundRect">
                <a:avLst>
                  <a:gd name="adj" fmla="val 16667"/>
                </a:avLst>
              </a:prstGeom>
              <a:solidFill>
                <a:schemeClr val="tx1"/>
              </a:solidFill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r>
                  <a:rPr kumimoji="0" lang="en-US" altLang="ko-KR" sz="4000" dirty="0">
                    <a:solidFill>
                      <a:schemeClr val="bg1"/>
                    </a:solidFill>
                    <a:latin typeface="함초롬바탕" panose="02030604000101010101" pitchFamily="18" charset="-127"/>
                    <a:ea typeface="함초롬바탕" panose="02030604000101010101" pitchFamily="18" charset="-127"/>
                    <a:cs typeface="함초롬바탕" panose="02030604000101010101" pitchFamily="18" charset="-127"/>
                  </a:rPr>
                  <a:t>Ransomware performs </a:t>
                </a:r>
              </a:p>
              <a:p>
                <a:pPr algn="ctr" eaLnBrk="1" latinLnBrk="1" hangingPunct="1"/>
                <a:r>
                  <a:rPr kumimoji="0" lang="en-US" altLang="ko-KR" sz="4000" dirty="0">
                    <a:solidFill>
                      <a:schemeClr val="bg1"/>
                    </a:solidFill>
                    <a:latin typeface="함초롬바탕" panose="02030604000101010101" pitchFamily="18" charset="-127"/>
                    <a:ea typeface="함초롬바탕" panose="02030604000101010101" pitchFamily="18" charset="-127"/>
                    <a:cs typeface="함초롬바탕" panose="02030604000101010101" pitchFamily="18" charset="-127"/>
                  </a:rPr>
                  <a:t>Read </a:t>
                </a:r>
                <a:r>
                  <a:rPr kumimoji="0" lang="en-US" altLang="ko-KR" sz="4000" dirty="0">
                    <a:solidFill>
                      <a:schemeClr val="bg1"/>
                    </a:solidFill>
                    <a:latin typeface="함초롬바탕" panose="02030604000101010101" pitchFamily="18" charset="-127"/>
                    <a:ea typeface="함초롬바탕" panose="02030604000101010101" pitchFamily="18" charset="-127"/>
                    <a:cs typeface="함초롬바탕" panose="02030604000101010101" pitchFamily="18" charset="-127"/>
                    <a:sym typeface="Wingdings" panose="05000000000000000000" pitchFamily="2" charset="2"/>
                  </a:rPr>
                  <a:t> Encrypt  Write  … </a:t>
                </a:r>
                <a:endParaRPr kumimoji="0" lang="ko-KR" altLang="en-US" sz="4000" dirty="0">
                  <a:solidFill>
                    <a:schemeClr val="bg1"/>
                  </a:solidFill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endParaRPr>
              </a:p>
            </p:txBody>
          </p:sp>
          <p:sp>
            <p:nvSpPr>
              <p:cNvPr id="37" name="사각형: 둥근 모서리 10">
                <a:extLst>
                  <a:ext uri="{FF2B5EF4-FFF2-40B4-BE49-F238E27FC236}">
                    <a16:creationId xmlns:a16="http://schemas.microsoft.com/office/drawing/2014/main" id="{62D808AE-BD80-40FE-98EF-C55B72DFE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7485" y="3267045"/>
                <a:ext cx="3267751" cy="468313"/>
              </a:xfrm>
              <a:prstGeom prst="roundRect">
                <a:avLst>
                  <a:gd name="adj" fmla="val 16667"/>
                </a:avLst>
              </a:prstGeom>
              <a:solidFill>
                <a:srgbClr val="FFC000"/>
              </a:solidFill>
              <a:ln w="12700" algn="ctr">
                <a:solidFill>
                  <a:srgbClr val="2F528F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r>
                  <a:rPr kumimoji="0" lang="en-US" altLang="ko-KR" sz="4000" dirty="0">
                    <a:solidFill>
                      <a:srgbClr val="FFFFFF"/>
                    </a:solidFill>
                    <a:latin typeface="함초롬바탕" panose="02030604000101010101" pitchFamily="18" charset="-127"/>
                    <a:ea typeface="함초롬바탕" panose="02030604000101010101" pitchFamily="18" charset="-127"/>
                    <a:cs typeface="함초롬바탕" panose="02030604000101010101" pitchFamily="18" charset="-127"/>
                  </a:rPr>
                  <a:t>VFS</a:t>
                </a:r>
                <a:endParaRPr kumimoji="0" lang="ko-KR" altLang="en-US" sz="4000" dirty="0">
                  <a:solidFill>
                    <a:srgbClr val="FFFFFF"/>
                  </a:solidFill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endParaRPr>
              </a:p>
            </p:txBody>
          </p:sp>
          <p:sp>
            <p:nvSpPr>
              <p:cNvPr id="38" name="사각형: 둥근 모서리 11">
                <a:extLst>
                  <a:ext uri="{FF2B5EF4-FFF2-40B4-BE49-F238E27FC236}">
                    <a16:creationId xmlns:a16="http://schemas.microsoft.com/office/drawing/2014/main" id="{74362D0B-CDBC-45E2-9413-F24E00634D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7485" y="3794095"/>
                <a:ext cx="2697491" cy="468313"/>
              </a:xfrm>
              <a:prstGeom prst="roundRect">
                <a:avLst>
                  <a:gd name="adj" fmla="val 16667"/>
                </a:avLst>
              </a:prstGeom>
              <a:solidFill>
                <a:srgbClr val="4472C4"/>
              </a:solidFill>
              <a:ln w="12700" algn="ctr">
                <a:solidFill>
                  <a:srgbClr val="2F528F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r>
                  <a:rPr kumimoji="0" lang="en-US" altLang="ko-KR" sz="4000" dirty="0">
                    <a:solidFill>
                      <a:srgbClr val="FFFFFF"/>
                    </a:solidFill>
                    <a:latin typeface="함초롬바탕" panose="02030604000101010101" pitchFamily="18" charset="-127"/>
                    <a:ea typeface="함초롬바탕" panose="02030604000101010101" pitchFamily="18" charset="-127"/>
                    <a:cs typeface="함초롬바탕" panose="02030604000101010101" pitchFamily="18" charset="-127"/>
                  </a:rPr>
                  <a:t>FUSE</a:t>
                </a:r>
                <a:endParaRPr kumimoji="0" lang="ko-KR" altLang="en-US" sz="4000" dirty="0">
                  <a:solidFill>
                    <a:srgbClr val="FFFFFF"/>
                  </a:solidFill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endParaRPr>
              </a:p>
            </p:txBody>
          </p:sp>
          <p:sp>
            <p:nvSpPr>
              <p:cNvPr id="39" name="사각형: 둥근 모서리 12">
                <a:extLst>
                  <a:ext uri="{FF2B5EF4-FFF2-40B4-BE49-F238E27FC236}">
                    <a16:creationId xmlns:a16="http://schemas.microsoft.com/office/drawing/2014/main" id="{D71D34B9-417A-4F62-9CF5-FD80DAC1C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1904" y="3795108"/>
                <a:ext cx="493332" cy="468312"/>
              </a:xfrm>
              <a:prstGeom prst="roundRect">
                <a:avLst>
                  <a:gd name="adj" fmla="val 16667"/>
                </a:avLst>
              </a:prstGeom>
              <a:solidFill>
                <a:srgbClr val="4472C4"/>
              </a:solidFill>
              <a:ln w="12700" algn="ctr">
                <a:solidFill>
                  <a:srgbClr val="2F528F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r>
                  <a:rPr kumimoji="0" lang="en-US" altLang="ko-KR" sz="4000" dirty="0" err="1">
                    <a:solidFill>
                      <a:srgbClr val="FFFFFF"/>
                    </a:solidFill>
                    <a:latin typeface="함초롬바탕" panose="02030604000101010101" pitchFamily="18" charset="-127"/>
                    <a:ea typeface="함초롬바탕" panose="02030604000101010101" pitchFamily="18" charset="-127"/>
                    <a:cs typeface="함초롬바탕" panose="02030604000101010101" pitchFamily="18" charset="-127"/>
                  </a:rPr>
                  <a:t>etc</a:t>
                </a:r>
                <a:endParaRPr kumimoji="0" lang="ko-KR" altLang="en-US" sz="4000" dirty="0">
                  <a:solidFill>
                    <a:srgbClr val="FFFFFF"/>
                  </a:solidFill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endParaRPr>
              </a:p>
            </p:txBody>
          </p:sp>
          <p:sp>
            <p:nvSpPr>
              <p:cNvPr id="40" name="사각형: 둥근 모서리 13">
                <a:extLst>
                  <a:ext uri="{FF2B5EF4-FFF2-40B4-BE49-F238E27FC236}">
                    <a16:creationId xmlns:a16="http://schemas.microsoft.com/office/drawing/2014/main" id="{F217A805-5DF0-4D0C-8EEC-7FF12F828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7485" y="2154785"/>
                <a:ext cx="865998" cy="770257"/>
              </a:xfrm>
              <a:prstGeom prst="roundRect">
                <a:avLst>
                  <a:gd name="adj" fmla="val 16667"/>
                </a:avLst>
              </a:prstGeom>
              <a:solidFill>
                <a:srgbClr val="C00000"/>
              </a:solidFill>
              <a:ln w="12700" algn="ctr">
                <a:solidFill>
                  <a:srgbClr val="2F528F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맑은 고딕" panose="020B0503020000020004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r>
                  <a:rPr kumimoji="0" lang="en-US" altLang="ko-KR" sz="4000" dirty="0">
                    <a:solidFill>
                      <a:srgbClr val="FFFFFF"/>
                    </a:solidFill>
                    <a:latin typeface="함초롬바탕" panose="02030604000101010101" pitchFamily="18" charset="-127"/>
                    <a:ea typeface="함초롬바탕" panose="02030604000101010101" pitchFamily="18" charset="-127"/>
                    <a:cs typeface="함초롬바탕" panose="02030604000101010101" pitchFamily="18" charset="-127"/>
                  </a:rPr>
                  <a:t>R-Hunt</a:t>
                </a:r>
              </a:p>
            </p:txBody>
          </p:sp>
          <p:cxnSp>
            <p:nvCxnSpPr>
              <p:cNvPr id="41" name="직선 연결선 17">
                <a:extLst>
                  <a:ext uri="{FF2B5EF4-FFF2-40B4-BE49-F238E27FC236}">
                    <a16:creationId xmlns:a16="http://schemas.microsoft.com/office/drawing/2014/main" id="{EA9A2FBF-5035-4E13-8856-D6C3CDDE8C2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681318" y="2972275"/>
                <a:ext cx="0" cy="1055976"/>
              </a:xfrm>
              <a:prstGeom prst="line">
                <a:avLst/>
              </a:prstGeom>
              <a:noFill/>
              <a:ln w="76200" algn="ctr">
                <a:solidFill>
                  <a:srgbClr val="000000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직선 연결선 17">
                <a:extLst>
                  <a:ext uri="{FF2B5EF4-FFF2-40B4-BE49-F238E27FC236}">
                    <a16:creationId xmlns:a16="http://schemas.microsoft.com/office/drawing/2014/main" id="{34C6EACE-CA82-4E47-8018-664890FAB61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566266" y="2970671"/>
                <a:ext cx="0" cy="1055976"/>
              </a:xfrm>
              <a:prstGeom prst="line">
                <a:avLst/>
              </a:prstGeom>
              <a:noFill/>
              <a:ln w="76200" algn="ctr">
                <a:solidFill>
                  <a:srgbClr val="000000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aphicFrame>
          <p:nvGraphicFramePr>
            <p:cNvPr id="11" name="다이어그램 10">
              <a:extLst>
                <a:ext uri="{FF2B5EF4-FFF2-40B4-BE49-F238E27FC236}">
                  <a16:creationId xmlns:a16="http://schemas.microsoft.com/office/drawing/2014/main" id="{3D5C4A79-07F4-424E-899F-04B2C1EDD9B2}"/>
                </a:ext>
              </a:extLst>
            </p:cNvPr>
            <p:cNvGraphicFramePr/>
            <p:nvPr/>
          </p:nvGraphicFramePr>
          <p:xfrm>
            <a:off x="1334628" y="18875241"/>
            <a:ext cx="14093974" cy="302620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cxnSp>
          <p:nvCxnSpPr>
            <p:cNvPr id="137" name="연결선: 구부러짐 136">
              <a:extLst>
                <a:ext uri="{FF2B5EF4-FFF2-40B4-BE49-F238E27FC236}">
                  <a16:creationId xmlns:a16="http://schemas.microsoft.com/office/drawing/2014/main" id="{5F5FB538-1B46-4B64-A0FD-C0EEE284C7FC}"/>
                </a:ext>
              </a:extLst>
            </p:cNvPr>
            <p:cNvCxnSpPr>
              <a:cxnSpLocks/>
            </p:cNvCxnSpPr>
            <p:nvPr/>
          </p:nvCxnSpPr>
          <p:spPr>
            <a:xfrm rot="21600000" flipH="1">
              <a:off x="1252020" y="20424069"/>
              <a:ext cx="2527" cy="2988000"/>
            </a:xfrm>
            <a:prstGeom prst="curvedConnector3">
              <a:avLst>
                <a:gd name="adj1" fmla="val 28244044"/>
              </a:avLst>
            </a:prstGeom>
            <a:ln w="762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106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501F5EF4-6BA4-4D7D-9575-3041FBDA6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0206" y="2141178"/>
            <a:ext cx="5181573" cy="3470677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896" y="-110897"/>
            <a:ext cx="28039656" cy="4129425"/>
          </a:xfrm>
          <a:prstGeom prst="rect">
            <a:avLst/>
          </a:prstGeom>
        </p:spPr>
        <p:txBody>
          <a:bodyPr vert="horz" wrap="square" lIns="0" tIns="797649" rIns="0" bIns="0" rtlCol="0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ko-KR" sz="8800" spc="600" dirty="0">
                <a:latin typeface="Norwester" panose="00000506000000000000" pitchFamily="50" charset="0"/>
                <a:ea typeface="Cascadia Code SemiLight" panose="020B0609020000020004" pitchFamily="49" charset="0"/>
                <a:cs typeface="Dreaming Outloud Script Pro" panose="020F0502020204030204" pitchFamily="66" charset="0"/>
              </a:rPr>
              <a:t>R-HUNT: Real-Time Detection of Ransomware and File Recovery in the User-Space Filesystem</a:t>
            </a:r>
            <a:br>
              <a:rPr lang="en-US" altLang="ko-KR" sz="8000" spc="-600" dirty="0">
                <a:latin typeface="Constantia" panose="02030602050306030303" pitchFamily="18" charset="0"/>
                <a:ea typeface="Cascadia Code SemiLight" panose="020B0609020000020004" pitchFamily="49" charset="0"/>
                <a:cs typeface="Dreaming Outloud Script Pro" panose="020F0502020204030204" pitchFamily="66" charset="0"/>
              </a:rPr>
            </a:br>
            <a:endParaRPr sz="3200" kern="1200" dirty="0">
              <a:latin typeface="Constantia" panose="02030602050306030303" pitchFamily="18" charset="0"/>
              <a:ea typeface="Cascadia Code SemiLight" panose="020B0609020000020004" pitchFamily="49" charset="0"/>
              <a:cs typeface="Dreaming Outloud Script Pro" panose="020F0502020204030204" pitchFamily="66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/>
          <p:nvPr/>
        </p:nvSpPr>
        <p:spPr>
          <a:xfrm flipV="1">
            <a:off x="704810" y="5663119"/>
            <a:ext cx="28865591" cy="122892"/>
          </a:xfrm>
          <a:prstGeom prst="rect">
            <a:avLst/>
          </a:prstGeom>
          <a:solidFill>
            <a:srgbClr val="373362"/>
          </a:solidFill>
          <a:ln>
            <a:solidFill>
              <a:srgbClr val="373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9"/>
          <p:cNvSpPr txBox="1">
            <a:spLocks noGrp="1"/>
          </p:cNvSpPr>
          <p:nvPr>
            <p:ph sz="half" idx="3"/>
          </p:nvPr>
        </p:nvSpPr>
        <p:spPr>
          <a:xfrm>
            <a:off x="435974" y="36413281"/>
            <a:ext cx="28798577" cy="4743131"/>
          </a:xfrm>
          <a:prstGeom prst="rect">
            <a:avLst/>
          </a:prstGeom>
        </p:spPr>
        <p:txBody>
          <a:bodyPr vert="horz" wrap="square" lIns="0" tIns="335317" rIns="0" bIns="0" rtlCol="0">
            <a:spAutoFit/>
          </a:bodyPr>
          <a:lstStyle/>
          <a:p>
            <a:pPr marL="360000" marR="1836604" algn="just"/>
            <a:r>
              <a:rPr lang="en-US" altLang="ko-KR" sz="5400" b="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4. Discussion &amp; Conclusion</a:t>
            </a:r>
          </a:p>
          <a:p>
            <a:pPr marL="1291500" marR="170197" indent="-571500" algn="just">
              <a:lnSpc>
                <a:spcPct val="125000"/>
              </a:lnSpc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sz="3800" spc="24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R-Hunt</a:t>
            </a:r>
            <a:r>
              <a:rPr lang="en-US" sz="3800" b="0" spc="24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 enhancements to effectively defend against encryption-less ransomware, a cutting-edge form of ransomware.</a:t>
            </a:r>
          </a:p>
          <a:p>
            <a:pPr marL="1291500" marR="170197" indent="-571500" algn="just">
              <a:lnSpc>
                <a:spcPct val="125000"/>
              </a:lnSpc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sz="3800" b="0" spc="24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poster, we presented </a:t>
            </a:r>
            <a:r>
              <a:rPr lang="en-US" sz="3800" spc="24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R-Hunt</a:t>
            </a:r>
            <a:r>
              <a:rPr lang="en-US" sz="3800" b="0" spc="24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FUSE-based filesystem capable of detecting a wide range of ransomware families and restoring corrupted files, all without requiring kernel code modifications across different operating systems.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 txBox="1"/>
          <p:nvPr/>
        </p:nvSpPr>
        <p:spPr>
          <a:xfrm>
            <a:off x="14913476" y="6191564"/>
            <a:ext cx="14174289" cy="23121717"/>
          </a:xfrm>
          <a:prstGeom prst="rect">
            <a:avLst/>
          </a:prstGeom>
        </p:spPr>
        <p:txBody>
          <a:bodyPr vert="horz" wrap="square" lIns="0" tIns="58423" rIns="0" bIns="0" rtlCol="0">
            <a:spAutoFit/>
          </a:bodyPr>
          <a:lstStyle/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Behavioral Monitoring: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Tracks file access patterns to detect delayed or stealthy encryption tactics.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Entropy Analysis: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Monitors file block entropy to identify malicious encryption.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Decoding Mechanism: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Decodes suspicious blocks to counteract post-encryption encoding (e.g., Base64).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Killing Ransomware: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Terminates ransomware.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Restoring Files: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Restores original file blocks in a read cache for restoration upon detection.</a:t>
            </a:r>
          </a:p>
          <a:p>
            <a:pPr marL="360000"/>
            <a:endParaRPr lang="en-US" altLang="ko-KR" sz="5400" spc="300" dirty="0">
              <a:solidFill>
                <a:srgbClr val="373362"/>
              </a:solidFill>
              <a:latin typeface="Norwester" panose="00000506000000000000" pitchFamily="50" charset="0"/>
              <a:cs typeface="Tahoma"/>
            </a:endParaRPr>
          </a:p>
          <a:p>
            <a:pPr marL="360000"/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3</a:t>
            </a:r>
            <a:r>
              <a:rPr lang="en-US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. Experimental </a:t>
            </a:r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Results</a:t>
            </a:r>
            <a:endParaRPr lang="en-US" sz="5400" spc="300" dirty="0">
              <a:latin typeface="Norwester" panose="00000506000000000000" pitchFamily="50" charset="0"/>
              <a:cs typeface="Palatino Linotype"/>
            </a:endParaRP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 and Method</a:t>
            </a:r>
            <a:endParaRPr lang="en-US" altLang="ko-KR" sz="3800" dirty="0">
              <a:solidFill>
                <a:srgbClr val="37336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of # of high entropy blocks at a particular block number among the last ten released files : 4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of # of accessible clusters, where each cluster defines a group of similar file types : 3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Executed 54 ransomware families including advanced evasion tactics like intermittent encryption and encoding post-encryption  and 19 benign applications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100% detection rate with zero false positives and zero false negatives.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corrupted files were fully restored without data loss.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Overhead: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Approx. 6% for read and 13% for write operations compared to naive FUSE filesystems</a:t>
            </a:r>
            <a:endParaRPr lang="en-US" altLang="ko-KR" sz="3800" b="1" dirty="0">
              <a:solidFill>
                <a:srgbClr val="37336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2538" indent="-541338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(Fig. 2)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experimental results of (1) full encryption of WannaCry, (2) intermittent encryption of Conti, (3) delayed encryption, and (4) encoding post-encryption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 txBox="1"/>
          <p:nvPr/>
        </p:nvSpPr>
        <p:spPr>
          <a:xfrm>
            <a:off x="435974" y="6276912"/>
            <a:ext cx="14096503" cy="1478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4400" indent="-914400">
              <a:buAutoNum type="arabicPeriod"/>
            </a:pPr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Motivation &amp; Research Goals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Ransomware poses an escalating threat to critical infrastructure, supply chains, and individuals, leading to significant disruptions.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Current anti-ransomware solutions face challenges such as operating system dependencies, reliance on kernel modifications, and susceptibility to advanced evasion techniques.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This poster introduces an OS-independent, user-space filesystem designed to detect ransomware and recover corrupted files.</a:t>
            </a:r>
          </a:p>
          <a:p>
            <a:pPr marL="1274400" indent="-914400">
              <a:buAutoNum type="arabicPeriod"/>
            </a:pPr>
            <a:endParaRPr lang="en-US" altLang="ko-KR" sz="5400" spc="300" dirty="0">
              <a:solidFill>
                <a:srgbClr val="373362"/>
              </a:solidFill>
              <a:latin typeface="Norwester" panose="00000506000000000000" pitchFamily="50" charset="0"/>
              <a:cs typeface="Tahoma"/>
            </a:endParaRPr>
          </a:p>
          <a:p>
            <a:pPr marL="1274400" indent="-914400">
              <a:buFont typeface="+mj-lt"/>
              <a:buAutoNum type="arabicPeriod" startAt="2"/>
            </a:pPr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Proposed Method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 propose </a:t>
            </a: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R-Hunt,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 FUSE-based filesystem for detecting ransomware and restoring attacked files</a:t>
            </a: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which operates entirely in the user space, avoiding kernel modifications and ensuring cross-platform compatibility.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Fig. 1 shows the overall structure of R-Hunt.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Main features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Process Whitelist: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Allows legitimate encryption without performance degradation.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endParaRPr lang="en-US" altLang="ko-KR" sz="3600" dirty="0">
              <a:solidFill>
                <a:srgbClr val="373362"/>
              </a:solidFill>
              <a:latin typeface="Lora" pitchFamily="2" charset="0"/>
              <a:ea typeface="맑은 고딕" panose="020B0503020000020004" pitchFamily="50" charset="-127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8035F0D2-FCAB-562F-E5DD-37681C67D371}"/>
                  </a:ext>
                </a:extLst>
              </p:cNvPr>
              <p:cNvSpPr/>
              <p:nvPr/>
            </p:nvSpPr>
            <p:spPr>
              <a:xfrm>
                <a:off x="1268289" y="34228687"/>
                <a:ext cx="27892869" cy="1915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norm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rgbClr val="3733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2. </a:t>
                </a:r>
                <a:r>
                  <a:rPr lang="en-US" altLang="ko-KR" sz="3600" dirty="0">
                    <a:solidFill>
                      <a:srgbClr val="3733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File access sequences found in the Case Study. The bottom row displays the color assigned to each cluster. (</a:t>
                </a:r>
                <a14:m>
                  <m:oMath xmlns:m="http://schemas.openxmlformats.org/officeDocument/2006/math">
                    <m:r>
                      <a:rPr lang="en-US" altLang="ko-KR" sz="3600" b="0" i="1" smtClean="0">
                        <a:solidFill>
                          <a:srgbClr val="373362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ko-KR" sz="3600" dirty="0">
                    <a:solidFill>
                      <a:srgbClr val="3733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contains high-entropy blocks,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3600" i="1" smtClean="0">
                            <a:solidFill>
                              <a:srgbClr val="37336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3600" b="0" i="1" smtClean="0">
                            <a:solidFill>
                              <a:srgbClr val="37336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altLang="ko-KR" sz="3600" dirty="0">
                    <a:solidFill>
                      <a:srgbClr val="3733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contains high-entropy blocks after decoding, →: pre-attack stage, ⇒: attack stage, ✓: success.</a:t>
                </a:r>
                <a:endParaRPr lang="ko-KR" altLang="en-US" sz="3600" dirty="0">
                  <a:solidFill>
                    <a:srgbClr val="37336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8035F0D2-FCAB-562F-E5DD-37681C67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289" y="34228687"/>
                <a:ext cx="27892869" cy="1915850"/>
              </a:xfrm>
              <a:prstGeom prst="rect">
                <a:avLst/>
              </a:prstGeom>
              <a:blipFill>
                <a:blip r:embed="rId3"/>
                <a:stretch>
                  <a:fillRect r="-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 txBox="1"/>
          <p:nvPr/>
        </p:nvSpPr>
        <p:spPr>
          <a:xfrm>
            <a:off x="4047855" y="3502285"/>
            <a:ext cx="22167596" cy="1821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altLang="ko-KR" sz="4800" dirty="0" err="1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Jiseok</a:t>
            </a:r>
            <a:r>
              <a:rPr lang="en-US" altLang="ko-KR" sz="4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Bang  (Advisor: Prof. </a:t>
            </a:r>
            <a:r>
              <a:rPr lang="en-US" altLang="ko-KR" sz="4800" dirty="0" err="1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Seungkwang</a:t>
            </a:r>
            <a:r>
              <a:rPr lang="en-US" altLang="ko-KR" sz="4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Lee)</a:t>
            </a:r>
            <a:br>
              <a:rPr lang="en-US" altLang="ko-KR" sz="4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4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Dept. of Cyber Security, </a:t>
            </a:r>
            <a:r>
              <a:rPr lang="en-US" altLang="ko-KR" sz="4800" dirty="0" err="1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Dankook</a:t>
            </a:r>
            <a:r>
              <a:rPr lang="en-US" altLang="ko-KR" sz="4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University, Republic of Korea</a:t>
            </a:r>
            <a:endParaRPr lang="ko-KR" altLang="en-US" sz="4400" dirty="0">
              <a:solidFill>
                <a:srgbClr val="373362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/>
          <p:nvPr/>
        </p:nvSpPr>
        <p:spPr>
          <a:xfrm>
            <a:off x="126206" y="294481"/>
            <a:ext cx="30022800" cy="42214800"/>
          </a:xfrm>
          <a:prstGeom prst="rect">
            <a:avLst/>
          </a:prstGeom>
          <a:noFill/>
          <a:ln w="76200">
            <a:solidFill>
              <a:srgbClr val="373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301CD99-F47D-4569-BC83-6B7824F5F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895" y="29326681"/>
            <a:ext cx="27892869" cy="4993218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/>
          <p:nvPr/>
        </p:nvSpPr>
        <p:spPr>
          <a:xfrm>
            <a:off x="795569" y="27049858"/>
            <a:ext cx="14701628" cy="1133823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altLang="ko-KR" sz="36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1. </a:t>
            </a:r>
            <a:r>
              <a:rPr lang="en-US" altLang="ko-KR" sz="36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R-Hunt.</a:t>
            </a:r>
            <a:endParaRPr lang="ko-KR" altLang="en-US" sz="3600" dirty="0">
              <a:solidFill>
                <a:srgbClr val="37336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2" descr="단국대학교 - 나무위키">
            <a:extLst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658623" y="22660243"/>
            <a:ext cx="301533" cy="19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BA02F91-707C-44EB-91E7-E340BDCA25F6}"/>
              </a:ext>
            </a:extLst>
          </p:cNvPr>
          <p:cNvGrpSpPr/>
          <p:nvPr/>
        </p:nvGrpSpPr>
        <p:grpSpPr>
          <a:xfrm>
            <a:off x="1155161" y="23221351"/>
            <a:ext cx="13982445" cy="3763853"/>
            <a:chOff x="1027485" y="1921455"/>
            <a:chExt cx="3267751" cy="2341965"/>
          </a:xfrm>
        </p:grpSpPr>
        <p:cxnSp>
          <p:nvCxnSpPr>
            <p:cNvPr id="35" name="직선 연결선 8">
              <a:extLst>
                <a:ext uri="{FF2B5EF4-FFF2-40B4-BE49-F238E27FC236}">
                  <a16:creationId xmlns:a16="http://schemas.microsoft.com/office/drawing/2014/main" id="{FE66C379-FCB4-4866-96D3-2642911B8DB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7486" y="3144808"/>
              <a:ext cx="326775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사각형: 둥근 모서리 9">
              <a:extLst>
                <a:ext uri="{FF2B5EF4-FFF2-40B4-BE49-F238E27FC236}">
                  <a16:creationId xmlns:a16="http://schemas.microsoft.com/office/drawing/2014/main" id="{607776B1-1921-47C0-B575-41F9237E3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1545" y="1921455"/>
              <a:ext cx="2296886" cy="1022268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Ransomware repeats </a:t>
              </a:r>
            </a:p>
            <a:p>
              <a:pPr algn="ctr" eaLnBrk="1" latinLnBrk="1" hangingPunct="1"/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Read </a:t>
              </a:r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  <a:sym typeface="Wingdings" panose="05000000000000000000" pitchFamily="2" charset="2"/>
                </a:rPr>
                <a:t> Encrypt  Write  </a:t>
              </a:r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  <a:sym typeface="Symbol" panose="05050102010706020507" pitchFamily="18" charset="2"/>
                </a:rPr>
                <a:t></a:t>
              </a:r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endParaRPr kumimoji="0" lang="ko-KR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37" name="사각형: 둥근 모서리 10">
              <a:extLst>
                <a:ext uri="{FF2B5EF4-FFF2-40B4-BE49-F238E27FC236}">
                  <a16:creationId xmlns:a16="http://schemas.microsoft.com/office/drawing/2014/main" id="{62D808AE-BD80-40FE-98EF-C55B72DFE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485" y="3267045"/>
              <a:ext cx="3267751" cy="468313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kumimoji="0" lang="en-US" altLang="ko-KR" sz="4000" dirty="0"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VFS</a:t>
              </a:r>
              <a:endParaRPr kumimoji="0" lang="ko-KR" altLang="en-US" sz="4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38" name="사각형: 둥근 모서리 11">
              <a:extLst>
                <a:ext uri="{FF2B5EF4-FFF2-40B4-BE49-F238E27FC236}">
                  <a16:creationId xmlns:a16="http://schemas.microsoft.com/office/drawing/2014/main" id="{74362D0B-CDBC-45E2-9413-F24E00634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485" y="3794095"/>
              <a:ext cx="2697491" cy="468313"/>
            </a:xfrm>
            <a:prstGeom prst="roundRect">
              <a:avLst>
                <a:gd name="adj" fmla="val 16667"/>
              </a:avLst>
            </a:prstGeom>
            <a:solidFill>
              <a:srgbClr val="4472C4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kumimoji="0" lang="en-US" altLang="ko-KR" sz="4000" dirty="0"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FUSE</a:t>
              </a:r>
              <a:endParaRPr kumimoji="0" lang="ko-KR" altLang="en-US" sz="4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39" name="사각형: 둥근 모서리 12">
              <a:extLst>
                <a:ext uri="{FF2B5EF4-FFF2-40B4-BE49-F238E27FC236}">
                  <a16:creationId xmlns:a16="http://schemas.microsoft.com/office/drawing/2014/main" id="{D71D34B9-417A-4F62-9CF5-FD80DAC1C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904" y="3795108"/>
              <a:ext cx="493332" cy="468312"/>
            </a:xfrm>
            <a:prstGeom prst="roundRect">
              <a:avLst>
                <a:gd name="adj" fmla="val 16667"/>
              </a:avLst>
            </a:prstGeom>
            <a:solidFill>
              <a:srgbClr val="4472C4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kumimoji="0" lang="en-US" altLang="ko-KR" sz="4000" dirty="0" err="1"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etc</a:t>
              </a:r>
              <a:endParaRPr kumimoji="0" lang="ko-KR" altLang="en-US" sz="4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40" name="사각형: 둥근 모서리 13">
              <a:extLst>
                <a:ext uri="{FF2B5EF4-FFF2-40B4-BE49-F238E27FC236}">
                  <a16:creationId xmlns:a16="http://schemas.microsoft.com/office/drawing/2014/main" id="{F217A805-5DF0-4D0C-8EEC-7FF12F828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485" y="1921455"/>
              <a:ext cx="865998" cy="10035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R-Hunt</a:t>
              </a:r>
            </a:p>
          </p:txBody>
        </p:sp>
        <p:cxnSp>
          <p:nvCxnSpPr>
            <p:cNvPr id="41" name="직선 연결선 17">
              <a:extLst>
                <a:ext uri="{FF2B5EF4-FFF2-40B4-BE49-F238E27FC236}">
                  <a16:creationId xmlns:a16="http://schemas.microsoft.com/office/drawing/2014/main" id="{EA9A2FBF-5035-4E13-8856-D6C3CDDE8C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70825" y="2970671"/>
              <a:ext cx="0" cy="1055976"/>
            </a:xfrm>
            <a:prstGeom prst="line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직선 연결선 17">
              <a:extLst>
                <a:ext uri="{FF2B5EF4-FFF2-40B4-BE49-F238E27FC236}">
                  <a16:creationId xmlns:a16="http://schemas.microsoft.com/office/drawing/2014/main" id="{34C6EACE-CA82-4E47-8018-664890FAB61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139988" y="2987735"/>
              <a:ext cx="0" cy="1055976"/>
            </a:xfrm>
            <a:prstGeom prst="line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1" name="다이어그램 10">
            <a:extLst>
              <a:ext uri="{FF2B5EF4-FFF2-40B4-BE49-F238E27FC236}">
                <a16:creationId xmlns:a16="http://schemas.microsoft.com/office/drawing/2014/main" id="{3D5C4A79-07F4-424E-899F-04B2C1EDD9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6362663"/>
              </p:ext>
            </p:extLst>
          </p:nvPr>
        </p:nvGraphicFramePr>
        <p:xfrm>
          <a:off x="1155162" y="20868481"/>
          <a:ext cx="13942888" cy="1947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137" name="연결선: 구부러짐 136">
            <a:extLst>
              <a:ext uri="{FF2B5EF4-FFF2-40B4-BE49-F238E27FC236}">
                <a16:creationId xmlns:a16="http://schemas.microsoft.com/office/drawing/2014/main" id="{5F5FB538-1B46-4B64-A0FD-C0EEE284C7FC}"/>
              </a:ext>
            </a:extLst>
          </p:cNvPr>
          <p:cNvCxnSpPr>
            <a:cxnSpLocks/>
          </p:cNvCxnSpPr>
          <p:nvPr/>
        </p:nvCxnSpPr>
        <p:spPr>
          <a:xfrm flipH="1">
            <a:off x="1073440" y="21764881"/>
            <a:ext cx="2500" cy="2304000"/>
          </a:xfrm>
          <a:prstGeom prst="curvedConnector3">
            <a:avLst>
              <a:gd name="adj1" fmla="val 28244044"/>
            </a:avLst>
          </a:prstGeom>
          <a:ln w="762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928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12791</TotalTime>
  <Words>1037</Words>
  <Application>Microsoft Office PowerPoint</Application>
  <PresentationFormat>사용자 지정</PresentationFormat>
  <Paragraphs>94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Book Antiqua</vt:lpstr>
      <vt:lpstr>Lora</vt:lpstr>
      <vt:lpstr>맑은 고딕</vt:lpstr>
      <vt:lpstr>함초롬바탕</vt:lpstr>
      <vt:lpstr>Wingdings</vt:lpstr>
      <vt:lpstr>Tahoma</vt:lpstr>
      <vt:lpstr>Times New Roman</vt:lpstr>
      <vt:lpstr>Norwester</vt:lpstr>
      <vt:lpstr>Constantia</vt:lpstr>
      <vt:lpstr>Calibri</vt:lpstr>
      <vt:lpstr>Cambria Math</vt:lpstr>
      <vt:lpstr>Office Theme</vt:lpstr>
      <vt:lpstr>R-HUNT: Real-Time Detection of Ransomware and File Recovery in the User-Space Filesystem </vt:lpstr>
      <vt:lpstr>R-HUNT: Real-Time Detection of Ransomware and File Recovery in the User-Space Filesystem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White Minimalist Academic Resume</dc:title>
  <dc:creator>김명현</dc:creator>
  <cp:keywords>DAFkLHEIsrQ,BAFkLHqlZls</cp:keywords>
  <cp:lastModifiedBy>Jiseok Bang</cp:lastModifiedBy>
  <cp:revision>38</cp:revision>
  <cp:lastPrinted>2023-06-09T18:04:28Z</cp:lastPrinted>
  <dcterms:created xsi:type="dcterms:W3CDTF">2023-05-28T05:27:02Z</dcterms:created>
  <dcterms:modified xsi:type="dcterms:W3CDTF">2024-11-22T05:29:37Z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2023-05-28T00:00:00Z</vt:filetime>
  </property>
  <property fmtid="{D5CDD505-2E9C-101B-9397-08002B2CF9AE}" pid="3" name="Creator">
    <vt:lpwstr>Canva</vt:lpwstr>
  </property>
  <property fmtid="{D5CDD505-2E9C-101B-9397-08002B2CF9AE}" pid="4" name="LastSaved">
    <vt:filetime>2023-05-28T00:00:00Z</vt:filetime>
  </property>
</Properties>
</file>