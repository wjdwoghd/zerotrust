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9" r:id="rId2"/>
  </p:sldIdLst>
  <p:sldSz cx="30275213" cy="42803763"/>
  <p:notesSz cx="6797675" cy="9926638"/>
  <p:embeddedFontLst>
    <p:embeddedFont>
      <p:font typeface="Book Antiqua" panose="02040602050305030304" pitchFamily="18" charset="0"/>
      <p:regular r:id="rId4"/>
      <p:bold r:id="rId5"/>
      <p:italic r:id="rId6"/>
      <p:boldItalic r:id="rId7"/>
    </p:embeddedFont>
    <p:embeddedFont>
      <p:font typeface="Lora" pitchFamily="2" charset="0"/>
      <p:regular r:id="rId8"/>
      <p:bold r:id="rId9"/>
      <p:italic r:id="rId10"/>
      <p:boldItalic r:id="rId11"/>
    </p:embeddedFont>
    <p:embeddedFont>
      <p:font typeface="Norwester" panose="020B0600000101010101" charset="0"/>
      <p:regular r:id="rId12"/>
    </p:embeddedFont>
    <p:embeddedFont>
      <p:font typeface="Tahoma" panose="020B0604030504040204" pitchFamily="34" charset="0"/>
      <p:regular r:id="rId13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1pPr>
    <a:lvl2pPr marL="1829986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2pPr>
    <a:lvl3pPr marL="3659976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3pPr>
    <a:lvl4pPr marL="5489961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4pPr>
    <a:lvl5pPr marL="7319951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5pPr>
    <a:lvl6pPr marL="9149937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6pPr>
    <a:lvl7pPr marL="10979927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7pPr>
    <a:lvl8pPr marL="12809912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8pPr>
    <a:lvl9pPr marL="14639902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1" userDrawn="1">
          <p15:clr>
            <a:srgbClr val="A4A3A4"/>
          </p15:clr>
        </p15:guide>
        <p15:guide id="2" pos="86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62"/>
    <a:srgbClr val="9A9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7735B-96E0-4A54-986C-AABF5F5E7DF0}" v="294" dt="2023-06-11T09:39:50.0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66" autoAdjust="0"/>
    <p:restoredTop sz="94714" autoAdjust="0"/>
  </p:normalViewPr>
  <p:slideViewPr>
    <p:cSldViewPr>
      <p:cViewPr>
        <p:scale>
          <a:sx n="33" d="100"/>
          <a:sy n="33" d="100"/>
        </p:scale>
        <p:origin x="1157" y="-4973"/>
      </p:cViewPr>
      <p:guideLst>
        <p:guide orient="horz" pos="11521"/>
        <p:guide pos="865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159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1" Type="http://schemas.microsoft.com/office/2015/10/relationships/revisionInfo" Target="revisionInfo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113" y="1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/>
          <a:lstStyle>
            <a:lvl1pPr algn="r">
              <a:defRPr sz="1100"/>
            </a:lvl1pPr>
          </a:lstStyle>
          <a:p>
            <a:fld id="{BF0B7669-FAF0-4F0A-B994-0A988D29AE6D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241425"/>
            <a:ext cx="23685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752" tIns="41876" rIns="83752" bIns="4187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747"/>
            <a:ext cx="5438140" cy="3908798"/>
          </a:xfrm>
          <a:prstGeom prst="rect">
            <a:avLst/>
          </a:prstGeom>
        </p:spPr>
        <p:txBody>
          <a:bodyPr vert="horz" lIns="83752" tIns="41876" rIns="83752" bIns="41876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835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113" y="9428835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 anchor="b"/>
          <a:lstStyle>
            <a:lvl1pPr algn="r">
              <a:defRPr sz="1100"/>
            </a:lvl1pPr>
          </a:lstStyle>
          <a:p>
            <a:fld id="{19EF15D3-AD89-4442-8A9E-54CF4E4F1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9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1pPr>
    <a:lvl2pPr marL="1829986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2pPr>
    <a:lvl3pPr marL="3659976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3pPr>
    <a:lvl4pPr marL="5489961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4pPr>
    <a:lvl5pPr marL="7319951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5pPr>
    <a:lvl6pPr marL="9149937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6pPr>
    <a:lvl7pPr marL="10979927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7pPr>
    <a:lvl8pPr marL="12809912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8pPr>
    <a:lvl9pPr marL="14639902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72546" y="13269164"/>
            <a:ext cx="25755554" cy="6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545098" y="23970113"/>
            <a:ext cx="2121045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15037" y="9844870"/>
            <a:ext cx="131807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6153871" y="11536227"/>
            <a:ext cx="11270520" cy="6156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0" y="881056"/>
            <a:ext cx="30300654" cy="4191000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30300654" cy="42791112"/>
          </a:xfrm>
          <a:custGeom>
            <a:avLst/>
            <a:gdLst/>
            <a:ahLst/>
            <a:cxnLst/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>
            <a:srgbClr val="373362"/>
          </a:solidFill>
        </p:spPr>
        <p:txBody>
          <a:bodyPr wrap="square" lIns="0" tIns="0" rIns="0" bIns="0" rtlCol="0"/>
          <a:lstStyle/>
          <a:p>
            <a:endParaRPr sz="28823" dirty="0"/>
          </a:p>
        </p:txBody>
      </p:sp>
      <p:sp>
        <p:nvSpPr>
          <p:cNvPr id="18" name="bg object 18"/>
          <p:cNvSpPr/>
          <p:nvPr/>
        </p:nvSpPr>
        <p:spPr>
          <a:xfrm>
            <a:off x="0" y="294481"/>
            <a:ext cx="30300654" cy="42214800"/>
          </a:xfrm>
          <a:custGeom>
            <a:avLst/>
            <a:gdLst/>
            <a:ahLst/>
            <a:cxnLst/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8823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6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5037" y="9844870"/>
            <a:ext cx="272705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302223" y="39807506"/>
            <a:ext cx="9696209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15037" y="39807506"/>
            <a:ext cx="6969148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1816473" y="39807506"/>
            <a:ext cx="6969148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828983">
        <a:defRPr>
          <a:latin typeface="+mn-lt"/>
          <a:ea typeface="+mn-ea"/>
          <a:cs typeface="+mn-cs"/>
        </a:defRPr>
      </a:lvl2pPr>
      <a:lvl3pPr marL="3657966">
        <a:defRPr>
          <a:latin typeface="+mn-lt"/>
          <a:ea typeface="+mn-ea"/>
          <a:cs typeface="+mn-cs"/>
        </a:defRPr>
      </a:lvl3pPr>
      <a:lvl4pPr marL="5486949">
        <a:defRPr>
          <a:latin typeface="+mn-lt"/>
          <a:ea typeface="+mn-ea"/>
          <a:cs typeface="+mn-cs"/>
        </a:defRPr>
      </a:lvl4pPr>
      <a:lvl5pPr marL="7315932">
        <a:defRPr>
          <a:latin typeface="+mn-lt"/>
          <a:ea typeface="+mn-ea"/>
          <a:cs typeface="+mn-cs"/>
        </a:defRPr>
      </a:lvl5pPr>
      <a:lvl6pPr marL="9144914">
        <a:defRPr>
          <a:latin typeface="+mn-lt"/>
          <a:ea typeface="+mn-ea"/>
          <a:cs typeface="+mn-cs"/>
        </a:defRPr>
      </a:lvl6pPr>
      <a:lvl7pPr marL="10973897">
        <a:defRPr>
          <a:latin typeface="+mn-lt"/>
          <a:ea typeface="+mn-ea"/>
          <a:cs typeface="+mn-cs"/>
        </a:defRPr>
      </a:lvl7pPr>
      <a:lvl8pPr marL="12802880">
        <a:defRPr>
          <a:latin typeface="+mn-lt"/>
          <a:ea typeface="+mn-ea"/>
          <a:cs typeface="+mn-cs"/>
        </a:defRPr>
      </a:lvl8pPr>
      <a:lvl9pPr marL="146318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828983">
        <a:defRPr>
          <a:latin typeface="+mn-lt"/>
          <a:ea typeface="+mn-ea"/>
          <a:cs typeface="+mn-cs"/>
        </a:defRPr>
      </a:lvl2pPr>
      <a:lvl3pPr marL="3657966">
        <a:defRPr>
          <a:latin typeface="+mn-lt"/>
          <a:ea typeface="+mn-ea"/>
          <a:cs typeface="+mn-cs"/>
        </a:defRPr>
      </a:lvl3pPr>
      <a:lvl4pPr marL="5486949">
        <a:defRPr>
          <a:latin typeface="+mn-lt"/>
          <a:ea typeface="+mn-ea"/>
          <a:cs typeface="+mn-cs"/>
        </a:defRPr>
      </a:lvl4pPr>
      <a:lvl5pPr marL="7315932">
        <a:defRPr>
          <a:latin typeface="+mn-lt"/>
          <a:ea typeface="+mn-ea"/>
          <a:cs typeface="+mn-cs"/>
        </a:defRPr>
      </a:lvl5pPr>
      <a:lvl6pPr marL="9144914">
        <a:defRPr>
          <a:latin typeface="+mn-lt"/>
          <a:ea typeface="+mn-ea"/>
          <a:cs typeface="+mn-cs"/>
        </a:defRPr>
      </a:lvl6pPr>
      <a:lvl7pPr marL="10973897">
        <a:defRPr>
          <a:latin typeface="+mn-lt"/>
          <a:ea typeface="+mn-ea"/>
          <a:cs typeface="+mn-cs"/>
        </a:defRPr>
      </a:lvl7pPr>
      <a:lvl8pPr marL="12802880">
        <a:defRPr>
          <a:latin typeface="+mn-lt"/>
          <a:ea typeface="+mn-ea"/>
          <a:cs typeface="+mn-cs"/>
        </a:defRPr>
      </a:lvl8pPr>
      <a:lvl9pPr marL="146318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01F5EF4-6BA4-4D7D-9575-3041FBDA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0206" y="2141178"/>
            <a:ext cx="5181573" cy="3470677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896" y="-110897"/>
            <a:ext cx="28039656" cy="4129425"/>
          </a:xfrm>
          <a:prstGeom prst="rect">
            <a:avLst/>
          </a:prstGeom>
        </p:spPr>
        <p:txBody>
          <a:bodyPr vert="horz" wrap="square" lIns="0" tIns="797649" rIns="0" bIns="0" rtlCol="0">
            <a:spAutoFit/>
          </a:bodyPr>
          <a:lstStyle/>
          <a:p>
            <a:r>
              <a:rPr lang="en-US" sz="6000" b="1" spc="50" dirty="0">
                <a:solidFill>
                  <a:srgbClr val="373362"/>
                </a:solidFill>
                <a:latin typeface="Norwester"/>
                <a:cs typeface="Norwester"/>
              </a:rPr>
              <a:t>Dynamic Zero Trust Access Control System for Police</a:t>
            </a:r>
          </a:p>
          <a:p>
            <a:r>
              <a:rPr lang="en-US" sz="3600" spc="50" dirty="0">
                <a:solidFill>
                  <a:srgbClr val="373362"/>
                </a:solidFill>
                <a:latin typeface="Lora"/>
                <a:cs typeface="Lora"/>
              </a:rPr>
              <a:t>An Insider-Threat-Responsive Security System for Investigative Information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/>
          <p:nvPr/>
        </p:nvSpPr>
        <p:spPr>
          <a:xfrm flipV="1">
            <a:off x="704810" y="5663119"/>
            <a:ext cx="28865591" cy="122892"/>
          </a:xfrm>
          <a:prstGeom prst="rect">
            <a:avLst/>
          </a:prstGeom>
          <a:solidFill>
            <a:srgbClr val="373362"/>
          </a:solidFill>
          <a:ln>
            <a:solidFill>
              <a:srgbClr val="373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xfrm>
            <a:off x="435974" y="36413281"/>
            <a:ext cx="28798577" cy="5295718"/>
          </a:xfrm>
          <a:prstGeom prst="rect">
            <a:avLst/>
          </a:prstGeom>
        </p:spPr>
        <p:txBody>
          <a:bodyPr vert="horz" wrap="square" lIns="0" tIns="335317" rIns="0" bIns="0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Results Summary</a:t>
            </a:r>
          </a:p>
          <a:p>
            <a:pPr marL="457200" indent="-457200" algn="just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373362"/>
                </a:solidFill>
                <a:latin typeface="Lora"/>
                <a:cs typeface="Lora"/>
              </a:rPr>
              <a:t>Strengths &amp; Limitations - </a:t>
            </a:r>
            <a:r>
              <a:rPr lang="en-US" sz="2000" dirty="0">
                <a:solidFill>
                  <a:srgbClr val="373362"/>
                </a:solidFill>
                <a:latin typeface="Lora"/>
                <a:cs typeface="Lora"/>
              </a:rPr>
              <a:t>Real-time, behavior-based prevention with an auditable, explainable 4-axis risk model, live-tunable policy thresholds, and a tamper-evident 3-tier audit trail; current validation is via 3 scenario-based demos on a single PostgreSQL deployment, with ML-assisted risk weighting and multi-agency deployment as future work.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 txBox="1"/>
          <p:nvPr/>
        </p:nvSpPr>
        <p:spPr>
          <a:xfrm>
            <a:off x="14913476" y="6191564"/>
            <a:ext cx="14174289" cy="22813941"/>
          </a:xfrm>
          <a:prstGeom prst="rect">
            <a:avLst/>
          </a:prstGeom>
        </p:spPr>
        <p:txBody>
          <a:bodyPr vert="horz" wrap="square" lIns="0" tIns="58423" rIns="0" bIns="0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5. Features</a:t>
            </a:r>
          </a:p>
          <a:p>
            <a:pPr marL="514350" indent="-285750" algn="just">
              <a:lnSpc>
                <a:spcPct val="108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NIST SP 800-207 Mapping &amp; Dual Safety Net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The six Zero Trust principles (Never Trust, Continuous Verify, Least Privilege, Assume Breach, Verify Explicitly, Audit Everything) are each mapped to a concrete feature (Fig. 1). Before scoring, 4 hard rules - concurrent-device auth failure, high-risk download, impossible travel, disallowed location - trigger an immediate block and audit log, independent of the risk score.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Break-Glass &amp; 3-Tier Audit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Emergency access is MFA-gated, scoped to one resource or all level-4+ resources, time-limited (30-min TTL, 5-min idle auto-expiry), and dual-control (no self-approval); every action is recorded across 3 append-only audit layers - operation, audit, and sensitive logs.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6. Differentiators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Three Novel Contributions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(1) Confidence-Aware Decisions converge uncertain judgments to extra verification instead of a binary allow/deny. (2) 4-Axis Separated Scoring keeps risk additions and the job-fitness deduction independently auditable. (3) Externalized Policy Thresholds allow live tuning and per-department overrides without redeployment (Fig. 3).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7. Implementation</a:t>
            </a:r>
          </a:p>
          <a:p>
            <a:pPr marL="514350" indent="-285750" algn="just">
              <a:lnSpc>
                <a:spcPct val="108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Stack &amp; 5-Level Outcomes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Built on Tornado + PostgreSQL (21 migrations), pyotp-based TOTP MFA, and JWT with iss/aud claims. The 4-axis risk score maps to 5 separated levels of action permission and data masking (Fig. 2).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3 Demo Scenarios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(1) an unassigned-case lookup is masked/watermarked and downloads are blocked from low confidence; (2) a login from an unregistered jurisdiction is blocked at the location-verification step before authentication completes; (3) repeated unassigned-case access accumulates action risk until the access level and permissions are downgraded in real time. All attempts are fully audited.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8. Pros &amp; Cons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Strengths vs. Limitations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Real-time, explainable, live-tunable, and fully audited end-to-end, versus a single-PostgreSQL deployment with rule-based scoring validated through 3 demos rather than production-scale trials. ML-assisted weighting and multi-agency rollout are future work.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9. Expected Effects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From Detection to Prevention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Proactive behavior-based prevention, 5-level masking, continuous re-verification, and full 3-tier auditability (see summary below).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 txBox="1"/>
          <p:nvPr/>
        </p:nvSpPr>
        <p:spPr>
          <a:xfrm>
            <a:off x="435974" y="6276912"/>
            <a:ext cx="14096503" cy="1598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1. Problem</a:t>
            </a:r>
          </a:p>
          <a:p>
            <a:pPr marL="514350" indent="-285750" algn="just">
              <a:lnSpc>
                <a:spcPct val="108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Recurring Police Insider Threats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Real prosecuted cases share one pattern: an authorized officer abuses legitimate access - leaking case details to a fugitive friend, performing an out-of-jurisdiction lookup as a favor and leaking the result, or repeatedly viewing unassigned case files even after a transfer. Two of the three resulted in prison sentences.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2. Existing Approach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Static RBAC/ABAC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Conventional systems grant a fixed role-based permission set at login and treat the whole session as trusted until logout, with no continuous re-check of device, location, or behavioral risk. An authorized-but-suspicious action proceeds unchecked, so insider abuse surfaces only through after-the-fact manual audit.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3. Proposed Structure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Dynamic Zero Trust Architecture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Login no longer implies permanent trust: every request is re-verified across 4 risk axes, mapped to 5 risk-based access levels with 5-level data masking, recorded in 3-tier append-only audit logs, with a controlled Break-Glass path for emergencies (Fig. 1).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4. Policy Model</a:t>
            </a:r>
          </a:p>
          <a:p>
            <a:pPr marL="514350" indent="-285750" algn="just">
              <a:lnSpc>
                <a:spcPct val="108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4-Axis Risk Scoring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A quantitative model adds risk from object sensitivity, environment, and action type, then subtracts a job-fitness deduction, producing one risk score mapped to 5 access/masking levels (Fig. 2).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Confidence-Aware Thresholds -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When decision confidence &lt; 0.85, outcomes are escalated conservatively (DENY -&gt; ADMIN-APPROVAL, ALLOW -&gt; VIEW-ONLY); thresholds are externalized for live tuning (5-min TTL) and per-department weight overrides without code redeployment (Fig. 3).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 txBox="1"/>
          <p:nvPr/>
        </p:nvSpPr>
        <p:spPr>
          <a:xfrm>
            <a:off x="4047855" y="3502285"/>
            <a:ext cx="22167596" cy="1821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373362"/>
                </a:solidFill>
                <a:latin typeface="Lora"/>
                <a:cs typeface="Lora"/>
              </a:rPr>
              <a:t>Team ZeroTrust  |  Jaehong Jeong / Jun Heo / Junwon Hong   (Advisor: [Advisor Name])</a:t>
            </a:r>
          </a:p>
          <a:p>
            <a:r>
              <a:rPr lang="en-US" sz="2800" dirty="0">
                <a:solidFill>
                  <a:srgbClr val="373362"/>
                </a:solidFill>
                <a:latin typeface="Lora"/>
                <a:cs typeface="Lora"/>
              </a:rPr>
              <a:t>[Department Name] / [University Name]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/>
          <p:nvPr/>
        </p:nvSpPr>
        <p:spPr>
          <a:xfrm>
            <a:off x="126206" y="294481"/>
            <a:ext cx="30022800" cy="42214800"/>
          </a:xfrm>
          <a:prstGeom prst="rect">
            <a:avLst/>
          </a:prstGeom>
          <a:noFill/>
          <a:ln w="76200">
            <a:solidFill>
              <a:srgbClr val="373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/>
          <p:nvPr/>
        </p:nvSpPr>
        <p:spPr>
          <a:xfrm>
            <a:off x="438912" y="27111960"/>
            <a:ext cx="14100048" cy="1005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 algn="ctr"/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Fig. 1.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Dynamic Zero Trust Processing Pipeline - Immediate-Block Rules (1st layer) -&gt; 4-Axis Risk Score -&gt; Confidence-Aware 5-Level Decision (2nd layer) -&gt; 5-Level Masking, with Break-Glass as a controlled emergency path and every step recorded in the 3-tier audit trail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919918"/>
              </p:ext>
            </p:extLst>
          </p:nvPr>
        </p:nvGraphicFramePr>
        <p:xfrm>
          <a:off x="1197864" y="29535119"/>
          <a:ext cx="278892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Lora"/>
                        </a:rPr>
                        <a:t>Access Level</a:t>
                      </a:r>
                    </a:p>
                  </a:txBody>
                  <a:tcPr marL="137160" marR="137160"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Lora"/>
                        </a:rPr>
                        <a:t>Risk Score Range</a:t>
                      </a:r>
                    </a:p>
                  </a:txBody>
                  <a:tcPr marL="137160" marR="137160"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Lora"/>
                        </a:rPr>
                        <a:t>Action Permission</a:t>
                      </a:r>
                    </a:p>
                  </a:txBody>
                  <a:tcPr marL="137160" marR="137160"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Lora"/>
                        </a:rPr>
                        <a:t>Masking Level</a:t>
                      </a:r>
                    </a:p>
                  </a:txBody>
                  <a:tcPr marL="137160" marR="137160" anchor="ctr">
                    <a:solidFill>
                      <a:srgbClr val="373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L1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0 - 25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Full Access - View / Download / Copy / Print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No Masking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L2</a:t>
                      </a:r>
                    </a:p>
                  </a:txBody>
                  <a:tcPr marL="137160" marR="137160" anchor="ctr">
                    <a:solidFill>
                      <a:srgbClr val="EC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26 - 50</a:t>
                      </a:r>
                    </a:p>
                  </a:txBody>
                  <a:tcPr marL="137160" marR="137160" anchor="ctr">
                    <a:solidFill>
                      <a:srgbClr val="ECEA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View Only - Download / Copy / Print blocked</a:t>
                      </a:r>
                    </a:p>
                  </a:txBody>
                  <a:tcPr marL="137160" marR="137160" anchor="ctr">
                    <a:solidFill>
                      <a:srgbClr val="EC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Watermark Applied</a:t>
                      </a:r>
                    </a:p>
                  </a:txBody>
                  <a:tcPr marL="137160" marR="137160" anchor="ctr">
                    <a:solidFill>
                      <a:srgbClr val="EC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L3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51 - 75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Re-authentication Required - view allowed after re-auth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Partial Masking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L4</a:t>
                      </a:r>
                    </a:p>
                  </a:txBody>
                  <a:tcPr marL="137160" marR="137160" anchor="ctr">
                    <a:solidFill>
                      <a:srgbClr val="EC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76 - 90</a:t>
                      </a:r>
                    </a:p>
                  </a:txBody>
                  <a:tcPr marL="137160" marR="137160" anchor="ctr">
                    <a:solidFill>
                      <a:srgbClr val="ECEA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Admin Approval Required - download only upon approval</a:t>
                      </a:r>
                    </a:p>
                  </a:txBody>
                  <a:tcPr marL="137160" marR="137160" anchor="ctr">
                    <a:solidFill>
                      <a:srgbClr val="EC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000" b="0">
                          <a:solidFill>
                            <a:srgbClr val="373362"/>
                          </a:solidFill>
                          <a:latin typeface="Lora"/>
                        </a:rPr>
                        <a:t>Accessible upon administrator approval</a:t>
                      </a:r>
                      <a:endParaRPr sz="2000" b="0" dirty="0">
                        <a:solidFill>
                          <a:srgbClr val="373362"/>
                        </a:solidFill>
                        <a:latin typeface="Lora"/>
                      </a:endParaRPr>
                    </a:p>
                  </a:txBody>
                  <a:tcPr marL="137160" marR="137160" anchor="ctr">
                    <a:solidFill>
                      <a:srgbClr val="EC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L5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91 +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Immediate Block - all actions blocked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373362"/>
                          </a:solidFill>
                          <a:latin typeface="Lora"/>
                        </a:rPr>
                        <a:t>Fully Blocked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97864" y="33832800"/>
            <a:ext cx="2788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373362"/>
                </a:solidFill>
                <a:latin typeface="Lora"/>
                <a:cs typeface="Lora"/>
              </a:rPr>
              <a:t>Fig. 2. </a:t>
            </a:r>
            <a:r>
              <a:rPr lang="en-US" sz="2000" dirty="0">
                <a:solidFill>
                  <a:srgbClr val="373362"/>
                </a:solidFill>
                <a:latin typeface="Lora"/>
                <a:cs typeface="Lora"/>
              </a:rPr>
              <a:t>5-Level Access Outcomes and Masking Levels by Risk Score Range - Confidence-Aware Decisions: when confidence &lt; 0.85, DENY is escalated to ADMIN-APPROVAL and ALLOW to VIEW-ONLY (decision-engine.py + masking-engine.py)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38862000"/>
          <a:ext cx="28529280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13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Lora"/>
                        </a:rPr>
                        <a:t>Proactive Prevention</a:t>
                      </a:r>
                    </a:p>
                  </a:txBody>
                  <a:tcPr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Lora"/>
                        </a:rPr>
                        <a:t>Minimal Exposure</a:t>
                      </a:r>
                    </a:p>
                  </a:txBody>
                  <a:tcPr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Lora"/>
                        </a:rPr>
                        <a:t>Continuous Verification</a:t>
                      </a:r>
                    </a:p>
                  </a:txBody>
                  <a:tcPr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Lora"/>
                        </a:rPr>
                        <a:t>Full Auditability</a:t>
                      </a:r>
                    </a:p>
                  </a:txBody>
                  <a:tcPr anchor="ctr">
                    <a:solidFill>
                      <a:srgbClr val="3733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373362"/>
                          </a:solidFill>
                          <a:latin typeface="Lora"/>
                        </a:rPr>
                        <a:t>Detects and blocks insider abuse in real time at the action stage (after-the-fact detection -&gt; proactive prevention)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373362"/>
                          </a:solidFill>
                          <a:latin typeface="Lora"/>
                        </a:rPr>
                        <a:t>Minimizes information exposure via 5-level risk-based access + 5-level data masking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373362"/>
                          </a:solidFill>
                          <a:latin typeface="Lora"/>
                        </a:rPr>
                        <a:t>Dynamically re-evaluates and re-authenticates the session continuously, even after login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373362"/>
                          </a:solidFill>
                          <a:latin typeface="Lora"/>
                        </a:rPr>
                        <a:t>3-tier append-only logs track all access and guarantee integrity</a:t>
                      </a:r>
                    </a:p>
                  </a:txBody>
                  <a:tcPr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094961" y="20966974"/>
            <a:ext cx="8784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373362"/>
                </a:solidFill>
                <a:latin typeface="Lora"/>
              </a:rPr>
              <a:t>Dynamic Zero Trust Processing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5746" y="21382699"/>
            <a:ext cx="14640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 dirty="0">
                <a:solidFill>
                  <a:srgbClr val="373362"/>
                </a:solidFill>
                <a:latin typeface="Lora"/>
              </a:rPr>
              <a:t>Verify Explicitly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2605" y="21382699"/>
            <a:ext cx="17568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373362"/>
                </a:solidFill>
                <a:latin typeface="Lora"/>
              </a:rPr>
              <a:t>Assume Breach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2273" y="21382699"/>
            <a:ext cx="17568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373362"/>
                </a:solidFill>
                <a:latin typeface="Lora"/>
              </a:rPr>
              <a:t>Never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1940" y="21382699"/>
            <a:ext cx="19032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373362"/>
                </a:solidFill>
                <a:latin typeface="Lora"/>
              </a:rPr>
              <a:t>Least Privilege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08013" y="21382699"/>
            <a:ext cx="16104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373362"/>
                </a:solidFill>
                <a:latin typeface="Lora"/>
              </a:rPr>
              <a:t>Least Privilege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55746" y="21623382"/>
            <a:ext cx="1464048" cy="131281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Access Request</a:t>
            </a:r>
          </a:p>
          <a:p>
            <a:pPr algn="ctr">
              <a:lnSpc>
                <a:spcPct val="100000"/>
              </a:lnSpc>
            </a:pPr>
            <a:endParaRPr sz="1200" b="1" dirty="0">
              <a:solidFill>
                <a:srgbClr val="373362"/>
              </a:solidFill>
              <a:latin typeface="Lora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User / Device /</a:t>
            </a: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Location / 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12605" y="21623382"/>
            <a:ext cx="1756858" cy="1312817"/>
          </a:xfrm>
          <a:prstGeom prst="roundRect">
            <a:avLst>
              <a:gd name="adj" fmla="val 8000"/>
            </a:avLst>
          </a:prstGeom>
          <a:solidFill>
            <a:srgbClr val="EFEDF6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373362"/>
                </a:solidFill>
                <a:latin typeface="Lora"/>
              </a:rPr>
              <a:t>1st Layer:</a:t>
            </a:r>
          </a:p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373362"/>
                </a:solidFill>
                <a:latin typeface="Lora"/>
              </a:rPr>
              <a:t>Immediate-Block Rules</a:t>
            </a:r>
          </a:p>
          <a:p>
            <a:pPr algn="ctr">
              <a:lnSpc>
                <a:spcPct val="100000"/>
              </a:lnSpc>
            </a:pPr>
            <a:endParaRPr sz="1100" b="1" dirty="0">
              <a:solidFill>
                <a:srgbClr val="373362"/>
              </a:solidFill>
              <a:latin typeface="Lora"/>
            </a:endParaRPr>
          </a:p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373362"/>
                </a:solidFill>
                <a:latin typeface="Lora"/>
              </a:rPr>
              <a:t>4 hard rules checked</a:t>
            </a:r>
          </a:p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373362"/>
                </a:solidFill>
                <a:latin typeface="Lora"/>
              </a:rPr>
              <a:t>before scoring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62273" y="21623382"/>
            <a:ext cx="1756858" cy="1312817"/>
          </a:xfrm>
          <a:prstGeom prst="roundRect">
            <a:avLst>
              <a:gd name="adj" fmla="val 8000"/>
            </a:avLst>
          </a:prstGeom>
          <a:solidFill>
            <a:srgbClr val="EFEDF6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4-Axis Risk Score</a:t>
            </a:r>
          </a:p>
          <a:p>
            <a:pPr algn="ctr">
              <a:lnSpc>
                <a:spcPct val="100000"/>
              </a:lnSpc>
            </a:pPr>
            <a:endParaRPr sz="1200" b="1" dirty="0">
              <a:solidFill>
                <a:srgbClr val="373362"/>
              </a:solidFill>
              <a:latin typeface="Lora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Object + Env + Action</a:t>
            </a: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- Job Fitness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11940" y="21623382"/>
            <a:ext cx="1903263" cy="1312817"/>
          </a:xfrm>
          <a:prstGeom prst="roundRect">
            <a:avLst>
              <a:gd name="adj" fmla="val 8000"/>
            </a:avLst>
          </a:prstGeom>
          <a:solidFill>
            <a:srgbClr val="EFEDF6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2nd Layer:</a:t>
            </a: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5-Level Access Decision</a:t>
            </a:r>
          </a:p>
          <a:p>
            <a:pPr algn="ctr">
              <a:lnSpc>
                <a:spcPct val="100000"/>
              </a:lnSpc>
            </a:pPr>
            <a:endParaRPr sz="1200" b="1" dirty="0">
              <a:solidFill>
                <a:srgbClr val="373362"/>
              </a:solidFill>
              <a:latin typeface="Lora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Confidence-Aware</a:t>
            </a: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373362"/>
                </a:solidFill>
                <a:latin typeface="Lora"/>
              </a:rPr>
              <a:t>(&lt; 0.85 -&gt; escalate)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08013" y="21623382"/>
            <a:ext cx="1610453" cy="1312817"/>
          </a:xfrm>
          <a:prstGeom prst="roundRect">
            <a:avLst>
              <a:gd name="adj" fmla="val 8000"/>
            </a:avLst>
          </a:prstGeom>
          <a:solidFill>
            <a:srgbClr val="EFEDF6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373362"/>
                </a:solidFill>
                <a:latin typeface="Lora"/>
              </a:rPr>
              <a:t>5-Level Data Masking</a:t>
            </a:r>
          </a:p>
          <a:p>
            <a:pPr algn="ctr">
              <a:lnSpc>
                <a:spcPct val="100000"/>
              </a:lnSpc>
            </a:pPr>
            <a:endParaRPr sz="1100" b="1" dirty="0">
              <a:solidFill>
                <a:srgbClr val="373362"/>
              </a:solidFill>
              <a:latin typeface="Lora"/>
            </a:endParaRPr>
          </a:p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373362"/>
                </a:solidFill>
                <a:latin typeface="Lora"/>
              </a:rPr>
              <a:t>L1 none -&gt; L5</a:t>
            </a:r>
          </a:p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373362"/>
                </a:solidFill>
                <a:latin typeface="Lora"/>
              </a:rPr>
              <a:t>fully blocked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12605" y="23519674"/>
            <a:ext cx="1756858" cy="875211"/>
          </a:xfrm>
          <a:prstGeom prst="roundRect">
            <a:avLst>
              <a:gd name="adj" fmla="val 8000"/>
            </a:avLst>
          </a:prstGeom>
          <a:solidFill>
            <a:srgbClr val="F6E4E6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B23A48"/>
                </a:solidFill>
                <a:latin typeface="Lora"/>
              </a:rPr>
              <a:t>Immediate Block</a:t>
            </a:r>
          </a:p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B23A48"/>
                </a:solidFill>
                <a:latin typeface="Lora"/>
              </a:rPr>
              <a:t>+ Admin Alert</a:t>
            </a:r>
          </a:p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B23A48"/>
                </a:solidFill>
                <a:latin typeface="Lora"/>
              </a:rPr>
              <a:t>(bypasses scoring)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11940" y="23519674"/>
            <a:ext cx="1903263" cy="875211"/>
          </a:xfrm>
          <a:prstGeom prst="roundRect">
            <a:avLst>
              <a:gd name="adj" fmla="val 8000"/>
            </a:avLst>
          </a:prstGeom>
          <a:solidFill>
            <a:srgbClr val="FBF3DC"/>
          </a:solidFill>
          <a:ln w="15875">
            <a:solidFill>
              <a:srgbClr val="A98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000" b="1" dirty="0">
                <a:solidFill>
                  <a:srgbClr val="A9821B"/>
                </a:solidFill>
                <a:latin typeface="Lora"/>
              </a:rPr>
              <a:t>Break-Glass</a:t>
            </a:r>
          </a:p>
          <a:p>
            <a:pPr algn="ctr">
              <a:lnSpc>
                <a:spcPct val="100000"/>
              </a:lnSpc>
            </a:pPr>
            <a:r>
              <a:rPr sz="1000" b="1" dirty="0">
                <a:solidFill>
                  <a:srgbClr val="A9821B"/>
                </a:solidFill>
                <a:latin typeface="Lora"/>
              </a:rPr>
              <a:t>Emergency Access</a:t>
            </a:r>
          </a:p>
          <a:p>
            <a:pPr algn="ctr">
              <a:lnSpc>
                <a:spcPct val="100000"/>
              </a:lnSpc>
            </a:pPr>
            <a:endParaRPr sz="1000" b="1" dirty="0">
              <a:solidFill>
                <a:srgbClr val="A9821B"/>
              </a:solidFill>
              <a:latin typeface="Lora"/>
            </a:endParaRPr>
          </a:p>
          <a:p>
            <a:pPr algn="ctr">
              <a:lnSpc>
                <a:spcPct val="100000"/>
              </a:lnSpc>
            </a:pPr>
            <a:r>
              <a:rPr sz="1000" b="1" dirty="0">
                <a:solidFill>
                  <a:srgbClr val="A9821B"/>
                </a:solidFill>
                <a:latin typeface="Lora"/>
              </a:rPr>
              <a:t>MFA / scoped / 30-min TTL</a:t>
            </a:r>
          </a:p>
          <a:p>
            <a:pPr algn="ctr">
              <a:lnSpc>
                <a:spcPct val="100000"/>
              </a:lnSpc>
            </a:pPr>
            <a:r>
              <a:rPr sz="1000" b="1" dirty="0">
                <a:solidFill>
                  <a:srgbClr val="A9821B"/>
                </a:solidFill>
                <a:latin typeface="Lora"/>
              </a:rPr>
              <a:t>self-approval blocked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55746" y="24978360"/>
            <a:ext cx="9662720" cy="1021080"/>
          </a:xfrm>
          <a:prstGeom prst="roundRect">
            <a:avLst>
              <a:gd name="adj" fmla="val 8000"/>
            </a:avLst>
          </a:prstGeom>
          <a:solidFill>
            <a:srgbClr val="373362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Lora"/>
              </a:rPr>
              <a:t>3-Tier Append-Only Audit Logs</a:t>
            </a:r>
          </a:p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Lora"/>
              </a:rPr>
              <a:t>operation-logs (all requests)  /  audit-logs (append-only, tamper-evident)  /  sensitive-logs (row-level security, retained after deletion)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5746" y="26086961"/>
            <a:ext cx="966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373362"/>
                </a:solidFill>
                <a:latin typeface="Lora"/>
              </a:rPr>
              <a:t>Continuous Verify + Audit Everything (NIST SP 800-207)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19795" y="22279791"/>
            <a:ext cx="292810" cy="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69463" y="22279791"/>
            <a:ext cx="292810" cy="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19131" y="22279791"/>
            <a:ext cx="292809" cy="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415204" y="22279791"/>
            <a:ext cx="292809" cy="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91034" y="22936200"/>
            <a:ext cx="0" cy="583474"/>
          </a:xfrm>
          <a:prstGeom prst="line">
            <a:avLst/>
          </a:prstGeom>
          <a:ln w="15875">
            <a:solidFill>
              <a:srgbClr val="B23A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463572" y="22936200"/>
            <a:ext cx="0" cy="583474"/>
          </a:xfrm>
          <a:prstGeom prst="line">
            <a:avLst/>
          </a:prstGeom>
          <a:ln w="15875">
            <a:solidFill>
              <a:srgbClr val="A982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387771" y="22936200"/>
            <a:ext cx="0" cy="2042160"/>
          </a:xfrm>
          <a:prstGeom prst="line">
            <a:avLst/>
          </a:prstGeom>
          <a:ln w="12700">
            <a:solidFill>
              <a:srgbClr val="9A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40702" y="22936200"/>
            <a:ext cx="0" cy="2042160"/>
          </a:xfrm>
          <a:prstGeom prst="line">
            <a:avLst/>
          </a:prstGeom>
          <a:ln w="12700">
            <a:solidFill>
              <a:srgbClr val="9A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513240" y="22936200"/>
            <a:ext cx="0" cy="2042160"/>
          </a:xfrm>
          <a:prstGeom prst="line">
            <a:avLst/>
          </a:prstGeom>
          <a:ln w="12700">
            <a:solidFill>
              <a:srgbClr val="9A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291034" y="24394885"/>
            <a:ext cx="0" cy="583475"/>
          </a:xfrm>
          <a:prstGeom prst="line">
            <a:avLst/>
          </a:prstGeom>
          <a:ln w="12700">
            <a:solidFill>
              <a:srgbClr val="9A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3572" y="24394885"/>
            <a:ext cx="0" cy="583475"/>
          </a:xfrm>
          <a:prstGeom prst="line">
            <a:avLst/>
          </a:prstGeom>
          <a:ln w="12700">
            <a:solidFill>
              <a:srgbClr val="9A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200020" y="20294600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373362"/>
                </a:solidFill>
                <a:latin typeface="Lora"/>
              </a:rPr>
              <a:t>4-Axis Risk Scoring &amp; Confidence-Aware Decision Model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7374587" y="20899120"/>
            <a:ext cx="2094807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362"/>
                </a:solidFill>
                <a:latin typeface="Lora"/>
              </a:rPr>
              <a:t>Object Sensitivity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362"/>
                </a:solidFill>
                <a:latin typeface="Lora"/>
              </a:rPr>
              <a:t>(risk, +)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9643962" y="20899120"/>
            <a:ext cx="2094807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362"/>
                </a:solidFill>
                <a:latin typeface="Lora"/>
              </a:rPr>
              <a:t>Environment Context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362"/>
                </a:solidFill>
                <a:latin typeface="Lora"/>
              </a:rPr>
              <a:t>(risk, +)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1913336" y="20899120"/>
            <a:ext cx="2094807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362"/>
                </a:solidFill>
                <a:latin typeface="Lora"/>
              </a:rPr>
              <a:t>Action Type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362"/>
                </a:solidFill>
                <a:latin typeface="Lora"/>
              </a:rPr>
              <a:t>(risk, +)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182711" y="20899120"/>
            <a:ext cx="2094807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362"/>
                </a:solidFill>
                <a:latin typeface="Lora"/>
              </a:rPr>
              <a:t>Job Fitness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362"/>
                </a:solidFill>
                <a:latin typeface="Lora"/>
              </a:rPr>
              <a:t>(deduction, up to -20)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731245" y="22453600"/>
            <a:ext cx="4538749" cy="1036320"/>
          </a:xfrm>
          <a:prstGeom prst="roundRect">
            <a:avLst>
              <a:gd name="adj" fmla="val 8000"/>
            </a:avLst>
          </a:prstGeom>
          <a:solidFill>
            <a:srgbClr val="EFEDF6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373362"/>
                </a:solidFill>
                <a:latin typeface="Lora"/>
              </a:rPr>
              <a:t>4-Axis Risk Score</a:t>
            </a: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373362"/>
                </a:solidFill>
                <a:latin typeface="Lora"/>
              </a:rPr>
              <a:t>(0 - 100+)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9731245" y="24008080"/>
            <a:ext cx="4538749" cy="1036320"/>
          </a:xfrm>
          <a:prstGeom prst="roundRect">
            <a:avLst>
              <a:gd name="adj" fmla="val 8000"/>
            </a:avLst>
          </a:prstGeom>
          <a:solidFill>
            <a:srgbClr val="EFEDF6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373362"/>
                </a:solidFill>
                <a:latin typeface="Lora"/>
              </a:rPr>
              <a:t>5-Level Access + Masking</a:t>
            </a: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373362"/>
                </a:solidFill>
                <a:latin typeface="Lora"/>
              </a:rPr>
              <a:t>(L1 - L5, see Fig. 2)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9731245" y="25562560"/>
            <a:ext cx="4538749" cy="1036320"/>
          </a:xfrm>
          <a:prstGeom prst="roundRect">
            <a:avLst>
              <a:gd name="adj" fmla="val 8000"/>
            </a:avLst>
          </a:prstGeom>
          <a:solidFill>
            <a:srgbClr val="EFEDF6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373362"/>
                </a:solidFill>
                <a:latin typeface="Lora"/>
              </a:rPr>
              <a:t>Decision Confidence</a:t>
            </a: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373362"/>
                </a:solidFill>
                <a:latin typeface="Lora"/>
              </a:rPr>
              <a:t>&gt;= 0.85 ?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7374587" y="26944320"/>
            <a:ext cx="4364181" cy="103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373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373362"/>
                </a:solidFill>
                <a:latin typeface="Lora"/>
              </a:rPr>
              <a:t>Yes - Apply decision directly</a:t>
            </a: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373362"/>
                </a:solidFill>
                <a:latin typeface="Lora"/>
              </a:rPr>
              <a:t>(ALLOW / VIEW-ONLY / ... / DENY)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262471" y="26944320"/>
            <a:ext cx="4364181" cy="1036320"/>
          </a:xfrm>
          <a:prstGeom prst="roundRect">
            <a:avLst>
              <a:gd name="adj" fmla="val 8000"/>
            </a:avLst>
          </a:prstGeom>
          <a:solidFill>
            <a:srgbClr val="F6E4E6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B23A48"/>
                </a:solidFill>
                <a:latin typeface="Lora"/>
              </a:rPr>
              <a:t>No - Escalate conservatively</a:t>
            </a: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B23A48"/>
                </a:solidFill>
                <a:latin typeface="Lora"/>
              </a:rPr>
              <a:t>DENY -&gt; ADMIN-APPROVAL</a:t>
            </a:r>
          </a:p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B23A48"/>
                </a:solidFill>
                <a:latin typeface="Lora"/>
              </a:rPr>
              <a:t>ALLOW -&gt; VIEW-ONLY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706413" y="22108160"/>
            <a:ext cx="1920240" cy="4490720"/>
          </a:xfrm>
          <a:prstGeom prst="roundRect">
            <a:avLst>
              <a:gd name="adj" fmla="val 8000"/>
            </a:avLst>
          </a:prstGeom>
          <a:solidFill>
            <a:srgbClr val="FBF3DC"/>
          </a:solidFill>
          <a:ln w="15875">
            <a:solidFill>
              <a:srgbClr val="A98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A9821B"/>
                </a:solidFill>
                <a:latin typeface="Lora"/>
              </a:rPr>
              <a:t>Externalized Policy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A9821B"/>
                </a:solidFill>
                <a:latin typeface="Lora"/>
              </a:rPr>
              <a:t>Thresholds</a:t>
            </a:r>
          </a:p>
          <a:p>
            <a:pPr algn="ctr">
              <a:lnSpc>
                <a:spcPct val="100000"/>
              </a:lnSpc>
            </a:pPr>
            <a:endParaRPr sz="1400" b="1" dirty="0">
              <a:solidFill>
                <a:srgbClr val="A9821B"/>
              </a:solidFill>
              <a:latin typeface="Lora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A9821B"/>
                </a:solidFill>
                <a:latin typeface="Lora"/>
              </a:rPr>
              <a:t>- Live tuning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A9821B"/>
                </a:solidFill>
                <a:latin typeface="Lora"/>
              </a:rPr>
              <a:t>  (5-min TTL)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A9821B"/>
                </a:solidFill>
                <a:latin typeface="Lora"/>
              </a:rPr>
              <a:t>- Per-dept weight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A9821B"/>
                </a:solidFill>
                <a:latin typeface="Lora"/>
              </a:rPr>
              <a:t>  overrides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A9821B"/>
                </a:solidFill>
                <a:latin typeface="Lora"/>
              </a:rPr>
              <a:t>- No code</a:t>
            </a: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A9821B"/>
                </a:solidFill>
                <a:latin typeface="Lora"/>
              </a:rPr>
              <a:t>  redeploy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8421991" y="21935440"/>
            <a:ext cx="3578629" cy="51816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691365" y="21935440"/>
            <a:ext cx="1309255" cy="51816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2000620" y="21935440"/>
            <a:ext cx="960120" cy="51816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22000620" y="21935440"/>
            <a:ext cx="3229495" cy="51816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2000620" y="23489920"/>
            <a:ext cx="0" cy="51816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2000620" y="25044400"/>
            <a:ext cx="0" cy="51816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9556678" y="26598880"/>
            <a:ext cx="2443942" cy="345440"/>
          </a:xfrm>
          <a:prstGeom prst="line">
            <a:avLst/>
          </a:prstGeom>
          <a:ln w="15875">
            <a:solidFill>
              <a:srgbClr val="3733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2000620" y="26598880"/>
            <a:ext cx="2443942" cy="345440"/>
          </a:xfrm>
          <a:prstGeom prst="line">
            <a:avLst/>
          </a:prstGeom>
          <a:ln w="15875">
            <a:solidFill>
              <a:srgbClr val="B23A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24269995" y="22971760"/>
            <a:ext cx="436418" cy="0"/>
          </a:xfrm>
          <a:prstGeom prst="line">
            <a:avLst/>
          </a:prstGeom>
          <a:ln w="15875">
            <a:solidFill>
              <a:srgbClr val="A9821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24269995" y="24526240"/>
            <a:ext cx="436418" cy="0"/>
          </a:xfrm>
          <a:prstGeom prst="line">
            <a:avLst/>
          </a:prstGeom>
          <a:ln w="15875">
            <a:solidFill>
              <a:srgbClr val="A9821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5828420" y="28090368"/>
            <a:ext cx="1234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373362"/>
                </a:solidFill>
                <a:latin typeface="Lora"/>
                <a:cs typeface="Lora"/>
              </a:rPr>
              <a:t>Fig. 3. </a:t>
            </a:r>
            <a:r>
              <a:rPr lang="en-US" sz="2000" dirty="0">
                <a:solidFill>
                  <a:srgbClr val="373362"/>
                </a:solidFill>
                <a:latin typeface="Lora"/>
                <a:cs typeface="Lora"/>
              </a:rPr>
              <a:t>4-Axis Risk Scoring and Confidence-Aware Decision Model - risk additions (object sensitivity, environment, action) minus a job-fitness deduction produce one score mapped to 5 access/masking levels; low-confidence decisions are escalated via externalized, live-tunable policy thresholds.</a:t>
            </a:r>
          </a:p>
        </p:txBody>
      </p:sp>
    </p:spTree>
    <p:extLst>
      <p:ext uri="{BB962C8B-B14F-4D97-AF65-F5344CB8AC3E}">
        <p14:creationId xmlns:p14="http://schemas.microsoft.com/office/powerpoint/2010/main" val="2561063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12821</TotalTime>
  <Words>1252</Words>
  <Application>Microsoft Office PowerPoint</Application>
  <PresentationFormat>사용자 지정</PresentationFormat>
  <Paragraphs>130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Calibri</vt:lpstr>
      <vt:lpstr>Book Antiqua</vt:lpstr>
      <vt:lpstr>맑은 고딕</vt:lpstr>
      <vt:lpstr>Lora</vt:lpstr>
      <vt:lpstr>Wingdings</vt:lpstr>
      <vt:lpstr>Norwester</vt:lpstr>
      <vt:lpstr>Tahoma</vt:lpstr>
      <vt:lpstr>Office Theme</vt:lpstr>
      <vt:lpstr>Dynamic Zero Trust Access Control System for Police An Insider-Threat-Responsive Security System for Investigative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White Minimalist Academic Resume</dc:title>
  <dc:creator>김명현</dc:creator>
  <cp:keywords>DAFkLHEIsrQ,BAFkLHqlZls</cp:keywords>
  <cp:lastModifiedBy>정재홍</cp:lastModifiedBy>
  <cp:revision>40</cp:revision>
  <cp:lastPrinted>2023-06-09T18:04:28Z</cp:lastPrinted>
  <dcterms:created xsi:type="dcterms:W3CDTF">2023-05-28T05:27:02Z</dcterms:created>
  <dcterms:modified xsi:type="dcterms:W3CDTF">2026-06-13T05:31:14Z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2023-05-28T00:00:00Z</vt:filetime>
  </property>
  <property fmtid="{D5CDD505-2E9C-101B-9397-08002B2CF9AE}" pid="3" name="Creator">
    <vt:lpwstr>Canva</vt:lpwstr>
  </property>
  <property fmtid="{D5CDD505-2E9C-101B-9397-08002B2CF9AE}" pid="4" name="LastSaved">
    <vt:filetime>2023-05-28T00:00:00Z</vt:filetime>
  </property>
</Properties>
</file>