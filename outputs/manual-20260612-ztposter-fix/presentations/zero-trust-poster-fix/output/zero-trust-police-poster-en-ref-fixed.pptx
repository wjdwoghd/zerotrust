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6fc5c5039480a" /><Relationship Type="http://schemas.openxmlformats.org/officeDocument/2006/relationships/extended-properties" Target="/docProps/app.xml" Id="R3b339ad4c7384ee9" /><Relationship Type="http://schemas.openxmlformats.org/officeDocument/2006/relationships/officeDocument" Target="/ppt/presentation.xml" Id="Reb80f0668426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a9799793a4aa9"/>
  </p:sldMasterIdLst>
  <p:notesMasterIdLst>
    <p:notesMasterId xmlns:r="http://schemas.openxmlformats.org/officeDocument/2006/relationships" r:id="R71f9913cf3b64a15"/>
  </p:notesMasterIdLst>
  <p:sldIdLst>
    <p:sldId xmlns:r="http://schemas.openxmlformats.org/officeDocument/2006/relationships" id="256" r:id="Rbf7ab8de8aa14070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53300968341d6" /><Relationship Type="http://schemas.openxmlformats.org/officeDocument/2006/relationships/slideMaster" Target="/ppt/slideMasters/slideMaster1.xml" Id="Rd9aa9799793a4aa9" /><Relationship Type="http://schemas.openxmlformats.org/officeDocument/2006/relationships/notesMaster" Target="/ppt/notesMasters/notesMaster1.xml" Id="R71f9913cf3b64a15" /><Relationship Type="http://schemas.openxmlformats.org/officeDocument/2006/relationships/presProps" Target="/ppt/presProps.xml" Id="R00ff1ce90b3c4390" /><Relationship Type="http://schemas.openxmlformats.org/officeDocument/2006/relationships/viewProps" Target="/ppt/viewProps.xml" Id="R356bd26b18984e5c" /><Relationship Type="http://schemas.openxmlformats.org/officeDocument/2006/relationships/tableStyles" Target="/ppt/tableStyles.xml" Id="R0f2970eeb02e44e5" /><Relationship Type="http://schemas.openxmlformats.org/officeDocument/2006/relationships/slide" Target="/ppt/slides/slide1.xml" Id="Rbf7ab8de8aa1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f2f058afe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51a6c91ef44ac" /><Relationship Type="http://schemas.openxmlformats.org/officeDocument/2006/relationships/notesMaster" Target="/ppt/notesMasters/notesMaster1.xml" Id="R80db54c9a6fc42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a56abb8b341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7c6b0c2ea49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c1a7e544d46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b59a909d347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2b95f5a05412e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e7ccaed3d044f3f" /><Relationship Type="http://schemas.openxmlformats.org/officeDocument/2006/relationships/theme" Target="/ppt/slideMasters/theme/theme2.xml" Id="Rcebc5e0ba63d41b3" /><Relationship Type="http://schemas.openxmlformats.org/officeDocument/2006/relationships/slideLayout" Target="/ppt/slideLayouts/slideLayout1.xml" Id="Rb4bd78b18f494f07" /><Relationship Type="http://schemas.openxmlformats.org/officeDocument/2006/relationships/slideLayout" Target="/ppt/slideLayouts/slideLayout2.xml" Id="R7ed3a1b77b00482f" /><Relationship Type="http://schemas.openxmlformats.org/officeDocument/2006/relationships/slideLayout" Target="/ppt/slideLayouts/slideLayout3.xml" Id="Rad69b058e72d4e66" /><Relationship Type="http://schemas.openxmlformats.org/officeDocument/2006/relationships/slideLayout" Target="/ppt/slideLayouts/slideLayout4.xml" Id="R004b5c9b7fe244d3" /><Relationship Type="http://schemas.openxmlformats.org/officeDocument/2006/relationships/slideLayout" Target="/ppt/slideLayouts/slideLayout5.xml" Id="Raa80a1c14f4f467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ccaed3d044f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bd78b18f494f07"/>
    <p:sldLayoutId xmlns:r="http://schemas.openxmlformats.org/officeDocument/2006/relationships" id="2147483650" r:id="R7ed3a1b77b00482f"/>
    <p:sldLayoutId xmlns:r="http://schemas.openxmlformats.org/officeDocument/2006/relationships" id="2147483651" r:id="Rad69b058e72d4e66"/>
    <p:sldLayoutId xmlns:r="http://schemas.openxmlformats.org/officeDocument/2006/relationships" id="2147483652" r:id="R004b5c9b7fe244d3"/>
    <p:sldLayoutId xmlns:r="http://schemas.openxmlformats.org/officeDocument/2006/relationships" id="2147483653" r:id="Raa80a1c14f4f467b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6c6d71348b4e51" /><Relationship Type="http://schemas.openxmlformats.org/officeDocument/2006/relationships/image" Target="/ppt/media/image2.png" Id="Rff91393dcccb4c7c" /><Relationship Type="http://schemas.openxmlformats.org/officeDocument/2006/relationships/image" Target="/ppt/media/image.svg" Id="R992d5febc8954cef" /><Relationship Type="http://schemas.openxmlformats.org/officeDocument/2006/relationships/image" Target="/ppt/media/image.png" Id="Rf598e3f07df14098" /><Relationship Type="http://schemas.openxmlformats.org/officeDocument/2006/relationships/image" Target="/ppt/media/image3.png" Id="R1df042d158114f2a" /><Relationship Type="http://schemas.openxmlformats.org/officeDocument/2006/relationships/image" Target="/ppt/media/image2.svg" Id="Rd1610576c2014ee0" /><Relationship Type="http://schemas.openxmlformats.org/officeDocument/2006/relationships/notesSlide" Target="/ppt/notesSlides/notesSlide1.xml" Id="Rbddf9513ef414d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1393dcccb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Police-Specific Dynamic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Zero Trust Access Control System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4. Discussion &amp; Conclusion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This system turns login from the end of trust into the beginning of per-request verification and immediate blocking when risk rises.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Lora"/>
                <a:ea typeface="Lora"/>
                <a:cs typeface="Lora"/>
              </a:rPr>
              <a:t>For police investigation data, it operationalizes least privilege, continuous verification, assume breach, explicit verification, and complete auditability.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Lora"/>
                <a:ea typeface="Lora"/>
                <a:cs typeface="Lora"/>
              </a:rPr>
              <a:t>Expected impact: preempt insider misuse, minimize information exposure, re-evaluate sessions continuously, and preserve audit integrity through 3-layer append-only logs.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4-Axis Risk Score: risk_score = object sensitivity + environment risk + behavior risk - job fitness.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5-Level Access &amp; Masking: L1 full allow, L2 view-only, L3 re-authentication, L4 admin approval, and L5 block.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Immediate Blocks: concurrent-device auth failure, high-risk download, impossible travel, and disallowed location are blocked before scoring.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Confidence-Aware + Break-Glass: low-confidence decisions move to approval/view-only; emergency access requires MFA, scope, TTL, and post-review.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3-Layer Audit: operation, audit, and sensitive logs are append-only to preserve integrity.</a:t>
            </a:r>
          </a:p>
          <a:p xmlns:a="http://schemas.openxmlformats.org/drawingml/2006/main">
            <a:pPr marL="360000">
              <a:buNone/>
            </a:pPr>
            <a:r>
              <a:t/>
            </a:r>
          </a:p>
          <a:p xmlns:a="http://schemas.openxmlformats.org/drawingml/2006/main">
            <a:pPr marL="360000">
              <a:buNone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3. Scenario-Based Validation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Scenarios: non-assigned case leakage, disallowed location, and repeated non-assigned access.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Per-Request Checks: police account, registered device, allowed location, assigned case, and accumulated behavior risk.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Results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Non-assigned Grade 4/5 access escalates to approval, masking, and download blocking instead of silent allow.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Location or device violations are blocked at login or download time.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Repeated unauthorized viewing raises behavior risk and downgrades permissions in real time.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All allow, re-auth, block, and Break-Glass paths remain traceable through audit logs and post-review.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Fig. 2. Reference-aligned summary of the 4-axis risk score, 5-level access result, and core security mechanisms. Score, permissions, and audit logs connect per request.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Zero Trust Security Team  |  Jae-Hong Jung · Jun Huh · Jun-Won Hong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Advisor: Prof. Taekyoung Yoon · Dept. of Cyber Security, Dankook Univ.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8e3f07df14098">
            <a:extLst>
              <a:ext uri="{96DAC541-7B7A-43D3-8B79-37D633B846F1}">
                <asvg:svgBlip xmlns:asvg="http://schemas.microsoft.com/office/drawing/2016/SVG/main" r:embed="R992d5febc8954ce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Fig. 1. Per-request dynamic ZTA flow: context collection, policy scoring, L1-L5 decision, audit/MFA state, and admin approval.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A730C7-BC21-4358-B18A-91BC6494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4287500" cy="1647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C72A14-3DD7-4B48-9A1D-D737613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1.  Problem Definition &amp; Goals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EBA61C-3AB4-4889-AFA8-00BF824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029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F15992-707A-451C-9DED-33F5257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04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Police insider incidents often involve users who already have</a:t>
            </a:r>
          </a:p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legitimate internal access.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18E429-CC4F-48FF-973F-2516AB81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3439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7439D5-9781-4C90-B807-60FFBBD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2485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Static RBAC/ABAC checks roles at login, but does not continuously verify</a:t>
            </a:r>
          </a:p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device, location, assigned case, and behavior after login.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DB407B-6321-400C-8753-CDA6A3EF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6583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980020-D75A-45A9-B1EF-6BD433A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6393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Goal: prevent misuse before leakage through per-request scoring</a:t>
            </a:r>
          </a:p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and least privilege.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07412A-A889-42F0-A4D2-D919418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6330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2. Proposed Method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58CE3F-3D15-4C88-BC15-6FA7A18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0015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47CF60-E3C7-46D0-B8C0-B6271CF7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98245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We apply Zero Trust principles to police investigation data using</a:t>
            </a:r>
          </a:p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a 4-axis risk score and 5-level access decision.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38D1F3-C01A-45A8-8489-4FDEF4C0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315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DA69A8-F715-4F54-ABC1-BCBD2832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2969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Fig. 1 shows request → context collection → policy scoring →</a:t>
            </a:r>
          </a:p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>L1-L5 decision, with audit/MFA state and admin approval attached.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A78D24-208A-4409-BD3D-8D38FF81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11350"/>
            <a:ext cx="1343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Main features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DA64CF-195B-4C5F-AF84-E9F4745B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1638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2372B0-B201-4D26-957D-10438B8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0"/>
            <a:ext cx="1304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4-axis score: object sensitivity, environment risk, behavior risk, job fitness.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4CCB49-5752-418D-8A2B-310C9C18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85912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C62465-DACA-4B9C-834A-63281F8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840075"/>
            <a:ext cx="1304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5-level control: allow, view-only, re-authentication, admin approval, block.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042d158114f2a">
            <a:extLst>
              <a:ext uri="{96DAC541-7B7A-43D3-8B79-37D633B846F1}">
                <asvg:svgBlip xmlns:asvg="http://schemas.microsoft.com/office/drawing/2016/SVG/main" r:embed="Rd1610576c2014e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764875"/>
            <a:ext cx="14382750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2026-06-12T11:37:45.4860000Z</dcterms:created>
  <dcterms:modified xsi:type="dcterms:W3CDTF">2026-06-12T11:37:45.4860000Z</dcterms:modified>
</coreProperties>
</file>