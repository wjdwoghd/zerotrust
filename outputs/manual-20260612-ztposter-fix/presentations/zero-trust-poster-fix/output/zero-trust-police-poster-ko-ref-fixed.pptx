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6322345ca4bcc" /><Relationship Type="http://schemas.openxmlformats.org/officeDocument/2006/relationships/extended-properties" Target="/docProps/app.xml" Id="Reb766665dbb34cf7" /><Relationship Type="http://schemas.openxmlformats.org/officeDocument/2006/relationships/officeDocument" Target="/ppt/presentation.xml" Id="Ra7134875fae2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c3f9a4c544ba9"/>
  </p:sldMasterIdLst>
  <p:notesMasterIdLst>
    <p:notesMasterId xmlns:r="http://schemas.openxmlformats.org/officeDocument/2006/relationships" r:id="R4c2588dcb06a4d36"/>
  </p:notesMasterIdLst>
  <p:sldIdLst>
    <p:sldId xmlns:r="http://schemas.openxmlformats.org/officeDocument/2006/relationships" id="256" r:id="R3383508d05c3464d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e93a9856f5474a" /><Relationship Type="http://schemas.openxmlformats.org/officeDocument/2006/relationships/slideMaster" Target="/ppt/slideMasters/slideMaster1.xml" Id="R93cc3f9a4c544ba9" /><Relationship Type="http://schemas.openxmlformats.org/officeDocument/2006/relationships/notesMaster" Target="/ppt/notesMasters/notesMaster1.xml" Id="R4c2588dcb06a4d36" /><Relationship Type="http://schemas.openxmlformats.org/officeDocument/2006/relationships/presProps" Target="/ppt/presProps.xml" Id="R3f620c20437b4034" /><Relationship Type="http://schemas.openxmlformats.org/officeDocument/2006/relationships/viewProps" Target="/ppt/viewProps.xml" Id="R6f76c438021540ce" /><Relationship Type="http://schemas.openxmlformats.org/officeDocument/2006/relationships/tableStyles" Target="/ppt/tableStyles.xml" Id="R50472aa1d1eb43ae" /><Relationship Type="http://schemas.openxmlformats.org/officeDocument/2006/relationships/slide" Target="/ppt/slides/slide1.xml" Id="R3383508d05c346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f3972ecf942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7a7fbcb2848bb" /><Relationship Type="http://schemas.openxmlformats.org/officeDocument/2006/relationships/notesMaster" Target="/ppt/notesMasters/notesMaster1.xml" Id="R252ab63d1981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31ca9a3d744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925e5be7b47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540cd5cf54f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ee53ff2204a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cc61b16ea4671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6a1a6329adc4b8c" /><Relationship Type="http://schemas.openxmlformats.org/officeDocument/2006/relationships/theme" Target="/ppt/slideMasters/theme/theme2.xml" Id="R0e8a3a9b59704e89" /><Relationship Type="http://schemas.openxmlformats.org/officeDocument/2006/relationships/slideLayout" Target="/ppt/slideLayouts/slideLayout1.xml" Id="R3902fa6b2d1f4589" /><Relationship Type="http://schemas.openxmlformats.org/officeDocument/2006/relationships/slideLayout" Target="/ppt/slideLayouts/slideLayout2.xml" Id="R14971dc41eb545ea" /><Relationship Type="http://schemas.openxmlformats.org/officeDocument/2006/relationships/slideLayout" Target="/ppt/slideLayouts/slideLayout3.xml" Id="R69be90ab16bc48f5" /><Relationship Type="http://schemas.openxmlformats.org/officeDocument/2006/relationships/slideLayout" Target="/ppt/slideLayouts/slideLayout4.xml" Id="R76c8f80425444578" /><Relationship Type="http://schemas.openxmlformats.org/officeDocument/2006/relationships/slideLayout" Target="/ppt/slideLayouts/slideLayout5.xml" Id="R1c6ff8bb86e54fd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1a6329adc4b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2fa6b2d1f4589"/>
    <p:sldLayoutId xmlns:r="http://schemas.openxmlformats.org/officeDocument/2006/relationships" id="2147483650" r:id="R14971dc41eb545ea"/>
    <p:sldLayoutId xmlns:r="http://schemas.openxmlformats.org/officeDocument/2006/relationships" id="2147483651" r:id="R69be90ab16bc48f5"/>
    <p:sldLayoutId xmlns:r="http://schemas.openxmlformats.org/officeDocument/2006/relationships" id="2147483652" r:id="R76c8f80425444578"/>
    <p:sldLayoutId xmlns:r="http://schemas.openxmlformats.org/officeDocument/2006/relationships" id="2147483653" r:id="R1c6ff8bb86e54fdb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676198749845e1" /><Relationship Type="http://schemas.openxmlformats.org/officeDocument/2006/relationships/image" Target="/ppt/media/image2.png" Id="R60d70eb0a8f54991" /><Relationship Type="http://schemas.openxmlformats.org/officeDocument/2006/relationships/image" Target="/ppt/media/image.svg" Id="R70f188bb948a42be" /><Relationship Type="http://schemas.openxmlformats.org/officeDocument/2006/relationships/image" Target="/ppt/media/image.png" Id="R11a02f0b4dca4557" /><Relationship Type="http://schemas.openxmlformats.org/officeDocument/2006/relationships/image" Target="/ppt/media/image3.png" Id="Re834605e6e0c41b9" /><Relationship Type="http://schemas.openxmlformats.org/officeDocument/2006/relationships/image" Target="/ppt/media/image2.svg" Id="R0e7b00aa4d9d4915" /><Relationship Type="http://schemas.openxmlformats.org/officeDocument/2006/relationships/notesSlide" Target="/ppt/notesSlides/notesSlide1.xml" Id="Rb1927b77464c4c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70eb0a8f5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경찰 전용 동적 제로트러스트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접근제어 시스템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4. 논의 및 결론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본 시스템은 로그인 성공을 신뢰의 끝으로 보던 구조를, 매 요청을 검증하고 위험 시 즉시 차단하는 동적 제로트러스트 구조로 전환한다.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경찰 수사정보 환경에서 최소 권한, 지속 검증, 침해 가정, 명시적 검증, 완전 감사 원칙을 실제 기능으로 연결했다.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기대 효과는 내부자 오남용 사전 차단, 정보 노출 최소화, 세션 전반 재평가, 3계층 추가 전용 로그 기반 감사 무결성 확보이다.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4축 위험 점수: 객체 민감도 + 환경 위험도 + 행위 위험도 - 업무 적합도로 위험 점수를 산정한다.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5단계 접근/마스킹: L1 완전 허용, L2 열람 전용, L3 재인증, L4 관리자 승인, L5 차단으로 권한을 분리한다.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즉시 차단 4규칙: 동시 접속 인증 실패, 고위험 다운로드, 불가능 이동, 비허용 위치는 점수 산정 이전에 차단한다.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신뢰도 기반 결정: 신뢰도 0.85 미만이면 무리한 허용/차단 대신 관리자 승인 또는 열람 전용으로 수렴한다.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비상 접근 및 감사: 비상 접근은 MFA·범위·유효시간·사후 심사를 요구하고 3계층 추가 전용 로그로 무결성을 보장한다.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3. 시연 기반 검증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시나리오: 비담당 사건 유출, 비허용 위치 접근, 반복 비담당 열람.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매 요청 점검: 경찰 계정, 등록 기기, 허용 위치, 담당 사건, 누적 행동 위험도를 재평가한다.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비담당 4·5등급 자료 접근은 묵시적 허용 대신 관리자 승인·마스킹·다운로드 차단으로 상승한다.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비허용 위치와 미등록 기기 접근은 로그인 또는 다운로드 단계에서 즉시 차단된다.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반복 무단 열람은 행동위험도를 누적해 접근 레벨을 상향하고 권한을 실시간 강등한다.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모든 허용·재인증·차단·비상 접근 흐름은 감사 로그에 남아 사후 추적과 리뷰가 가능하다.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사례 요약 (Fig. 2)</a:t>
            </a:r>
          </a:p>
          <a:p xmlns:a="http://schemas.openxmlformats.org/drawingml/2006/main">
            <a:pPr marL="1252538" indent="-541338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매트릭스는 4축 점수, 5단계 접근 결과, 핵심 보안 메커니즘의 연결 구조를 요약한다.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2. 참조 발표 기준의 4축 위험 점수, 5단계 접근 결과, 핵심 보안 메커니즘 요약. 점수·권한·감사 로그가 매 요청 단위로 연결된다.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무신뢰 보안단  |  정재홍 · 허준 · 홍준원  (지도교수: 윤택영 교수)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단국대학교 사이버보안학과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02f0b4dca4557">
            <a:extLst>
              <a:ext uri="{96DAC541-7B7A-43D3-8B79-37D633B846F1}">
                <asvg:svgBlip xmlns:asvg="http://schemas.microsoft.com/office/drawing/2016/SVG/main" r:embed="R70f188bb948a42b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1. 매 요청마다 맥락을 수집해 정책·위험 엔진에서 L1~L5 결정을 내리는 경찰 전용 동적 ZTA 흐름.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58E268-A337-47D3-9DD3-D6A9D7E9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4287500" cy="1647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3385D-C382-4A3E-A330-B523A3D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7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1. 문제 인식 및 연구 목표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04FF6C-E94A-4591-B1B5-13348A9B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029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E29AD4-ADF9-432B-97C4-78286FD2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경찰 내부자 유출 사고는 이미 권한을 가진 내부 사용자가</a:t>
            </a:r>
          </a:p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수사정보를 오남용한다는 점에서 사전 통제가 필요하다.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7C92A9-8362-4F30-B3C6-DB00E37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4010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5CA9B-17EC-460C-A262-58DE4A0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기존 RBAC/ABAC는 로그인 이후 기기·위치·담당 사건·행동을</a:t>
            </a:r>
          </a:p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지속 검증하지 못해 비담당 열람과 반복 접근을 막기 어렵다.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46034A-ACD3-40D6-90AE-250BDD5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7726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D48CD8-D215-4A6E-80A1-068A352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7536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목표는 사후 징계가 아니라 매 요청 단위 검증과 선제 차단으로</a:t>
            </a:r>
          </a:p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정보 노출을 줄이는 것이다.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269851-47EB-4CA0-AE59-DA84DEE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3347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7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2. 제안 방법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2D5CAC-3FB8-4C21-AD0F-C5BF100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172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71C71D-90BB-4743-8394-3D09C992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539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NIST SP 800-207 원칙을 경찰 수사정보 환경에 맞춰</a:t>
            </a:r>
          </a:p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4축 위험 점수와 5단계 접근제어로 구현한다.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DBBC48-AA1E-44EB-B259-45193DCD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5445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7AF598-0019-4799-AC12-DA3C96E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5255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Fig. 1은 접근 요청 → 맥락 수집 → 정책·위험 엔진 →</a:t>
            </a:r>
          </a:p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>L1~L5 결정으로 이어지는 흐름을 보여준다.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5D2859-BE29-4B8F-924A-4CFDD7A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897100"/>
            <a:ext cx="1343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7ED752-4031-4E88-B402-8DBA9F69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4495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0BA9AE-C13A-4228-ACB1-D8219330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430500"/>
            <a:ext cx="13049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4축 점수: 객체 민감도, 환경 위험도, 행위 위험도, 업무 적합도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B7339E-3DAB-4A71-BBBB-072C3A3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16392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8BBE69-CDE7-4A3C-927B-B041199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44875"/>
            <a:ext cx="13049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5단계 통제: 허용, 열람 전용, 재인증, 관리자 승인, 차단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4605e6e0c41b9">
            <a:extLst>
              <a:ext uri="{96DAC541-7B7A-43D3-8B79-37D633B846F1}">
                <asvg:svgBlip xmlns:asvg="http://schemas.microsoft.com/office/drawing/2016/SVG/main" r:embed="R0e7b00aa4d9d49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764875"/>
            <a:ext cx="14382750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2026-06-12T11:37:40.1710000Z</dcterms:created>
  <dcterms:modified xsi:type="dcterms:W3CDTF">2026-06-12T11:37:40.1710000Z</dcterms:modified>
</coreProperties>
</file>