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0ffa05ff1a45aa" /><Relationship Type="http://schemas.openxmlformats.org/officeDocument/2006/relationships/extended-properties" Target="/docProps/app.xml" Id="Rcb30c01cd3ed4311" /><Relationship Type="http://schemas.openxmlformats.org/officeDocument/2006/relationships/officeDocument" Target="/ppt/presentation.xml" Id="R3bcec17cf0d9492f" /></Relationships>
</file>

<file path=ppt/presentation.xml><?xml version="1.0" encoding="utf-8"?>
<p:presentation xmlns:p="http://schemas.openxmlformats.org/presentationml/2006/main">
  <p:sldMasterIdLst>
    <p:sldMasterId xmlns:r="http://schemas.openxmlformats.org/officeDocument/2006/relationships" id="2147483648" r:id="R04fadfdc669f44b7"/>
  </p:sldMasterIdLst>
  <p:notesMasterIdLst>
    <p:notesMasterId xmlns:r="http://schemas.openxmlformats.org/officeDocument/2006/relationships" r:id="Rd7e8c95044474045"/>
  </p:notesMasterIdLst>
  <p:sldIdLst>
    <p:sldId xmlns:r="http://schemas.openxmlformats.org/officeDocument/2006/relationships" id="256" r:id="Ra5a0b1242fb5443e"/>
  </p:sldIdLst>
  <p:sldSz cx="30275213" cy="42803763"/>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8b1343517114cb8" /><Relationship Type="http://schemas.openxmlformats.org/officeDocument/2006/relationships/slideMaster" Target="/ppt/slideMasters/slideMaster1.xml" Id="R04fadfdc669f44b7" /><Relationship Type="http://schemas.openxmlformats.org/officeDocument/2006/relationships/notesMaster" Target="/ppt/notesMasters/notesMaster1.xml" Id="Rd7e8c95044474045" /><Relationship Type="http://schemas.openxmlformats.org/officeDocument/2006/relationships/presProps" Target="/ppt/presProps.xml" Id="Rc442965cbb7f485e" /><Relationship Type="http://schemas.openxmlformats.org/officeDocument/2006/relationships/viewProps" Target="/ppt/viewProps.xml" Id="R223342c28ef349a3" /><Relationship Type="http://schemas.openxmlformats.org/officeDocument/2006/relationships/tableStyles" Target="/ppt/tableStyles.xml" Id="R014689f0630941f2" /><Relationship Type="http://schemas.openxmlformats.org/officeDocument/2006/relationships/slide" Target="/ppt/slides/slide1.xml" Id="Ra5a0b1242fb544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52f48dac784d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d1331c1df5429a" /><Relationship Type="http://schemas.openxmlformats.org/officeDocument/2006/relationships/notesMaster" Target="/ppt/notesMasters/notesMaster1.xml" Id="R8505efd99c0f47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8a3f33ab2546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f44563b37144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7715b1b7b745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98bec278a848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2c1d92c2524f73"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2BE2E78-5EE5-4EBE-8E42-90BD2B9CA8EA}"/>
              </a:ext>
            </a:extLst>
          </p:cNvPr>
          <p:cNvSpPr>
            <a:spLocks xmlns:a="http://schemas.openxmlformats.org/drawingml/2006/main" noGrp="1"/>
          </p:cNvSpPr>
          <p:nvPr>
            <p:ph type="ctrTitle" idx="0"/>
          </p:nvPr>
        </p:nvSpPr>
        <p:spPr>
          <a:xfrm xmlns:a="http://schemas.openxmlformats.org/drawingml/2006/main">
            <a:off x="2272546" y="13269164"/>
            <a:ext cx="25755554"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9625D93C-D487-4420-83BF-B3E54E571D9E}"/>
              </a:ext>
            </a:extLst>
          </p:cNvPr>
          <p:cNvSpPr>
            <a:spLocks xmlns:a="http://schemas.openxmlformats.org/drawingml/2006/main" noGrp="1"/>
          </p:cNvSpPr>
          <p:nvPr>
            <p:ph type="subTitle" idx="4"/>
          </p:nvPr>
        </p:nvSpPr>
        <p:spPr>
          <a:xfrm xmlns:a="http://schemas.openxmlformats.org/drawingml/2006/main">
            <a:off x="4545098" y="23970113"/>
            <a:ext cx="21210458"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FF3D5D55-EE4E-491A-AD2F-3D8DE35C8E62}"/>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AD6466F7-6ECA-4ED1-9F9E-8ED8B55DA27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64DBFADC-31EA-4E96-A4B6-89DD141CCA71}"/>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4794A862-76D8-44F5-81BC-B2D04190816D}"/>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B05DA6BB-5DAD-47D6-9956-2B8BDE8B20F2}"/>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90B3E69-BC2C-4732-A34F-A4E4754FF09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CE1815C1-2116-4B09-B86B-8D5EF69510D2}"/>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3005B063-4225-493C-879B-9BD01920D383}"/>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375D737A-E972-4014-817D-6F24566D9F3F}"/>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A93BD1D-1E64-430B-9191-127E3ABE49D1}"/>
              </a:ext>
            </a:extLst>
          </p:cNvPr>
          <p:cNvSpPr>
            <a:spLocks xmlns:a="http://schemas.openxmlformats.org/drawingml/2006/main" noGrp="1"/>
          </p:cNvSpPr>
          <p:nvPr>
            <p:ph idx="2"/>
          </p:nvPr>
        </p:nvSpPr>
        <p:spPr>
          <a:xfrm xmlns:a="http://schemas.openxmlformats.org/drawingml/2006/main">
            <a:off x="1515037" y="9844870"/>
            <a:ext cx="13180782"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E192FA5-1607-406D-A2E6-787FC399A6F5}"/>
              </a:ext>
            </a:extLst>
          </p:cNvPr>
          <p:cNvSpPr>
            <a:spLocks xmlns:a="http://schemas.openxmlformats.org/drawingml/2006/main" noGrp="1"/>
          </p:cNvSpPr>
          <p:nvPr>
            <p:ph idx="3"/>
          </p:nvPr>
        </p:nvSpPr>
        <p:spPr>
          <a:xfrm xmlns:a="http://schemas.openxmlformats.org/drawingml/2006/main">
            <a:off x="16153871" y="11536227"/>
            <a:ext cx="11270520" cy="615621"/>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000" b="1" i="0">
                <a:solidFill>
                  <a:schemeClr val="tx1"/>
                </a:solidFill>
                <a:latin typeface="Book Antiqua"/>
                <a:ea typeface="Book Antiqua"/>
                <a:cs typeface="Book Antiqua"/>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723F4882-0D01-4A77-82C2-BC2D592A57BA}"/>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58BA99A5-DBDF-4570-ACA9-9F392E2B12F8}"/>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7" name="Holder 7">
            <a:extLst xmlns:a="http://schemas.openxmlformats.org/drawingml/2006/main">
              <a:ext uri="{FF2B5EF4-FFF2-40B4-BE49-F238E27FC236}">
                <a16:creationId xmlns:a16="http://schemas.microsoft.com/office/drawing/2014/main" id="{B08E87B8-898C-4D19-B7A2-DFC092A1C7CC}"/>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obj" preserve="1">
  <p:cSld name="Title Only">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EF36C51-AFFF-4F25-964C-B1FCE3DFF721}"/>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D06B33E-7CB0-48A0-BD43-497EF5E6AFE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EC524AF8-4E72-4216-A5D1-3A5518666F4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5" name="Holder 5">
            <a:extLst xmlns:a="http://schemas.openxmlformats.org/drawingml/2006/main">
              <a:ext uri="{FF2B5EF4-FFF2-40B4-BE49-F238E27FC236}">
                <a16:creationId xmlns:a16="http://schemas.microsoft.com/office/drawing/2014/main" id="{7DC2D0D1-5819-4E01-B36A-AAAB23B2A4C2}"/>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obj" preserve="1">
  <p:cSld name="Blank">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FCCEA099-3361-478D-9FDB-D34627E4A186}"/>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3D4F5A11-CBF8-401B-AB2E-F0117BE356E6}"/>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4" name="Holder 4">
            <a:extLst xmlns:a="http://schemas.openxmlformats.org/drawingml/2006/main">
              <a:ext uri="{FF2B5EF4-FFF2-40B4-BE49-F238E27FC236}">
                <a16:creationId xmlns:a16="http://schemas.microsoft.com/office/drawing/2014/main" id="{6D41FCB3-0967-4DBD-B56D-A4647416FFA5}"/>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470d5e54db3b4ae7" /><Relationship Type="http://schemas.openxmlformats.org/officeDocument/2006/relationships/theme" Target="/ppt/slideMasters/theme/theme2.xml" Id="R637cb72937284bb7" /><Relationship Type="http://schemas.openxmlformats.org/officeDocument/2006/relationships/slideLayout" Target="/ppt/slideLayouts/slideLayout1.xml" Id="R03f0f2b3cdf54f48" /><Relationship Type="http://schemas.openxmlformats.org/officeDocument/2006/relationships/slideLayout" Target="/ppt/slideLayouts/slideLayout2.xml" Id="R69d9e92e570e40bd" /><Relationship Type="http://schemas.openxmlformats.org/officeDocument/2006/relationships/slideLayout" Target="/ppt/slideLayouts/slideLayout3.xml" Id="R18a2bbe8fede4693" /><Relationship Type="http://schemas.openxmlformats.org/officeDocument/2006/relationships/slideLayout" Target="/ppt/slideLayouts/slideLayout4.xml" Id="R0a173e67ee22412a" /><Relationship Type="http://schemas.openxmlformats.org/officeDocument/2006/relationships/slideLayout" Target="/ppt/slideLayouts/slideLayout5.xml" Id="R84aecb0c7e9e44e1"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 name="bg object 16"/>
          <p:cNvPicPr>
            <a:picLocks xmlns:a="http://schemas.openxmlformats.org/drawingml/2006/main" noChangeAspect="1"/>
          </p:cNvPicPr>
          <p:nvPr/>
        </p:nvPicPr>
        <p:blipFill>
          <a:blip xmlns:r="http://schemas.openxmlformats.org/officeDocument/2006/relationships" xmlns:a="http://schemas.openxmlformats.org/drawingml/2006/main" r:embed="R470d5e54db3b4ae7"/>
          <a:stretch xmlns:a="http://schemas.openxmlformats.org/drawingml/2006/main">
            <a:fillRect l="0" t="0" r="0" b="0"/>
          </a:stretch>
        </p:blipFill>
        <p:spPr>
          <a:xfrm xmlns:a="http://schemas.openxmlformats.org/drawingml/2006/main">
            <a:off x="0" y="881056"/>
            <a:ext cx="30300654" cy="41910001"/>
          </a:xfrm>
          <a:prstGeom xmlns:a="http://schemas.openxmlformats.org/drawingml/2006/main" prst="rect">
            <a:avLst/>
          </a:prstGeom>
        </p:spPr>
      </p:pic>
      <p:sp>
        <p:nvSpPr>
          <p:cNvPr id="17" name="bg object 17">
            <a:extLst xmlns:a="http://schemas.openxmlformats.org/drawingml/2006/main">
              <a:ext uri="{FF2B5EF4-FFF2-40B4-BE49-F238E27FC236}">
                <a16:creationId xmlns:a16="http://schemas.microsoft.com/office/drawing/2014/main" id="{96EC0D05-044A-4545-91CB-29257ADAB0AC}"/>
              </a:ext>
            </a:extLst>
          </p:cNvPr>
          <p:cNvSpPr>
            <a:spLocks xmlns:a="http://schemas.openxmlformats.org/drawingml/2006/main" noGrp="1"/>
          </p:cNvSpPr>
          <p:nvPr/>
        </p:nvSpPr>
        <p:spPr>
          <a:xfrm xmlns:a="http://schemas.openxmlformats.org/drawingml/2006/main">
            <a:off x="0" y="0"/>
            <a:ext cx="30300654" cy="42791112"/>
          </a:xfrm>
          <a:custGeom xmlns:a="http://schemas.openxmlformats.org/drawingml/2006/main">
            <a:rect l="l" t="t" r="r" b="b"/>
            <a:pathLst>
              <a:path w="7562850" h="10696575">
                <a:moveTo>
                  <a:pt x="507479" y="0"/>
                </a:moveTo>
                <a:lnTo>
                  <a:pt x="408584" y="0"/>
                </a:lnTo>
                <a:lnTo>
                  <a:pt x="0" y="408584"/>
                </a:lnTo>
                <a:lnTo>
                  <a:pt x="0" y="507479"/>
                </a:lnTo>
                <a:lnTo>
                  <a:pt x="507479" y="0"/>
                </a:lnTo>
                <a:close/>
              </a:path>
              <a:path w="7562850" h="10696575">
                <a:moveTo>
                  <a:pt x="537692" y="10696575"/>
                </a:moveTo>
                <a:lnTo>
                  <a:pt x="0" y="10158908"/>
                </a:lnTo>
                <a:lnTo>
                  <a:pt x="0" y="10257803"/>
                </a:lnTo>
                <a:lnTo>
                  <a:pt x="438759" y="10696575"/>
                </a:lnTo>
                <a:lnTo>
                  <a:pt x="537692" y="10696575"/>
                </a:lnTo>
                <a:close/>
              </a:path>
              <a:path w="7562850" h="10696575">
                <a:moveTo>
                  <a:pt x="1534642" y="757351"/>
                </a:moveTo>
                <a:lnTo>
                  <a:pt x="1435658" y="658418"/>
                </a:lnTo>
                <a:lnTo>
                  <a:pt x="1435658" y="757351"/>
                </a:lnTo>
                <a:lnTo>
                  <a:pt x="1294447" y="898575"/>
                </a:lnTo>
                <a:lnTo>
                  <a:pt x="1153236" y="757351"/>
                </a:lnTo>
                <a:lnTo>
                  <a:pt x="1294447" y="616140"/>
                </a:lnTo>
                <a:lnTo>
                  <a:pt x="1435658" y="757351"/>
                </a:lnTo>
                <a:lnTo>
                  <a:pt x="1435658" y="658418"/>
                </a:lnTo>
                <a:lnTo>
                  <a:pt x="1393367" y="616140"/>
                </a:lnTo>
                <a:lnTo>
                  <a:pt x="1294447" y="517258"/>
                </a:lnTo>
                <a:lnTo>
                  <a:pt x="1054341" y="757351"/>
                </a:lnTo>
                <a:lnTo>
                  <a:pt x="1294447" y="997458"/>
                </a:lnTo>
                <a:lnTo>
                  <a:pt x="1319187" y="972718"/>
                </a:lnTo>
                <a:lnTo>
                  <a:pt x="1534642" y="757351"/>
                </a:lnTo>
                <a:close/>
              </a:path>
              <a:path w="7562850" h="10696575">
                <a:moveTo>
                  <a:pt x="1570672" y="9945065"/>
                </a:moveTo>
                <a:lnTo>
                  <a:pt x="1471688" y="9846132"/>
                </a:lnTo>
                <a:lnTo>
                  <a:pt x="1471688" y="9945065"/>
                </a:lnTo>
                <a:lnTo>
                  <a:pt x="1330477" y="10086276"/>
                </a:lnTo>
                <a:lnTo>
                  <a:pt x="1189266" y="9945065"/>
                </a:lnTo>
                <a:lnTo>
                  <a:pt x="1330477" y="9803854"/>
                </a:lnTo>
                <a:lnTo>
                  <a:pt x="1471688" y="9945065"/>
                </a:lnTo>
                <a:lnTo>
                  <a:pt x="1471688" y="9846132"/>
                </a:lnTo>
                <a:lnTo>
                  <a:pt x="1429397" y="9803854"/>
                </a:lnTo>
                <a:lnTo>
                  <a:pt x="1330477" y="9704959"/>
                </a:lnTo>
                <a:lnTo>
                  <a:pt x="1090371" y="9945065"/>
                </a:lnTo>
                <a:lnTo>
                  <a:pt x="1330477" y="10185171"/>
                </a:lnTo>
                <a:lnTo>
                  <a:pt x="1355217" y="10160419"/>
                </a:lnTo>
                <a:lnTo>
                  <a:pt x="1570672" y="9945065"/>
                </a:lnTo>
                <a:close/>
              </a:path>
              <a:path w="7562850" h="10696575">
                <a:moveTo>
                  <a:pt x="1781644" y="757351"/>
                </a:moveTo>
                <a:lnTo>
                  <a:pt x="1682762" y="658495"/>
                </a:lnTo>
                <a:lnTo>
                  <a:pt x="1682762" y="757351"/>
                </a:lnTo>
                <a:lnTo>
                  <a:pt x="1294447" y="1145590"/>
                </a:lnTo>
                <a:lnTo>
                  <a:pt x="906221" y="757351"/>
                </a:lnTo>
                <a:lnTo>
                  <a:pt x="1294447" y="369138"/>
                </a:lnTo>
                <a:lnTo>
                  <a:pt x="1682762" y="757351"/>
                </a:lnTo>
                <a:lnTo>
                  <a:pt x="1682762" y="658495"/>
                </a:lnTo>
                <a:lnTo>
                  <a:pt x="1393355" y="369138"/>
                </a:lnTo>
                <a:lnTo>
                  <a:pt x="1294447" y="270243"/>
                </a:lnTo>
                <a:lnTo>
                  <a:pt x="807326" y="757351"/>
                </a:lnTo>
                <a:lnTo>
                  <a:pt x="1294447" y="1244561"/>
                </a:lnTo>
                <a:lnTo>
                  <a:pt x="1319187" y="1219822"/>
                </a:lnTo>
                <a:lnTo>
                  <a:pt x="1269695" y="1170330"/>
                </a:lnTo>
                <a:lnTo>
                  <a:pt x="1294536" y="1195070"/>
                </a:lnTo>
                <a:lnTo>
                  <a:pt x="1319187" y="1219822"/>
                </a:lnTo>
                <a:lnTo>
                  <a:pt x="1781644" y="757351"/>
                </a:lnTo>
                <a:close/>
              </a:path>
              <a:path w="7562850" h="10696575">
                <a:moveTo>
                  <a:pt x="1817674" y="9945065"/>
                </a:moveTo>
                <a:lnTo>
                  <a:pt x="1718792" y="9846208"/>
                </a:lnTo>
                <a:lnTo>
                  <a:pt x="1718792" y="9945065"/>
                </a:lnTo>
                <a:lnTo>
                  <a:pt x="1330477" y="10333291"/>
                </a:lnTo>
                <a:lnTo>
                  <a:pt x="942251" y="9945065"/>
                </a:lnTo>
                <a:lnTo>
                  <a:pt x="1330477" y="9556839"/>
                </a:lnTo>
                <a:lnTo>
                  <a:pt x="1718792" y="9945065"/>
                </a:lnTo>
                <a:lnTo>
                  <a:pt x="1718792" y="9846208"/>
                </a:lnTo>
                <a:lnTo>
                  <a:pt x="1429385" y="9556839"/>
                </a:lnTo>
                <a:lnTo>
                  <a:pt x="1330477" y="9457944"/>
                </a:lnTo>
                <a:lnTo>
                  <a:pt x="843356" y="9945065"/>
                </a:lnTo>
                <a:lnTo>
                  <a:pt x="1330477" y="10432275"/>
                </a:lnTo>
                <a:lnTo>
                  <a:pt x="1355217" y="10407523"/>
                </a:lnTo>
                <a:lnTo>
                  <a:pt x="1305725" y="10358031"/>
                </a:lnTo>
                <a:lnTo>
                  <a:pt x="1330566" y="10382783"/>
                </a:lnTo>
                <a:lnTo>
                  <a:pt x="1355217" y="10407523"/>
                </a:lnTo>
                <a:lnTo>
                  <a:pt x="1817674" y="9945065"/>
                </a:lnTo>
                <a:close/>
              </a:path>
              <a:path w="7562850" h="10696575">
                <a:moveTo>
                  <a:pt x="2037232" y="757351"/>
                </a:moveTo>
                <a:lnTo>
                  <a:pt x="1938248" y="658393"/>
                </a:lnTo>
                <a:lnTo>
                  <a:pt x="1938248" y="757351"/>
                </a:lnTo>
                <a:lnTo>
                  <a:pt x="1294447" y="1401165"/>
                </a:lnTo>
                <a:lnTo>
                  <a:pt x="650722" y="757351"/>
                </a:lnTo>
                <a:lnTo>
                  <a:pt x="1294447" y="113550"/>
                </a:lnTo>
                <a:lnTo>
                  <a:pt x="1938248" y="757351"/>
                </a:lnTo>
                <a:lnTo>
                  <a:pt x="1938248" y="658393"/>
                </a:lnTo>
                <a:lnTo>
                  <a:pt x="1393342" y="113550"/>
                </a:lnTo>
                <a:lnTo>
                  <a:pt x="1294447" y="14655"/>
                </a:lnTo>
                <a:lnTo>
                  <a:pt x="551738" y="757351"/>
                </a:lnTo>
                <a:lnTo>
                  <a:pt x="1294447" y="1500060"/>
                </a:lnTo>
                <a:lnTo>
                  <a:pt x="1319187" y="1475308"/>
                </a:lnTo>
                <a:lnTo>
                  <a:pt x="2037232" y="757351"/>
                </a:lnTo>
                <a:close/>
              </a:path>
              <a:path w="7562850" h="10696575">
                <a:moveTo>
                  <a:pt x="2073262" y="9945065"/>
                </a:moveTo>
                <a:lnTo>
                  <a:pt x="1974278" y="9846094"/>
                </a:lnTo>
                <a:lnTo>
                  <a:pt x="1974278" y="9945065"/>
                </a:lnTo>
                <a:lnTo>
                  <a:pt x="1330477" y="10588866"/>
                </a:lnTo>
                <a:lnTo>
                  <a:pt x="686752" y="9945065"/>
                </a:lnTo>
                <a:lnTo>
                  <a:pt x="1330477" y="9301264"/>
                </a:lnTo>
                <a:lnTo>
                  <a:pt x="1974278" y="9945065"/>
                </a:lnTo>
                <a:lnTo>
                  <a:pt x="1974278" y="9846094"/>
                </a:lnTo>
                <a:lnTo>
                  <a:pt x="1429385" y="9301264"/>
                </a:lnTo>
                <a:lnTo>
                  <a:pt x="1330477" y="9202369"/>
                </a:lnTo>
                <a:lnTo>
                  <a:pt x="587781" y="9945065"/>
                </a:lnTo>
                <a:lnTo>
                  <a:pt x="1330477" y="10687761"/>
                </a:lnTo>
                <a:lnTo>
                  <a:pt x="1355217" y="10663022"/>
                </a:lnTo>
                <a:lnTo>
                  <a:pt x="2073262" y="9945065"/>
                </a:lnTo>
                <a:close/>
              </a:path>
              <a:path w="7562850" h="10696575">
                <a:moveTo>
                  <a:pt x="4024084" y="757351"/>
                </a:moveTo>
                <a:lnTo>
                  <a:pt x="3925112" y="658418"/>
                </a:lnTo>
                <a:lnTo>
                  <a:pt x="3925112" y="757351"/>
                </a:lnTo>
                <a:lnTo>
                  <a:pt x="3783901" y="898575"/>
                </a:lnTo>
                <a:lnTo>
                  <a:pt x="3642677" y="757351"/>
                </a:lnTo>
                <a:lnTo>
                  <a:pt x="3783901" y="616140"/>
                </a:lnTo>
                <a:lnTo>
                  <a:pt x="3925112" y="757351"/>
                </a:lnTo>
                <a:lnTo>
                  <a:pt x="3925112" y="658418"/>
                </a:lnTo>
                <a:lnTo>
                  <a:pt x="3882821" y="616140"/>
                </a:lnTo>
                <a:lnTo>
                  <a:pt x="3783901" y="517258"/>
                </a:lnTo>
                <a:lnTo>
                  <a:pt x="3543795" y="757351"/>
                </a:lnTo>
                <a:lnTo>
                  <a:pt x="3783901" y="997458"/>
                </a:lnTo>
                <a:lnTo>
                  <a:pt x="3808641" y="972718"/>
                </a:lnTo>
                <a:lnTo>
                  <a:pt x="4024084" y="757351"/>
                </a:lnTo>
                <a:close/>
              </a:path>
              <a:path w="7562850" h="10696575">
                <a:moveTo>
                  <a:pt x="4052392" y="9945065"/>
                </a:moveTo>
                <a:lnTo>
                  <a:pt x="3953408" y="9846119"/>
                </a:lnTo>
                <a:lnTo>
                  <a:pt x="3953408" y="9945065"/>
                </a:lnTo>
                <a:lnTo>
                  <a:pt x="3812197" y="10086276"/>
                </a:lnTo>
                <a:lnTo>
                  <a:pt x="3670985" y="9945065"/>
                </a:lnTo>
                <a:lnTo>
                  <a:pt x="3812197" y="9803854"/>
                </a:lnTo>
                <a:lnTo>
                  <a:pt x="3953408" y="9945065"/>
                </a:lnTo>
                <a:lnTo>
                  <a:pt x="3953408" y="9846119"/>
                </a:lnTo>
                <a:lnTo>
                  <a:pt x="3911130" y="9803854"/>
                </a:lnTo>
                <a:lnTo>
                  <a:pt x="3812197" y="9704959"/>
                </a:lnTo>
                <a:lnTo>
                  <a:pt x="3572091" y="9945065"/>
                </a:lnTo>
                <a:lnTo>
                  <a:pt x="3812197" y="10185171"/>
                </a:lnTo>
                <a:lnTo>
                  <a:pt x="3836936" y="10160419"/>
                </a:lnTo>
                <a:lnTo>
                  <a:pt x="4052392" y="9945065"/>
                </a:lnTo>
                <a:close/>
              </a:path>
              <a:path w="7562850" h="10696575">
                <a:moveTo>
                  <a:pt x="4271099" y="757351"/>
                </a:moveTo>
                <a:lnTo>
                  <a:pt x="4172204" y="658482"/>
                </a:lnTo>
                <a:lnTo>
                  <a:pt x="4172204" y="757351"/>
                </a:lnTo>
                <a:lnTo>
                  <a:pt x="3783901" y="1145590"/>
                </a:lnTo>
                <a:lnTo>
                  <a:pt x="3395675" y="757351"/>
                </a:lnTo>
                <a:lnTo>
                  <a:pt x="3783901" y="369138"/>
                </a:lnTo>
                <a:lnTo>
                  <a:pt x="4172204" y="757351"/>
                </a:lnTo>
                <a:lnTo>
                  <a:pt x="4172204" y="658482"/>
                </a:lnTo>
                <a:lnTo>
                  <a:pt x="3882809" y="369138"/>
                </a:lnTo>
                <a:lnTo>
                  <a:pt x="3783901" y="270243"/>
                </a:lnTo>
                <a:lnTo>
                  <a:pt x="3296780" y="757351"/>
                </a:lnTo>
                <a:lnTo>
                  <a:pt x="3783901" y="1244561"/>
                </a:lnTo>
                <a:lnTo>
                  <a:pt x="3808641" y="1219822"/>
                </a:lnTo>
                <a:lnTo>
                  <a:pt x="3759149" y="1170330"/>
                </a:lnTo>
                <a:lnTo>
                  <a:pt x="3783977" y="1195070"/>
                </a:lnTo>
                <a:lnTo>
                  <a:pt x="3808641" y="1219822"/>
                </a:lnTo>
                <a:lnTo>
                  <a:pt x="4271099" y="757351"/>
                </a:lnTo>
                <a:close/>
              </a:path>
              <a:path w="7562850" h="10696575">
                <a:moveTo>
                  <a:pt x="4299407" y="9945065"/>
                </a:moveTo>
                <a:lnTo>
                  <a:pt x="4200512" y="9846196"/>
                </a:lnTo>
                <a:lnTo>
                  <a:pt x="4200512" y="9945065"/>
                </a:lnTo>
                <a:lnTo>
                  <a:pt x="3812197" y="10333291"/>
                </a:lnTo>
                <a:lnTo>
                  <a:pt x="3423970" y="9945065"/>
                </a:lnTo>
                <a:lnTo>
                  <a:pt x="3812197" y="9556839"/>
                </a:lnTo>
                <a:lnTo>
                  <a:pt x="4200512" y="9945065"/>
                </a:lnTo>
                <a:lnTo>
                  <a:pt x="4200512" y="9846196"/>
                </a:lnTo>
                <a:lnTo>
                  <a:pt x="3911104" y="9556839"/>
                </a:lnTo>
                <a:lnTo>
                  <a:pt x="3812197" y="9457944"/>
                </a:lnTo>
                <a:lnTo>
                  <a:pt x="3325076" y="9945065"/>
                </a:lnTo>
                <a:lnTo>
                  <a:pt x="3812197" y="10432275"/>
                </a:lnTo>
                <a:lnTo>
                  <a:pt x="3836936" y="10407523"/>
                </a:lnTo>
                <a:lnTo>
                  <a:pt x="3787457" y="10358031"/>
                </a:lnTo>
                <a:lnTo>
                  <a:pt x="3812286" y="10382783"/>
                </a:lnTo>
                <a:lnTo>
                  <a:pt x="3836936" y="10407523"/>
                </a:lnTo>
                <a:lnTo>
                  <a:pt x="4299407" y="9945065"/>
                </a:lnTo>
                <a:close/>
              </a:path>
              <a:path w="7562850" h="10696575">
                <a:moveTo>
                  <a:pt x="4526686" y="757351"/>
                </a:moveTo>
                <a:lnTo>
                  <a:pt x="4427702" y="658393"/>
                </a:lnTo>
                <a:lnTo>
                  <a:pt x="4427702" y="757351"/>
                </a:lnTo>
                <a:lnTo>
                  <a:pt x="3783901" y="1401165"/>
                </a:lnTo>
                <a:lnTo>
                  <a:pt x="3140176" y="757351"/>
                </a:lnTo>
                <a:lnTo>
                  <a:pt x="3783901" y="113550"/>
                </a:lnTo>
                <a:lnTo>
                  <a:pt x="4427702" y="757351"/>
                </a:lnTo>
                <a:lnTo>
                  <a:pt x="4427702" y="658393"/>
                </a:lnTo>
                <a:lnTo>
                  <a:pt x="3882796" y="113550"/>
                </a:lnTo>
                <a:lnTo>
                  <a:pt x="3783901" y="14655"/>
                </a:lnTo>
                <a:lnTo>
                  <a:pt x="3041192" y="757351"/>
                </a:lnTo>
                <a:lnTo>
                  <a:pt x="3783901" y="1500060"/>
                </a:lnTo>
                <a:lnTo>
                  <a:pt x="3808641" y="1475308"/>
                </a:lnTo>
                <a:lnTo>
                  <a:pt x="4526686" y="757351"/>
                </a:lnTo>
                <a:close/>
              </a:path>
              <a:path w="7562850" h="10696575">
                <a:moveTo>
                  <a:pt x="4554982" y="9945065"/>
                </a:moveTo>
                <a:lnTo>
                  <a:pt x="4455998" y="9846094"/>
                </a:lnTo>
                <a:lnTo>
                  <a:pt x="4455998" y="9945065"/>
                </a:lnTo>
                <a:lnTo>
                  <a:pt x="3812197" y="10588866"/>
                </a:lnTo>
                <a:lnTo>
                  <a:pt x="3168472" y="9945065"/>
                </a:lnTo>
                <a:lnTo>
                  <a:pt x="3812197" y="9301264"/>
                </a:lnTo>
                <a:lnTo>
                  <a:pt x="4455998" y="9945065"/>
                </a:lnTo>
                <a:lnTo>
                  <a:pt x="4455998" y="9846094"/>
                </a:lnTo>
                <a:lnTo>
                  <a:pt x="3911104" y="9301264"/>
                </a:lnTo>
                <a:lnTo>
                  <a:pt x="3812197" y="9202369"/>
                </a:lnTo>
                <a:lnTo>
                  <a:pt x="3069501" y="9945065"/>
                </a:lnTo>
                <a:lnTo>
                  <a:pt x="3812197" y="10687761"/>
                </a:lnTo>
                <a:lnTo>
                  <a:pt x="3836936" y="10663022"/>
                </a:lnTo>
                <a:lnTo>
                  <a:pt x="4554982" y="9945065"/>
                </a:lnTo>
                <a:close/>
              </a:path>
              <a:path w="7562850" h="10696575">
                <a:moveTo>
                  <a:pt x="6497523" y="757351"/>
                </a:moveTo>
                <a:lnTo>
                  <a:pt x="6398539" y="658418"/>
                </a:lnTo>
                <a:lnTo>
                  <a:pt x="6398539" y="757351"/>
                </a:lnTo>
                <a:lnTo>
                  <a:pt x="6257328" y="898575"/>
                </a:lnTo>
                <a:lnTo>
                  <a:pt x="6116117" y="757351"/>
                </a:lnTo>
                <a:lnTo>
                  <a:pt x="6257328" y="616140"/>
                </a:lnTo>
                <a:lnTo>
                  <a:pt x="6398539" y="757351"/>
                </a:lnTo>
                <a:lnTo>
                  <a:pt x="6398539" y="658418"/>
                </a:lnTo>
                <a:lnTo>
                  <a:pt x="6356248" y="616140"/>
                </a:lnTo>
                <a:lnTo>
                  <a:pt x="6257328" y="517258"/>
                </a:lnTo>
                <a:lnTo>
                  <a:pt x="6017222" y="757351"/>
                </a:lnTo>
                <a:lnTo>
                  <a:pt x="6257328" y="997458"/>
                </a:lnTo>
                <a:lnTo>
                  <a:pt x="6282067" y="972718"/>
                </a:lnTo>
                <a:lnTo>
                  <a:pt x="6497523" y="757351"/>
                </a:lnTo>
                <a:close/>
              </a:path>
              <a:path w="7562850" h="10696575">
                <a:moveTo>
                  <a:pt x="6744525" y="757351"/>
                </a:moveTo>
                <a:lnTo>
                  <a:pt x="6645643" y="658495"/>
                </a:lnTo>
                <a:lnTo>
                  <a:pt x="6645643" y="757351"/>
                </a:lnTo>
                <a:lnTo>
                  <a:pt x="6257328" y="1145590"/>
                </a:lnTo>
                <a:lnTo>
                  <a:pt x="5869102" y="757351"/>
                </a:lnTo>
                <a:lnTo>
                  <a:pt x="6257328" y="369138"/>
                </a:lnTo>
                <a:lnTo>
                  <a:pt x="6645643" y="757351"/>
                </a:lnTo>
                <a:lnTo>
                  <a:pt x="6645643" y="658495"/>
                </a:lnTo>
                <a:lnTo>
                  <a:pt x="6356236" y="369138"/>
                </a:lnTo>
                <a:lnTo>
                  <a:pt x="6257328" y="270243"/>
                </a:lnTo>
                <a:lnTo>
                  <a:pt x="5770207" y="757351"/>
                </a:lnTo>
                <a:lnTo>
                  <a:pt x="6257328" y="1244561"/>
                </a:lnTo>
                <a:lnTo>
                  <a:pt x="6282067" y="1219822"/>
                </a:lnTo>
                <a:lnTo>
                  <a:pt x="6232576" y="1170330"/>
                </a:lnTo>
                <a:lnTo>
                  <a:pt x="6257417" y="1195070"/>
                </a:lnTo>
                <a:lnTo>
                  <a:pt x="6282067" y="1219822"/>
                </a:lnTo>
                <a:lnTo>
                  <a:pt x="6744525" y="757351"/>
                </a:lnTo>
                <a:close/>
              </a:path>
              <a:path w="7562850" h="10696575">
                <a:moveTo>
                  <a:pt x="7000113" y="757351"/>
                </a:moveTo>
                <a:lnTo>
                  <a:pt x="6901129" y="658393"/>
                </a:lnTo>
                <a:lnTo>
                  <a:pt x="6901129" y="757351"/>
                </a:lnTo>
                <a:lnTo>
                  <a:pt x="6257328" y="1401165"/>
                </a:lnTo>
                <a:lnTo>
                  <a:pt x="5613603" y="757351"/>
                </a:lnTo>
                <a:lnTo>
                  <a:pt x="6257328" y="113550"/>
                </a:lnTo>
                <a:lnTo>
                  <a:pt x="6901129" y="757351"/>
                </a:lnTo>
                <a:lnTo>
                  <a:pt x="6901129" y="658393"/>
                </a:lnTo>
                <a:lnTo>
                  <a:pt x="6356223" y="113550"/>
                </a:lnTo>
                <a:lnTo>
                  <a:pt x="6257328" y="14655"/>
                </a:lnTo>
                <a:lnTo>
                  <a:pt x="5514619" y="757351"/>
                </a:lnTo>
                <a:lnTo>
                  <a:pt x="6257328" y="1500060"/>
                </a:lnTo>
                <a:lnTo>
                  <a:pt x="6282067" y="1475308"/>
                </a:lnTo>
                <a:lnTo>
                  <a:pt x="7000113" y="757351"/>
                </a:lnTo>
                <a:close/>
              </a:path>
              <a:path w="7562850" h="10696575">
                <a:moveTo>
                  <a:pt x="7036143" y="9945065"/>
                </a:moveTo>
                <a:lnTo>
                  <a:pt x="6937159" y="9846094"/>
                </a:lnTo>
                <a:lnTo>
                  <a:pt x="6937159" y="9945065"/>
                </a:lnTo>
                <a:lnTo>
                  <a:pt x="6293358" y="10588866"/>
                </a:lnTo>
                <a:lnTo>
                  <a:pt x="5649633" y="9945065"/>
                </a:lnTo>
                <a:lnTo>
                  <a:pt x="6293358" y="9301264"/>
                </a:lnTo>
                <a:lnTo>
                  <a:pt x="6937159" y="9945065"/>
                </a:lnTo>
                <a:lnTo>
                  <a:pt x="6937159" y="9846094"/>
                </a:lnTo>
                <a:lnTo>
                  <a:pt x="6392265" y="9301264"/>
                </a:lnTo>
                <a:lnTo>
                  <a:pt x="6293358" y="9202369"/>
                </a:lnTo>
                <a:lnTo>
                  <a:pt x="5550662" y="9945065"/>
                </a:lnTo>
                <a:lnTo>
                  <a:pt x="6293358" y="10687761"/>
                </a:lnTo>
                <a:lnTo>
                  <a:pt x="6318097" y="10663022"/>
                </a:lnTo>
                <a:lnTo>
                  <a:pt x="7036143" y="9945065"/>
                </a:lnTo>
                <a:close/>
              </a:path>
              <a:path w="7562850" h="10696575">
                <a:moveTo>
                  <a:pt x="7562850" y="10219817"/>
                </a:moveTo>
                <a:lnTo>
                  <a:pt x="7086092" y="10696575"/>
                </a:lnTo>
                <a:lnTo>
                  <a:pt x="7185076" y="10696575"/>
                </a:lnTo>
                <a:lnTo>
                  <a:pt x="7562850" y="10318801"/>
                </a:lnTo>
                <a:lnTo>
                  <a:pt x="7562850" y="10219817"/>
                </a:lnTo>
                <a:close/>
              </a:path>
              <a:path w="7562850" h="10696575">
                <a:moveTo>
                  <a:pt x="7562850" y="9571330"/>
                </a:moveTo>
                <a:lnTo>
                  <a:pt x="6392253" y="8400732"/>
                </a:lnTo>
                <a:lnTo>
                  <a:pt x="6293358" y="8301837"/>
                </a:lnTo>
                <a:lnTo>
                  <a:pt x="5052771" y="9542424"/>
                </a:lnTo>
                <a:lnTo>
                  <a:pt x="5003292" y="9492945"/>
                </a:lnTo>
                <a:lnTo>
                  <a:pt x="5003292" y="9591904"/>
                </a:lnTo>
                <a:lnTo>
                  <a:pt x="4890173" y="9705022"/>
                </a:lnTo>
                <a:lnTo>
                  <a:pt x="4840694" y="9655556"/>
                </a:lnTo>
                <a:lnTo>
                  <a:pt x="4840694" y="9754502"/>
                </a:lnTo>
                <a:lnTo>
                  <a:pt x="4741405" y="9853790"/>
                </a:lnTo>
                <a:lnTo>
                  <a:pt x="3911092" y="9023464"/>
                </a:lnTo>
                <a:lnTo>
                  <a:pt x="3812197" y="8924569"/>
                </a:lnTo>
                <a:lnTo>
                  <a:pt x="2882696" y="9854070"/>
                </a:lnTo>
                <a:lnTo>
                  <a:pt x="2833205" y="9804578"/>
                </a:lnTo>
                <a:lnTo>
                  <a:pt x="2833205" y="9903562"/>
                </a:lnTo>
                <a:lnTo>
                  <a:pt x="2791701" y="9945065"/>
                </a:lnTo>
                <a:lnTo>
                  <a:pt x="2833205" y="9986581"/>
                </a:lnTo>
                <a:lnTo>
                  <a:pt x="2733916" y="10085870"/>
                </a:lnTo>
                <a:lnTo>
                  <a:pt x="2684437" y="10036391"/>
                </a:lnTo>
                <a:lnTo>
                  <a:pt x="2684437" y="10135349"/>
                </a:lnTo>
                <a:lnTo>
                  <a:pt x="2571292" y="10248494"/>
                </a:lnTo>
                <a:lnTo>
                  <a:pt x="2458174" y="10135387"/>
                </a:lnTo>
                <a:lnTo>
                  <a:pt x="2571331" y="10022256"/>
                </a:lnTo>
                <a:lnTo>
                  <a:pt x="2684437" y="10135349"/>
                </a:lnTo>
                <a:lnTo>
                  <a:pt x="2684437" y="10036391"/>
                </a:lnTo>
                <a:lnTo>
                  <a:pt x="2620822" y="9972764"/>
                </a:lnTo>
                <a:lnTo>
                  <a:pt x="2648521" y="9945065"/>
                </a:lnTo>
                <a:lnTo>
                  <a:pt x="2620822" y="9917379"/>
                </a:lnTo>
                <a:lnTo>
                  <a:pt x="2733929" y="9804273"/>
                </a:lnTo>
                <a:lnTo>
                  <a:pt x="2833205" y="9903562"/>
                </a:lnTo>
                <a:lnTo>
                  <a:pt x="2833205" y="9804578"/>
                </a:lnTo>
                <a:lnTo>
                  <a:pt x="2783421" y="9754781"/>
                </a:lnTo>
                <a:lnTo>
                  <a:pt x="3812197" y="8726005"/>
                </a:lnTo>
                <a:lnTo>
                  <a:pt x="4840694" y="9754502"/>
                </a:lnTo>
                <a:lnTo>
                  <a:pt x="4840694" y="9655556"/>
                </a:lnTo>
                <a:lnTo>
                  <a:pt x="3911092" y="8726005"/>
                </a:lnTo>
                <a:lnTo>
                  <a:pt x="3812197" y="8627110"/>
                </a:lnTo>
                <a:lnTo>
                  <a:pt x="2733929" y="9705302"/>
                </a:lnTo>
                <a:lnTo>
                  <a:pt x="2684437" y="9655810"/>
                </a:lnTo>
                <a:lnTo>
                  <a:pt x="2684437" y="9754794"/>
                </a:lnTo>
                <a:lnTo>
                  <a:pt x="2571331" y="9867887"/>
                </a:lnTo>
                <a:lnTo>
                  <a:pt x="2521839" y="9818408"/>
                </a:lnTo>
                <a:lnTo>
                  <a:pt x="2521839" y="9917379"/>
                </a:lnTo>
                <a:lnTo>
                  <a:pt x="2494153" y="9945065"/>
                </a:lnTo>
                <a:lnTo>
                  <a:pt x="2521839" y="9972764"/>
                </a:lnTo>
                <a:lnTo>
                  <a:pt x="2408694" y="10085908"/>
                </a:lnTo>
                <a:lnTo>
                  <a:pt x="2309406" y="9986620"/>
                </a:lnTo>
                <a:lnTo>
                  <a:pt x="2350960" y="9945065"/>
                </a:lnTo>
                <a:lnTo>
                  <a:pt x="2309406" y="9903523"/>
                </a:lnTo>
                <a:lnTo>
                  <a:pt x="2408694" y="9804235"/>
                </a:lnTo>
                <a:lnTo>
                  <a:pt x="2521839" y="9917379"/>
                </a:lnTo>
                <a:lnTo>
                  <a:pt x="2521839" y="9818408"/>
                </a:lnTo>
                <a:lnTo>
                  <a:pt x="2458174" y="9754756"/>
                </a:lnTo>
                <a:lnTo>
                  <a:pt x="2571292" y="9641637"/>
                </a:lnTo>
                <a:lnTo>
                  <a:pt x="2684437" y="9754794"/>
                </a:lnTo>
                <a:lnTo>
                  <a:pt x="2684437" y="9655810"/>
                </a:lnTo>
                <a:lnTo>
                  <a:pt x="2620784" y="9592145"/>
                </a:lnTo>
                <a:lnTo>
                  <a:pt x="3812197" y="8400732"/>
                </a:lnTo>
                <a:lnTo>
                  <a:pt x="5003292" y="9591904"/>
                </a:lnTo>
                <a:lnTo>
                  <a:pt x="5003292" y="9492945"/>
                </a:lnTo>
                <a:lnTo>
                  <a:pt x="3911092" y="8400732"/>
                </a:lnTo>
                <a:lnTo>
                  <a:pt x="3812197" y="8301837"/>
                </a:lnTo>
                <a:lnTo>
                  <a:pt x="2571331" y="9542704"/>
                </a:lnTo>
                <a:lnTo>
                  <a:pt x="1429372" y="8400732"/>
                </a:lnTo>
                <a:lnTo>
                  <a:pt x="1330477" y="8301837"/>
                </a:lnTo>
                <a:lnTo>
                  <a:pt x="0" y="9632315"/>
                </a:lnTo>
                <a:lnTo>
                  <a:pt x="0" y="9731210"/>
                </a:lnTo>
                <a:lnTo>
                  <a:pt x="1330477" y="8400732"/>
                </a:lnTo>
                <a:lnTo>
                  <a:pt x="2521851" y="9592183"/>
                </a:lnTo>
                <a:lnTo>
                  <a:pt x="2408732" y="9705302"/>
                </a:lnTo>
                <a:lnTo>
                  <a:pt x="1429372" y="8726005"/>
                </a:lnTo>
                <a:lnTo>
                  <a:pt x="1330477" y="8627110"/>
                </a:lnTo>
                <a:lnTo>
                  <a:pt x="12433" y="9945065"/>
                </a:lnTo>
                <a:lnTo>
                  <a:pt x="763981" y="10696575"/>
                </a:lnTo>
                <a:lnTo>
                  <a:pt x="862914" y="10696575"/>
                </a:lnTo>
                <a:lnTo>
                  <a:pt x="111417" y="9945065"/>
                </a:lnTo>
                <a:lnTo>
                  <a:pt x="1330477" y="8726005"/>
                </a:lnTo>
                <a:lnTo>
                  <a:pt x="2359253" y="9754781"/>
                </a:lnTo>
                <a:lnTo>
                  <a:pt x="2259965" y="9854070"/>
                </a:lnTo>
                <a:lnTo>
                  <a:pt x="1429372" y="9023464"/>
                </a:lnTo>
                <a:lnTo>
                  <a:pt x="1330477" y="8924569"/>
                </a:lnTo>
                <a:lnTo>
                  <a:pt x="309981" y="9945065"/>
                </a:lnTo>
                <a:lnTo>
                  <a:pt x="1061491" y="10696575"/>
                </a:lnTo>
                <a:lnTo>
                  <a:pt x="1160449" y="10696575"/>
                </a:lnTo>
                <a:lnTo>
                  <a:pt x="408876" y="9945065"/>
                </a:lnTo>
                <a:lnTo>
                  <a:pt x="1330477" y="9023464"/>
                </a:lnTo>
                <a:lnTo>
                  <a:pt x="2210524" y="9903511"/>
                </a:lnTo>
                <a:lnTo>
                  <a:pt x="2168969" y="9945065"/>
                </a:lnTo>
                <a:lnTo>
                  <a:pt x="2210511" y="9986632"/>
                </a:lnTo>
                <a:lnTo>
                  <a:pt x="1500492" y="10696575"/>
                </a:lnTo>
                <a:lnTo>
                  <a:pt x="1599463" y="10696575"/>
                </a:lnTo>
                <a:lnTo>
                  <a:pt x="2259952" y="10036073"/>
                </a:lnTo>
                <a:lnTo>
                  <a:pt x="2359241" y="10135362"/>
                </a:lnTo>
                <a:lnTo>
                  <a:pt x="1798027" y="10696575"/>
                </a:lnTo>
                <a:lnTo>
                  <a:pt x="1896960" y="10696575"/>
                </a:lnTo>
                <a:lnTo>
                  <a:pt x="2408732" y="10184841"/>
                </a:lnTo>
                <a:lnTo>
                  <a:pt x="2521839" y="10297947"/>
                </a:lnTo>
                <a:lnTo>
                  <a:pt x="2123211" y="10696575"/>
                </a:lnTo>
                <a:lnTo>
                  <a:pt x="2222195" y="10696575"/>
                </a:lnTo>
                <a:lnTo>
                  <a:pt x="2571331" y="10347439"/>
                </a:lnTo>
                <a:lnTo>
                  <a:pt x="2920479" y="10696575"/>
                </a:lnTo>
                <a:lnTo>
                  <a:pt x="3019412" y="10696575"/>
                </a:lnTo>
                <a:lnTo>
                  <a:pt x="2620784" y="10297985"/>
                </a:lnTo>
                <a:lnTo>
                  <a:pt x="2733929" y="10184841"/>
                </a:lnTo>
                <a:lnTo>
                  <a:pt x="3245713" y="10696575"/>
                </a:lnTo>
                <a:lnTo>
                  <a:pt x="3344634" y="10696575"/>
                </a:lnTo>
                <a:lnTo>
                  <a:pt x="2783408" y="10135362"/>
                </a:lnTo>
                <a:lnTo>
                  <a:pt x="2882696" y="10036073"/>
                </a:lnTo>
                <a:lnTo>
                  <a:pt x="3543211" y="10696575"/>
                </a:lnTo>
                <a:lnTo>
                  <a:pt x="3642169" y="10696575"/>
                </a:lnTo>
                <a:lnTo>
                  <a:pt x="2932150" y="9986620"/>
                </a:lnTo>
                <a:lnTo>
                  <a:pt x="2973705" y="9945065"/>
                </a:lnTo>
                <a:lnTo>
                  <a:pt x="2932150" y="9903511"/>
                </a:lnTo>
                <a:lnTo>
                  <a:pt x="3812197" y="9023464"/>
                </a:lnTo>
                <a:lnTo>
                  <a:pt x="4691964" y="9903231"/>
                </a:lnTo>
                <a:lnTo>
                  <a:pt x="4650130" y="9945065"/>
                </a:lnTo>
                <a:lnTo>
                  <a:pt x="4691951" y="9986899"/>
                </a:lnTo>
                <a:lnTo>
                  <a:pt x="3982224" y="10696575"/>
                </a:lnTo>
                <a:lnTo>
                  <a:pt x="4081183" y="10696575"/>
                </a:lnTo>
                <a:lnTo>
                  <a:pt x="4741405" y="10036353"/>
                </a:lnTo>
                <a:lnTo>
                  <a:pt x="4840694" y="10135641"/>
                </a:lnTo>
                <a:lnTo>
                  <a:pt x="4279760" y="10696575"/>
                </a:lnTo>
                <a:lnTo>
                  <a:pt x="4378680" y="10696575"/>
                </a:lnTo>
                <a:lnTo>
                  <a:pt x="4890173" y="10185121"/>
                </a:lnTo>
                <a:lnTo>
                  <a:pt x="5003279" y="10298227"/>
                </a:lnTo>
                <a:lnTo>
                  <a:pt x="4604944" y="10696575"/>
                </a:lnTo>
                <a:lnTo>
                  <a:pt x="4703915" y="10696575"/>
                </a:lnTo>
                <a:lnTo>
                  <a:pt x="5052771" y="10347719"/>
                </a:lnTo>
                <a:lnTo>
                  <a:pt x="5401640" y="10696575"/>
                </a:lnTo>
                <a:lnTo>
                  <a:pt x="5500573" y="10696575"/>
                </a:lnTo>
                <a:lnTo>
                  <a:pt x="5102225" y="10298265"/>
                </a:lnTo>
                <a:lnTo>
                  <a:pt x="5215369" y="10185121"/>
                </a:lnTo>
                <a:lnTo>
                  <a:pt x="5726862" y="10696575"/>
                </a:lnTo>
                <a:lnTo>
                  <a:pt x="5825795" y="10696575"/>
                </a:lnTo>
                <a:lnTo>
                  <a:pt x="5264848" y="10135641"/>
                </a:lnTo>
                <a:lnTo>
                  <a:pt x="5364137" y="10036353"/>
                </a:lnTo>
                <a:lnTo>
                  <a:pt x="6024372" y="10696575"/>
                </a:lnTo>
                <a:lnTo>
                  <a:pt x="6123330" y="10696575"/>
                </a:lnTo>
                <a:lnTo>
                  <a:pt x="5413591" y="9986899"/>
                </a:lnTo>
                <a:lnTo>
                  <a:pt x="5455424" y="9945065"/>
                </a:lnTo>
                <a:lnTo>
                  <a:pt x="5413591" y="9903231"/>
                </a:lnTo>
                <a:lnTo>
                  <a:pt x="6293358" y="9023464"/>
                </a:lnTo>
                <a:lnTo>
                  <a:pt x="7214959" y="9945065"/>
                </a:lnTo>
                <a:lnTo>
                  <a:pt x="6463385" y="10696575"/>
                </a:lnTo>
                <a:lnTo>
                  <a:pt x="6562344" y="10696575"/>
                </a:lnTo>
                <a:lnTo>
                  <a:pt x="7313841" y="9945065"/>
                </a:lnTo>
                <a:lnTo>
                  <a:pt x="6392253" y="9023464"/>
                </a:lnTo>
                <a:lnTo>
                  <a:pt x="6293358" y="8924569"/>
                </a:lnTo>
                <a:lnTo>
                  <a:pt x="5364137" y="9853790"/>
                </a:lnTo>
                <a:lnTo>
                  <a:pt x="5314645" y="9804298"/>
                </a:lnTo>
                <a:lnTo>
                  <a:pt x="5314645" y="9903282"/>
                </a:lnTo>
                <a:lnTo>
                  <a:pt x="5272862" y="9945065"/>
                </a:lnTo>
                <a:lnTo>
                  <a:pt x="5314645" y="9986861"/>
                </a:lnTo>
                <a:lnTo>
                  <a:pt x="5215356" y="10086149"/>
                </a:lnTo>
                <a:lnTo>
                  <a:pt x="5165877" y="10036670"/>
                </a:lnTo>
                <a:lnTo>
                  <a:pt x="5165877" y="10135629"/>
                </a:lnTo>
                <a:lnTo>
                  <a:pt x="5052733" y="10248773"/>
                </a:lnTo>
                <a:lnTo>
                  <a:pt x="4939627" y="10135667"/>
                </a:lnTo>
                <a:lnTo>
                  <a:pt x="5052771" y="10022535"/>
                </a:lnTo>
                <a:lnTo>
                  <a:pt x="5165877" y="10135629"/>
                </a:lnTo>
                <a:lnTo>
                  <a:pt x="5165877" y="10036670"/>
                </a:lnTo>
                <a:lnTo>
                  <a:pt x="5102263" y="9973043"/>
                </a:lnTo>
                <a:lnTo>
                  <a:pt x="5130241" y="9945065"/>
                </a:lnTo>
                <a:lnTo>
                  <a:pt x="5102263" y="9917100"/>
                </a:lnTo>
                <a:lnTo>
                  <a:pt x="5215369" y="9803994"/>
                </a:lnTo>
                <a:lnTo>
                  <a:pt x="5314645" y="9903282"/>
                </a:lnTo>
                <a:lnTo>
                  <a:pt x="5314645" y="9804298"/>
                </a:lnTo>
                <a:lnTo>
                  <a:pt x="5264861" y="9754502"/>
                </a:lnTo>
                <a:lnTo>
                  <a:pt x="6293358" y="8726005"/>
                </a:lnTo>
                <a:lnTo>
                  <a:pt x="7512418" y="9945065"/>
                </a:lnTo>
                <a:lnTo>
                  <a:pt x="6760908" y="10696575"/>
                </a:lnTo>
                <a:lnTo>
                  <a:pt x="6859841" y="10696575"/>
                </a:lnTo>
                <a:lnTo>
                  <a:pt x="7562850" y="9993617"/>
                </a:lnTo>
                <a:lnTo>
                  <a:pt x="7562850" y="9896513"/>
                </a:lnTo>
                <a:lnTo>
                  <a:pt x="6392253" y="8726005"/>
                </a:lnTo>
                <a:lnTo>
                  <a:pt x="6293358" y="8627110"/>
                </a:lnTo>
                <a:lnTo>
                  <a:pt x="5215369" y="9705022"/>
                </a:lnTo>
                <a:lnTo>
                  <a:pt x="5165877" y="9655531"/>
                </a:lnTo>
                <a:lnTo>
                  <a:pt x="5165877" y="9754514"/>
                </a:lnTo>
                <a:lnTo>
                  <a:pt x="5052771" y="9867621"/>
                </a:lnTo>
                <a:lnTo>
                  <a:pt x="5003279" y="9818141"/>
                </a:lnTo>
                <a:lnTo>
                  <a:pt x="5003279" y="9917100"/>
                </a:lnTo>
                <a:lnTo>
                  <a:pt x="4975314" y="9945065"/>
                </a:lnTo>
                <a:lnTo>
                  <a:pt x="5003279" y="9973043"/>
                </a:lnTo>
                <a:lnTo>
                  <a:pt x="4890135" y="10086188"/>
                </a:lnTo>
                <a:lnTo>
                  <a:pt x="4790859" y="9986899"/>
                </a:lnTo>
                <a:lnTo>
                  <a:pt x="4832693" y="9945065"/>
                </a:lnTo>
                <a:lnTo>
                  <a:pt x="4790859" y="9903231"/>
                </a:lnTo>
                <a:lnTo>
                  <a:pt x="4890135" y="9803955"/>
                </a:lnTo>
                <a:lnTo>
                  <a:pt x="5003279" y="9917100"/>
                </a:lnTo>
                <a:lnTo>
                  <a:pt x="5003279" y="9818141"/>
                </a:lnTo>
                <a:lnTo>
                  <a:pt x="4939614" y="9754476"/>
                </a:lnTo>
                <a:lnTo>
                  <a:pt x="5052733" y="9641357"/>
                </a:lnTo>
                <a:lnTo>
                  <a:pt x="5165877" y="9754514"/>
                </a:lnTo>
                <a:lnTo>
                  <a:pt x="5165877" y="9655531"/>
                </a:lnTo>
                <a:lnTo>
                  <a:pt x="5102225" y="9591865"/>
                </a:lnTo>
                <a:lnTo>
                  <a:pt x="6293358" y="8400732"/>
                </a:lnTo>
                <a:lnTo>
                  <a:pt x="7562850" y="9670288"/>
                </a:lnTo>
                <a:lnTo>
                  <a:pt x="7562850" y="9571330"/>
                </a:lnTo>
                <a:close/>
              </a:path>
              <a:path w="7562850" h="10696575">
                <a:moveTo>
                  <a:pt x="7562850" y="744829"/>
                </a:moveTo>
                <a:lnTo>
                  <a:pt x="6817957" y="0"/>
                </a:lnTo>
                <a:lnTo>
                  <a:pt x="6719024" y="0"/>
                </a:lnTo>
                <a:lnTo>
                  <a:pt x="7476388" y="757351"/>
                </a:lnTo>
                <a:lnTo>
                  <a:pt x="6257328" y="1976424"/>
                </a:lnTo>
                <a:lnTo>
                  <a:pt x="5232679" y="951788"/>
                </a:lnTo>
                <a:lnTo>
                  <a:pt x="5331968" y="852500"/>
                </a:lnTo>
                <a:lnTo>
                  <a:pt x="6257328" y="1777847"/>
                </a:lnTo>
                <a:lnTo>
                  <a:pt x="6282067" y="1753108"/>
                </a:lnTo>
                <a:lnTo>
                  <a:pt x="6232576" y="1703616"/>
                </a:lnTo>
                <a:lnTo>
                  <a:pt x="6257417" y="1728355"/>
                </a:lnTo>
                <a:lnTo>
                  <a:pt x="6282067" y="1753108"/>
                </a:lnTo>
                <a:lnTo>
                  <a:pt x="7277811" y="757351"/>
                </a:lnTo>
                <a:lnTo>
                  <a:pt x="6520447" y="0"/>
                </a:lnTo>
                <a:lnTo>
                  <a:pt x="6421564" y="0"/>
                </a:lnTo>
                <a:lnTo>
                  <a:pt x="7178916" y="757351"/>
                </a:lnTo>
                <a:lnTo>
                  <a:pt x="6257328" y="1678863"/>
                </a:lnTo>
                <a:lnTo>
                  <a:pt x="5381422" y="803046"/>
                </a:lnTo>
                <a:lnTo>
                  <a:pt x="5427116" y="757351"/>
                </a:lnTo>
                <a:lnTo>
                  <a:pt x="5381422" y="711669"/>
                </a:lnTo>
                <a:lnTo>
                  <a:pt x="6093091" y="0"/>
                </a:lnTo>
                <a:lnTo>
                  <a:pt x="5994197" y="0"/>
                </a:lnTo>
                <a:lnTo>
                  <a:pt x="5331968" y="662216"/>
                </a:lnTo>
                <a:lnTo>
                  <a:pt x="5282489" y="612736"/>
                </a:lnTo>
                <a:lnTo>
                  <a:pt x="5282489" y="711695"/>
                </a:lnTo>
                <a:lnTo>
                  <a:pt x="5236832" y="757351"/>
                </a:lnTo>
                <a:lnTo>
                  <a:pt x="5282489" y="803021"/>
                </a:lnTo>
                <a:lnTo>
                  <a:pt x="5183200" y="902296"/>
                </a:lnTo>
                <a:lnTo>
                  <a:pt x="5133721" y="852817"/>
                </a:lnTo>
                <a:lnTo>
                  <a:pt x="5133721" y="951788"/>
                </a:lnTo>
                <a:lnTo>
                  <a:pt x="5020576" y="1064933"/>
                </a:lnTo>
                <a:lnTo>
                  <a:pt x="4971123" y="1015492"/>
                </a:lnTo>
                <a:lnTo>
                  <a:pt x="4971123" y="1114386"/>
                </a:lnTo>
                <a:lnTo>
                  <a:pt x="3783901" y="2301608"/>
                </a:lnTo>
                <a:lnTo>
                  <a:pt x="2588628" y="1106398"/>
                </a:lnTo>
                <a:lnTo>
                  <a:pt x="2701772" y="993254"/>
                </a:lnTo>
                <a:lnTo>
                  <a:pt x="3783901" y="2075307"/>
                </a:lnTo>
                <a:lnTo>
                  <a:pt x="3808641" y="2050567"/>
                </a:lnTo>
                <a:lnTo>
                  <a:pt x="4858004" y="1001268"/>
                </a:lnTo>
                <a:lnTo>
                  <a:pt x="4971123" y="1114386"/>
                </a:lnTo>
                <a:lnTo>
                  <a:pt x="4971123" y="1015492"/>
                </a:lnTo>
                <a:lnTo>
                  <a:pt x="4907458" y="951826"/>
                </a:lnTo>
                <a:lnTo>
                  <a:pt x="5020602" y="838682"/>
                </a:lnTo>
                <a:lnTo>
                  <a:pt x="5133721" y="951788"/>
                </a:lnTo>
                <a:lnTo>
                  <a:pt x="5133721" y="852817"/>
                </a:lnTo>
                <a:lnTo>
                  <a:pt x="5070094" y="789190"/>
                </a:lnTo>
                <a:lnTo>
                  <a:pt x="5101933" y="757351"/>
                </a:lnTo>
                <a:lnTo>
                  <a:pt x="5070094" y="725525"/>
                </a:lnTo>
                <a:lnTo>
                  <a:pt x="5183200" y="612419"/>
                </a:lnTo>
                <a:lnTo>
                  <a:pt x="5282489" y="711695"/>
                </a:lnTo>
                <a:lnTo>
                  <a:pt x="5282489" y="612736"/>
                </a:lnTo>
                <a:lnTo>
                  <a:pt x="5232692" y="562927"/>
                </a:lnTo>
                <a:lnTo>
                  <a:pt x="5795619" y="0"/>
                </a:lnTo>
                <a:lnTo>
                  <a:pt x="5696699" y="0"/>
                </a:lnTo>
                <a:lnTo>
                  <a:pt x="5183200" y="513448"/>
                </a:lnTo>
                <a:lnTo>
                  <a:pt x="5133721" y="463969"/>
                </a:lnTo>
                <a:lnTo>
                  <a:pt x="5133721" y="562927"/>
                </a:lnTo>
                <a:lnTo>
                  <a:pt x="5020602" y="676033"/>
                </a:lnTo>
                <a:lnTo>
                  <a:pt x="4971123" y="626567"/>
                </a:lnTo>
                <a:lnTo>
                  <a:pt x="4971123" y="725525"/>
                </a:lnTo>
                <a:lnTo>
                  <a:pt x="4939284" y="757351"/>
                </a:lnTo>
                <a:lnTo>
                  <a:pt x="4971123" y="789203"/>
                </a:lnTo>
                <a:lnTo>
                  <a:pt x="4857978" y="902347"/>
                </a:lnTo>
                <a:lnTo>
                  <a:pt x="4808525" y="852906"/>
                </a:lnTo>
                <a:lnTo>
                  <a:pt x="4808525" y="951788"/>
                </a:lnTo>
                <a:lnTo>
                  <a:pt x="3783901" y="1976424"/>
                </a:lnTo>
                <a:lnTo>
                  <a:pt x="2751251" y="943775"/>
                </a:lnTo>
                <a:lnTo>
                  <a:pt x="2850540" y="844486"/>
                </a:lnTo>
                <a:lnTo>
                  <a:pt x="3783901" y="1777847"/>
                </a:lnTo>
                <a:lnTo>
                  <a:pt x="3808641" y="1753108"/>
                </a:lnTo>
                <a:lnTo>
                  <a:pt x="3759149" y="1703616"/>
                </a:lnTo>
                <a:lnTo>
                  <a:pt x="3783977" y="1728355"/>
                </a:lnTo>
                <a:lnTo>
                  <a:pt x="3808641" y="1753108"/>
                </a:lnTo>
                <a:lnTo>
                  <a:pt x="4709236" y="852500"/>
                </a:lnTo>
                <a:lnTo>
                  <a:pt x="4808525" y="951788"/>
                </a:lnTo>
                <a:lnTo>
                  <a:pt x="4808525" y="852906"/>
                </a:lnTo>
                <a:lnTo>
                  <a:pt x="4758677" y="803059"/>
                </a:lnTo>
                <a:lnTo>
                  <a:pt x="4804384" y="757351"/>
                </a:lnTo>
                <a:lnTo>
                  <a:pt x="4758690" y="711669"/>
                </a:lnTo>
                <a:lnTo>
                  <a:pt x="4857978" y="612381"/>
                </a:lnTo>
                <a:lnTo>
                  <a:pt x="4971123" y="725525"/>
                </a:lnTo>
                <a:lnTo>
                  <a:pt x="4971123" y="626567"/>
                </a:lnTo>
                <a:lnTo>
                  <a:pt x="4907458" y="562902"/>
                </a:lnTo>
                <a:lnTo>
                  <a:pt x="5020576" y="449783"/>
                </a:lnTo>
                <a:lnTo>
                  <a:pt x="5133721" y="562927"/>
                </a:lnTo>
                <a:lnTo>
                  <a:pt x="5133721" y="463969"/>
                </a:lnTo>
                <a:lnTo>
                  <a:pt x="5070056" y="400304"/>
                </a:lnTo>
                <a:lnTo>
                  <a:pt x="5470360" y="0"/>
                </a:lnTo>
                <a:lnTo>
                  <a:pt x="5371465" y="0"/>
                </a:lnTo>
                <a:lnTo>
                  <a:pt x="5020602" y="350850"/>
                </a:lnTo>
                <a:lnTo>
                  <a:pt x="4669764" y="0"/>
                </a:lnTo>
                <a:lnTo>
                  <a:pt x="4570819" y="0"/>
                </a:lnTo>
                <a:lnTo>
                  <a:pt x="4971123" y="400329"/>
                </a:lnTo>
                <a:lnTo>
                  <a:pt x="4858004" y="513448"/>
                </a:lnTo>
                <a:lnTo>
                  <a:pt x="4344530" y="0"/>
                </a:lnTo>
                <a:lnTo>
                  <a:pt x="4245597" y="0"/>
                </a:lnTo>
                <a:lnTo>
                  <a:pt x="4808525" y="562927"/>
                </a:lnTo>
                <a:lnTo>
                  <a:pt x="4709236" y="662216"/>
                </a:lnTo>
                <a:lnTo>
                  <a:pt x="4047020" y="0"/>
                </a:lnTo>
                <a:lnTo>
                  <a:pt x="3948125" y="0"/>
                </a:lnTo>
                <a:lnTo>
                  <a:pt x="4659782" y="711669"/>
                </a:lnTo>
                <a:lnTo>
                  <a:pt x="4614100" y="757351"/>
                </a:lnTo>
                <a:lnTo>
                  <a:pt x="4659782" y="803046"/>
                </a:lnTo>
                <a:lnTo>
                  <a:pt x="3783901" y="1678863"/>
                </a:lnTo>
                <a:lnTo>
                  <a:pt x="2899981" y="795045"/>
                </a:lnTo>
                <a:lnTo>
                  <a:pt x="2937675" y="757351"/>
                </a:lnTo>
                <a:lnTo>
                  <a:pt x="2899981" y="719670"/>
                </a:lnTo>
                <a:lnTo>
                  <a:pt x="3619665" y="0"/>
                </a:lnTo>
                <a:lnTo>
                  <a:pt x="3520770" y="0"/>
                </a:lnTo>
                <a:lnTo>
                  <a:pt x="2850540" y="670229"/>
                </a:lnTo>
                <a:lnTo>
                  <a:pt x="2801048" y="620737"/>
                </a:lnTo>
                <a:lnTo>
                  <a:pt x="2801048" y="719709"/>
                </a:lnTo>
                <a:lnTo>
                  <a:pt x="2763405" y="757351"/>
                </a:lnTo>
                <a:lnTo>
                  <a:pt x="2801048" y="795007"/>
                </a:lnTo>
                <a:lnTo>
                  <a:pt x="2701760" y="894295"/>
                </a:lnTo>
                <a:lnTo>
                  <a:pt x="2652280" y="844816"/>
                </a:lnTo>
                <a:lnTo>
                  <a:pt x="2652280" y="943775"/>
                </a:lnTo>
                <a:lnTo>
                  <a:pt x="2539136" y="1056919"/>
                </a:lnTo>
                <a:lnTo>
                  <a:pt x="2426017" y="943813"/>
                </a:lnTo>
                <a:lnTo>
                  <a:pt x="2539161" y="830668"/>
                </a:lnTo>
                <a:lnTo>
                  <a:pt x="2652280" y="943775"/>
                </a:lnTo>
                <a:lnTo>
                  <a:pt x="2652280" y="844816"/>
                </a:lnTo>
                <a:lnTo>
                  <a:pt x="2588653" y="781189"/>
                </a:lnTo>
                <a:lnTo>
                  <a:pt x="2612491" y="757351"/>
                </a:lnTo>
                <a:lnTo>
                  <a:pt x="2588653" y="733526"/>
                </a:lnTo>
                <a:lnTo>
                  <a:pt x="2701760" y="620420"/>
                </a:lnTo>
                <a:lnTo>
                  <a:pt x="2801048" y="719709"/>
                </a:lnTo>
                <a:lnTo>
                  <a:pt x="2801048" y="620737"/>
                </a:lnTo>
                <a:lnTo>
                  <a:pt x="2751251" y="570941"/>
                </a:lnTo>
                <a:lnTo>
                  <a:pt x="3322193" y="0"/>
                </a:lnTo>
                <a:lnTo>
                  <a:pt x="3223272" y="0"/>
                </a:lnTo>
                <a:lnTo>
                  <a:pt x="2701772" y="521462"/>
                </a:lnTo>
                <a:lnTo>
                  <a:pt x="2652280" y="471970"/>
                </a:lnTo>
                <a:lnTo>
                  <a:pt x="2652280" y="570941"/>
                </a:lnTo>
                <a:lnTo>
                  <a:pt x="2539161" y="684047"/>
                </a:lnTo>
                <a:lnTo>
                  <a:pt x="2489682" y="634568"/>
                </a:lnTo>
                <a:lnTo>
                  <a:pt x="2489682" y="733539"/>
                </a:lnTo>
                <a:lnTo>
                  <a:pt x="2465857" y="757351"/>
                </a:lnTo>
                <a:lnTo>
                  <a:pt x="2489682" y="781189"/>
                </a:lnTo>
                <a:lnTo>
                  <a:pt x="2376538" y="894334"/>
                </a:lnTo>
                <a:lnTo>
                  <a:pt x="2277237" y="795045"/>
                </a:lnTo>
                <a:lnTo>
                  <a:pt x="2314930" y="757351"/>
                </a:lnTo>
                <a:lnTo>
                  <a:pt x="2277237" y="719683"/>
                </a:lnTo>
                <a:lnTo>
                  <a:pt x="2376525" y="620395"/>
                </a:lnTo>
                <a:lnTo>
                  <a:pt x="2489682" y="733539"/>
                </a:lnTo>
                <a:lnTo>
                  <a:pt x="2489682" y="634568"/>
                </a:lnTo>
                <a:lnTo>
                  <a:pt x="2426017" y="570903"/>
                </a:lnTo>
                <a:lnTo>
                  <a:pt x="2539123" y="457796"/>
                </a:lnTo>
                <a:lnTo>
                  <a:pt x="2652280" y="570941"/>
                </a:lnTo>
                <a:lnTo>
                  <a:pt x="2652280" y="471970"/>
                </a:lnTo>
                <a:lnTo>
                  <a:pt x="2588615" y="408305"/>
                </a:lnTo>
                <a:lnTo>
                  <a:pt x="2996920" y="0"/>
                </a:lnTo>
                <a:lnTo>
                  <a:pt x="2898038" y="0"/>
                </a:lnTo>
                <a:lnTo>
                  <a:pt x="2539174" y="358863"/>
                </a:lnTo>
                <a:lnTo>
                  <a:pt x="2180310" y="0"/>
                </a:lnTo>
                <a:lnTo>
                  <a:pt x="2081364" y="0"/>
                </a:lnTo>
                <a:lnTo>
                  <a:pt x="2489682" y="408343"/>
                </a:lnTo>
                <a:lnTo>
                  <a:pt x="2376563" y="521462"/>
                </a:lnTo>
                <a:lnTo>
                  <a:pt x="1855076" y="0"/>
                </a:lnTo>
                <a:lnTo>
                  <a:pt x="1756143" y="0"/>
                </a:lnTo>
                <a:lnTo>
                  <a:pt x="2327084" y="570941"/>
                </a:lnTo>
                <a:lnTo>
                  <a:pt x="2227796" y="670229"/>
                </a:lnTo>
                <a:lnTo>
                  <a:pt x="1557566" y="0"/>
                </a:lnTo>
                <a:lnTo>
                  <a:pt x="1458683" y="0"/>
                </a:lnTo>
                <a:lnTo>
                  <a:pt x="2178354" y="719670"/>
                </a:lnTo>
                <a:lnTo>
                  <a:pt x="2140674" y="757351"/>
                </a:lnTo>
                <a:lnTo>
                  <a:pt x="2178354" y="795045"/>
                </a:lnTo>
                <a:lnTo>
                  <a:pt x="1294447" y="1678863"/>
                </a:lnTo>
                <a:lnTo>
                  <a:pt x="372846" y="757351"/>
                </a:lnTo>
                <a:lnTo>
                  <a:pt x="1130211" y="0"/>
                </a:lnTo>
                <a:lnTo>
                  <a:pt x="1031316" y="0"/>
                </a:lnTo>
                <a:lnTo>
                  <a:pt x="273951" y="757351"/>
                </a:lnTo>
                <a:lnTo>
                  <a:pt x="1294447" y="1777847"/>
                </a:lnTo>
                <a:lnTo>
                  <a:pt x="1319187" y="1753108"/>
                </a:lnTo>
                <a:lnTo>
                  <a:pt x="1269695" y="1703616"/>
                </a:lnTo>
                <a:lnTo>
                  <a:pt x="1294536" y="1728355"/>
                </a:lnTo>
                <a:lnTo>
                  <a:pt x="1319187" y="1753108"/>
                </a:lnTo>
                <a:lnTo>
                  <a:pt x="2227796" y="844486"/>
                </a:lnTo>
                <a:lnTo>
                  <a:pt x="2327084" y="943775"/>
                </a:lnTo>
                <a:lnTo>
                  <a:pt x="1294447" y="1976424"/>
                </a:lnTo>
                <a:lnTo>
                  <a:pt x="75387" y="757351"/>
                </a:lnTo>
                <a:lnTo>
                  <a:pt x="832739" y="0"/>
                </a:lnTo>
                <a:lnTo>
                  <a:pt x="733818" y="0"/>
                </a:lnTo>
                <a:lnTo>
                  <a:pt x="0" y="733767"/>
                </a:lnTo>
                <a:lnTo>
                  <a:pt x="0" y="780948"/>
                </a:lnTo>
                <a:lnTo>
                  <a:pt x="1294447" y="2075307"/>
                </a:lnTo>
                <a:lnTo>
                  <a:pt x="1319187" y="2050567"/>
                </a:lnTo>
                <a:lnTo>
                  <a:pt x="2376563" y="993267"/>
                </a:lnTo>
                <a:lnTo>
                  <a:pt x="2489682" y="1106373"/>
                </a:lnTo>
                <a:lnTo>
                  <a:pt x="1294447" y="2301608"/>
                </a:lnTo>
                <a:lnTo>
                  <a:pt x="0" y="1007224"/>
                </a:lnTo>
                <a:lnTo>
                  <a:pt x="0" y="1106131"/>
                </a:lnTo>
                <a:lnTo>
                  <a:pt x="1294447" y="2400579"/>
                </a:lnTo>
                <a:lnTo>
                  <a:pt x="1319187" y="2375839"/>
                </a:lnTo>
                <a:lnTo>
                  <a:pt x="2539174" y="1155852"/>
                </a:lnTo>
                <a:lnTo>
                  <a:pt x="3783901" y="2400579"/>
                </a:lnTo>
                <a:lnTo>
                  <a:pt x="3808641" y="2375839"/>
                </a:lnTo>
                <a:lnTo>
                  <a:pt x="5020602" y="1163866"/>
                </a:lnTo>
                <a:lnTo>
                  <a:pt x="6257328" y="2400579"/>
                </a:lnTo>
                <a:lnTo>
                  <a:pt x="6282067" y="2375839"/>
                </a:lnTo>
                <a:lnTo>
                  <a:pt x="7562850" y="1095057"/>
                </a:lnTo>
                <a:lnTo>
                  <a:pt x="7562850" y="996086"/>
                </a:lnTo>
                <a:lnTo>
                  <a:pt x="6257328" y="2301608"/>
                </a:lnTo>
                <a:lnTo>
                  <a:pt x="5070056" y="1114412"/>
                </a:lnTo>
                <a:lnTo>
                  <a:pt x="5183200" y="1001268"/>
                </a:lnTo>
                <a:lnTo>
                  <a:pt x="6257328" y="2075307"/>
                </a:lnTo>
                <a:lnTo>
                  <a:pt x="6282067" y="2050567"/>
                </a:lnTo>
                <a:lnTo>
                  <a:pt x="7562850" y="769874"/>
                </a:lnTo>
                <a:lnTo>
                  <a:pt x="7562850" y="744829"/>
                </a:lnTo>
                <a:close/>
              </a:path>
              <a:path w="7562850" h="10696575">
                <a:moveTo>
                  <a:pt x="7562850" y="419646"/>
                </a:moveTo>
                <a:lnTo>
                  <a:pt x="7143191" y="0"/>
                </a:lnTo>
                <a:lnTo>
                  <a:pt x="7044245" y="0"/>
                </a:lnTo>
                <a:lnTo>
                  <a:pt x="7562850" y="518617"/>
                </a:lnTo>
                <a:lnTo>
                  <a:pt x="7562850" y="419646"/>
                </a:lnTo>
                <a:close/>
              </a:path>
            </a:pathLst>
          </a:custGeom>
          <a:solidFill xmlns:a="http://schemas.openxmlformats.org/drawingml/2006/main">
            <a:srgbClr val="373362"/>
          </a:solidFill>
        </p:spPr>
        <p:txBody>
          <a:bodyPr xmlns:a="http://schemas.openxmlformats.org/drawingml/2006/main" wrap="square" lIns="0" tIns="0" rIns="0" bIns="0"/>
          <a:lstStyle xmlns:a="http://schemas.openxmlformats.org/drawingml/2006/main"/>
          <a:p xmlns:a="http://schemas.openxmlformats.org/drawingml/2006/main"/>
        </p:txBody>
      </p:sp>
      <p:sp>
        <p:nvSpPr>
          <p:cNvPr id="18" name="bg object 18">
            <a:extLst xmlns:a="http://schemas.openxmlformats.org/drawingml/2006/main">
              <a:ext uri="{FF2B5EF4-FFF2-40B4-BE49-F238E27FC236}">
                <a16:creationId xmlns:a16="http://schemas.microsoft.com/office/drawing/2014/main" id="{7D781E56-AB8D-4920-BEFA-B654A5BBF24C}"/>
              </a:ext>
            </a:extLst>
          </p:cNvPr>
          <p:cNvSpPr>
            <a:spLocks xmlns:a="http://schemas.openxmlformats.org/drawingml/2006/main" noGrp="1"/>
          </p:cNvSpPr>
          <p:nvPr/>
        </p:nvSpPr>
        <p:spPr>
          <a:xfrm xmlns:a="http://schemas.openxmlformats.org/drawingml/2006/main">
            <a:off x="0" y="294481"/>
            <a:ext cx="30300654" cy="42214800"/>
          </a:xfrm>
          <a:custGeom xmlns:a="http://schemas.openxmlformats.org/drawingml/2006/main">
            <a:rect l="l" t="t" r="r" b="b"/>
            <a:pathLst>
              <a:path w="7562850" h="10191115">
                <a:moveTo>
                  <a:pt x="7562850" y="10190774"/>
                </a:moveTo>
                <a:lnTo>
                  <a:pt x="0" y="10190774"/>
                </a:lnTo>
                <a:lnTo>
                  <a:pt x="0" y="0"/>
                </a:lnTo>
                <a:lnTo>
                  <a:pt x="7562850" y="0"/>
                </a:lnTo>
                <a:lnTo>
                  <a:pt x="7562850" y="10190774"/>
                </a:lnTo>
                <a:close/>
              </a:path>
            </a:pathLst>
          </a:custGeom>
          <a:solidFill xmlns:a="http://schemas.openxmlformats.org/drawingml/2006/main">
            <a:srgbClr val="FFFFFF"/>
          </a:solidFill>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66481A61-817C-4D23-8F54-4F0CA6818F9A}"/>
              </a:ext>
            </a:extLst>
          </p:cNvPr>
          <p:cNvSpPr>
            <a:spLocks xmlns:a="http://schemas.openxmlformats.org/drawingml/2006/main" noGrp="1"/>
          </p:cNvSpPr>
          <p:nvPr>
            <p:ph type="title" idx="0"/>
          </p:nvPr>
        </p:nvSpPr>
        <p:spPr>
          <a:xfrm xmlns:a="http://schemas.openxmlformats.org/drawingml/2006/main">
            <a:off x="1332416" y="1330512"/>
            <a:ext cx="27635831"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300"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A8DA4E9E-E7DD-4812-9C67-BB8D7ACF272F}"/>
              </a:ext>
            </a:extLst>
          </p:cNvPr>
          <p:cNvSpPr>
            <a:spLocks xmlns:a="http://schemas.openxmlformats.org/drawingml/2006/main" noGrp="1"/>
          </p:cNvSpPr>
          <p:nvPr>
            <p:ph type="body" idx="1"/>
          </p:nvPr>
        </p:nvSpPr>
        <p:spPr>
          <a:xfrm xmlns:a="http://schemas.openxmlformats.org/drawingml/2006/main">
            <a:off x="1515037" y="9844870"/>
            <a:ext cx="27270589"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5D86D43A-8AE8-4AAB-8FF1-D06C06A4B9D7}"/>
              </a:ext>
            </a:extLst>
          </p:cNvPr>
          <p:cNvSpPr>
            <a:spLocks xmlns:a="http://schemas.openxmlformats.org/drawingml/2006/main" noGrp="1"/>
          </p:cNvSpPr>
          <p:nvPr>
            <p:ph type="ftr" idx="5"/>
          </p:nvPr>
        </p:nvSpPr>
        <p:spPr>
          <a:xfrm xmlns:a="http://schemas.openxmlformats.org/drawingml/2006/main">
            <a:off x="10302223" y="39807506"/>
            <a:ext cx="9696209"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3BB78B4B-A837-40FD-88FC-15D834E60D2B}"/>
              </a:ext>
            </a:extLst>
          </p:cNvPr>
          <p:cNvSpPr>
            <a:spLocks xmlns:a="http://schemas.openxmlformats.org/drawingml/2006/main" noGrp="1"/>
          </p:cNvSpPr>
          <p:nvPr>
            <p:ph type="dt" idx="6"/>
          </p:nvPr>
        </p:nvSpPr>
        <p:spPr>
          <a:xfrm xmlns:a="http://schemas.openxmlformats.org/drawingml/2006/main">
            <a:off x="1515037"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1ADA1F0A-5847-41D6-BCEF-4A1C33FFB89C}"/>
              </a:ext>
            </a:extLst>
          </p:cNvPr>
          <p:cNvSpPr>
            <a:spLocks xmlns:a="http://schemas.openxmlformats.org/drawingml/2006/main" noGrp="1"/>
          </p:cNvSpPr>
          <p:nvPr>
            <p:ph type="sldNum" idx="7"/>
          </p:nvPr>
        </p:nvSpPr>
        <p:spPr>
          <a:xfrm xmlns:a="http://schemas.openxmlformats.org/drawingml/2006/main">
            <a:off x="21816473"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f0f2b3cdf54f48"/>
    <p:sldLayoutId xmlns:r="http://schemas.openxmlformats.org/officeDocument/2006/relationships" id="2147483650" r:id="R69d9e92e570e40bd"/>
    <p:sldLayoutId xmlns:r="http://schemas.openxmlformats.org/officeDocument/2006/relationships" id="2147483651" r:id="R18a2bbe8fede4693"/>
    <p:sldLayoutId xmlns:r="http://schemas.openxmlformats.org/officeDocument/2006/relationships" id="2147483652" r:id="R0a173e67ee22412a"/>
    <p:sldLayoutId xmlns:r="http://schemas.openxmlformats.org/officeDocument/2006/relationships" id="2147483653" r:id="R84aecb0c7e9e44e1"/>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eb3b7a6a20d04e41" /><Relationship Type="http://schemas.openxmlformats.org/officeDocument/2006/relationships/image" Target="/ppt/media/image2.png" Id="R462e6380952d4eda" /><Relationship Type="http://schemas.openxmlformats.org/officeDocument/2006/relationships/image" Target="/ppt/media/image.svg" Id="R8f8829122b8b40b7" /><Relationship Type="http://schemas.openxmlformats.org/officeDocument/2006/relationships/image" Target="/ppt/media/image.png" Id="Raca3fe7bfd024c9d" /><Relationship Type="http://schemas.openxmlformats.org/officeDocument/2006/relationships/image" Target="/ppt/media/image2.svg" Id="Rbee89309ffbf4ceb" /><Relationship Type="http://schemas.openxmlformats.org/officeDocument/2006/relationships/notesSlide" Target="/ppt/notesSlides/notesSlide1.xml" Id="Rfca413aa212f418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그림 17"/>
          <p:cNvPicPr>
            <a:picLocks xmlns:a="http://schemas.openxmlformats.org/drawingml/2006/main" noChangeAspect="1"/>
          </p:cNvPicPr>
          <p:nvPr/>
        </p:nvPicPr>
        <p:blipFill>
          <a:blip xmlns:r="http://schemas.openxmlformats.org/officeDocument/2006/relationships" xmlns:a="http://schemas.openxmlformats.org/drawingml/2006/main" r:embed="R462e6380952d4eda"/>
          <a:stretch xmlns:a="http://schemas.openxmlformats.org/drawingml/2006/main">
            <a:fillRect l="0" t="0" r="0" b="0"/>
          </a:stretch>
        </p:blipFill>
        <p:spPr>
          <a:xfrm xmlns:a="http://schemas.openxmlformats.org/drawingml/2006/main">
            <a:off x="24510206" y="2141178"/>
            <a:ext cx="5181573" cy="3470677"/>
          </a:xfrm>
          <a:prstGeom xmlns:a="http://schemas.openxmlformats.org/drawingml/2006/main" prst="rect">
            <a:avLst/>
          </a:prstGeom>
        </p:spPr>
      </p:pic>
      <p:sp>
        <p:nvSpPr>
          <p:cNvPr id="2" name="object 2">
            <a:extLst xmlns:a="http://schemas.openxmlformats.org/drawingml/2006/main">
              <a:ext uri="{FF2B5EF4-FFF2-40B4-BE49-F238E27FC236}">
                <a16:creationId xmlns:a16="http://schemas.microsoft.com/office/drawing/2014/main" id="{C7203565-1505-47A6-A9A4-2D0DC5CCF24A}"/>
              </a:ext>
            </a:extLst>
          </p:cNvPr>
          <p:cNvSpPr>
            <a:spLocks xmlns:a="http://schemas.openxmlformats.org/drawingml/2006/main" noGrp="1"/>
          </p:cNvSpPr>
          <p:nvPr>
            <p:ph type="title" idx="0"/>
          </p:nvPr>
        </p:nvSpPr>
        <p:spPr>
          <a:xfrm xmlns:a="http://schemas.openxmlformats.org/drawingml/2006/main">
            <a:off x="1194896" y="-110897"/>
            <a:ext cx="28039656" cy="4129425"/>
          </a:xfrm>
          <a:prstGeom xmlns:a="http://schemas.openxmlformats.org/drawingml/2006/main" prst="rect">
            <a:avLst/>
          </a:prstGeom>
        </p:spPr>
        <p:txBody>
          <a:bodyPr xmlns:a="http://schemas.openxmlformats.org/drawingml/2006/main" vert="horz" wrap="square" lIns="0" tIns="797649" rIns="0" bIns="0">
            <a:spAutoFit/>
          </a:bodyPr>
          <a:lstStyle xmlns:a="http://schemas.openxmlformats.org/drawingml/2006/main"/>
          <a:p xmlns:a="http://schemas.openxmlformats.org/drawingml/2006/main">
            <a:pPr algn="l">
              <a:spcBef>
                <a:spcPts val="1200"/>
              </a:spcBef>
              <a:buNone/>
            </a:pPr>
            <a:r>
              <a:rPr sz="8800">
                <a:latin typeface="Norwester"/>
                <a:ea typeface="Norwester"/>
                <a:cs typeface="Norwester"/>
              </a:rPr>
              <a:t>Police-Specific Dynamic</a:t>
            </a:r>
          </a:p>
          <a:p xmlns:a="http://schemas.openxmlformats.org/drawingml/2006/main">
            <a:pPr algn="l">
              <a:spcBef>
                <a:spcPts val="1200"/>
              </a:spcBef>
              <a:buNone/>
            </a:pPr>
            <a:r>
              <a:rPr sz="8800">
                <a:latin typeface="Norwester"/>
                <a:ea typeface="Norwester"/>
                <a:cs typeface="Norwester"/>
              </a:rPr>
              <a:t>Zero Trust Access Control System</a:t>
            </a:r>
          </a:p>
        </p:txBody>
      </p:sp>
      <p:sp>
        <p:nvSpPr>
          <p:cNvPr id="13" name="직사각형 12">
            <a:extLst xmlns:a="http://schemas.openxmlformats.org/drawingml/2006/main">
              <a:ext uri="{FF2B5EF4-FFF2-40B4-BE49-F238E27FC236}">
                <a16:creationId xmlns:a16="http://schemas.microsoft.com/office/drawing/2014/main" id="{1A92AF71-3D27-4DBE-DF1D-864EF5DB3D12}"/>
              </a:ext>
            </a:extLst>
          </p:cNvPr>
          <p:cNvSpPr>
            <a:spLocks xmlns:a="http://schemas.openxmlformats.org/drawingml/2006/main" noGrp="1"/>
          </p:cNvSpPr>
          <p:nvPr/>
        </p:nvSpPr>
        <p:spPr>
          <a:xfrm xmlns:a="http://schemas.openxmlformats.org/drawingml/2006/main" flipV="1">
            <a:off x="704810" y="5663119"/>
            <a:ext cx="28865591" cy="122892"/>
          </a:xfrm>
          <a:prstGeom xmlns:a="http://schemas.openxmlformats.org/drawingml/2006/main" prst="rect">
            <a:avLst/>
          </a:prstGeom>
          <a:solidFill xmlns:a="http://schemas.openxmlformats.org/drawingml/2006/main">
            <a:srgbClr val="373362"/>
          </a:solidFill>
          <a:ln xmlns:a="http://schemas.openxmlformats.org/drawingml/2006/main">
            <a:solidFill>
              <a:srgbClr val="37336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5017946-4E8C-A50F-F98A-A4946BAD72A2}"/>
              </a:ext>
            </a:extLst>
          </p:cNvPr>
          <p:cNvSpPr>
            <a:spLocks xmlns:a="http://schemas.openxmlformats.org/drawingml/2006/main" noGrp="1"/>
          </p:cNvSpPr>
          <p:nvPr/>
        </p:nvSpPr>
        <p:spPr>
          <a:xfrm xmlns:a="http://schemas.openxmlformats.org/drawingml/2006/main">
            <a:off x="4047855" y="3502285"/>
            <a:ext cx="22167596" cy="18213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ts val="7000"/>
              </a:lnSpc>
              <a:buNone/>
            </a:pPr>
            <a:r>
              <a:rPr sz="4800">
                <a:solidFill>
                  <a:srgbClr val="373362"/>
                </a:solidFill>
                <a:latin typeface="Lora"/>
                <a:ea typeface="Lora"/>
                <a:cs typeface="Lora"/>
              </a:rPr>
              <a:t>Zero Trust Security Team  |  Jae-Hong Jung · Jun Huh · Jun-Won Hong</a:t>
            </a:r>
          </a:p>
          <a:p xmlns:a="http://schemas.openxmlformats.org/drawingml/2006/main">
            <a:pPr algn="ctr">
              <a:lnSpc>
                <a:spcPts val="7000"/>
              </a:lnSpc>
              <a:buNone/>
            </a:pPr>
            <a:r>
              <a:rPr sz="4800">
                <a:solidFill>
                  <a:srgbClr val="373362"/>
                </a:solidFill>
                <a:latin typeface="Lora"/>
                <a:ea typeface="Lora"/>
                <a:cs typeface="Lora"/>
              </a:rPr>
              <a:t>Advisor: Prof. Taekyoung Yoon · Dept. of Cyber Security, Dankook Univ.</a:t>
            </a:r>
          </a:p>
        </p:txBody>
      </p:sp>
      <p:sp>
        <p:nvSpPr>
          <p:cNvPr id="24" name="직사각형 23">
            <a:extLst xmlns:a="http://schemas.openxmlformats.org/drawingml/2006/main">
              <a:ext uri="{FF2B5EF4-FFF2-40B4-BE49-F238E27FC236}">
                <a16:creationId xmlns:a16="http://schemas.microsoft.com/office/drawing/2014/main" id="{7F0DF47E-C912-4489-2D0F-F9F898CA7124}"/>
              </a:ext>
            </a:extLst>
          </p:cNvPr>
          <p:cNvSpPr>
            <a:spLocks xmlns:a="http://schemas.openxmlformats.org/drawingml/2006/main" noGrp="1"/>
          </p:cNvSpPr>
          <p:nvPr/>
        </p:nvSpPr>
        <p:spPr>
          <a:xfrm xmlns:a="http://schemas.openxmlformats.org/drawingml/2006/main">
            <a:off x="126206" y="294481"/>
            <a:ext cx="30022800" cy="42214800"/>
          </a:xfrm>
          <a:prstGeom xmlns:a="http://schemas.openxmlformats.org/drawingml/2006/main" prst="rect">
            <a:avLst/>
          </a:prstGeom>
          <a:noFill xmlns:a="http://schemas.openxmlformats.org/drawingml/2006/main"/>
          <a:ln xmlns:a="http://schemas.openxmlformats.org/drawingml/2006/main" w="76200">
            <a:solidFill>
              <a:srgbClr val="37336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그림 43"/>
          <p:cNvPicPr>
            <a:picLocks xmlns:a="http://schemas.openxmlformats.org/drawingml/2006/main" noChangeAspect="1"/>
          </p:cNvPicPr>
          <p:nvPr/>
        </p:nvPicPr>
        <p:blipFill>
          <a:blip xmlns:r="http://schemas.openxmlformats.org/officeDocument/2006/relationships" xmlns:a="http://schemas.openxmlformats.org/drawingml/2006/main" r:embed="Raca3fe7bfd024c9d">
            <a:extLst>
              <a:ext uri="{96DAC541-7B7A-43D3-8B79-37D633B846F1}">
                <asvg:svgBlip xmlns:asvg="http://schemas.microsoft.com/office/drawing/2016/SVG/main" r:embed="R8f8829122b8b40b7"/>
              </a:ext>
            </a:extLst>
          </a:blip>
          <a:stretch xmlns:a="http://schemas.openxmlformats.org/drawingml/2006/main">
            <a:fillRect l="0" t="0" r="0" b="0"/>
          </a:stretch>
        </p:blipFill>
        <p:spPr>
          <a:xfrm xmlns:a="http://schemas.openxmlformats.org/drawingml/2006/main">
            <a:off x="1194895" y="29326681"/>
            <a:ext cx="27892869" cy="4993218"/>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62e6380952d4eda">
            <a:extLst>
              <a:ext uri="{96DAC541-7B7A-43D3-8B79-37D633B846F1}">
                <asvg:svgBlip xmlns:asvg="http://schemas.microsoft.com/office/drawing/2016/SVG/main" r:embed="Rbee89309ffbf4ceb"/>
              </a:ext>
            </a:extLst>
          </a:blip>
          <a:stretch xmlns:a="http://schemas.openxmlformats.org/drawingml/2006/main"/>
        </p:blipFill>
        <p:spPr>
          <a:xfrm xmlns:a="http://schemas.openxmlformats.org/drawingml/2006/main">
            <a:off x="914400" y="23764875"/>
            <a:ext cx="14382750" cy="40386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7D7C5543-F6CD-4A33-A908-198F3526F7E3}"/>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68232F48-30A0-41F9-BC1A-36D80728B91E}"/>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sp>
      <p:sp>
        <p:nvSpPr>
          <p:cNvPr id="69" name="">
            <a:extLst xmlns:a="http://schemas.openxmlformats.org/drawingml/2006/main">
              <a:ext uri="{FF2B5EF4-FFF2-40B4-BE49-F238E27FC236}">
                <a16:creationId xmlns:a16="http://schemas.microsoft.com/office/drawing/2014/main" id="{21CE6301-1C94-4EE5-9E97-DE2DD5684F5D}"/>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25214E"/>
            </a:solidFill>
            <a:prstDash val="solid"/>
          </a:ln>
        </p:spPr>
      </p:sp>
      <p:sp>
        <p:nvSpPr>
          <p:cNvPr id="194" name="">
            <a:extLst xmlns:a="http://schemas.openxmlformats.org/drawingml/2006/main">
              <a:ext uri="{FF2B5EF4-FFF2-40B4-BE49-F238E27FC236}">
                <a16:creationId xmlns:a16="http://schemas.microsoft.com/office/drawing/2014/main" id="{D431E86A-891F-4838-A78A-674F33F92B1D}"/>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5" name="">
            <a:extLst xmlns:a="http://schemas.openxmlformats.org/drawingml/2006/main">
              <a:ext uri="{FF2B5EF4-FFF2-40B4-BE49-F238E27FC236}">
                <a16:creationId xmlns:a16="http://schemas.microsoft.com/office/drawing/2014/main" id="{CFD6247B-439B-42DB-B8F2-555EB66F39A5}"/>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196" name="">
            <a:extLst xmlns:a="http://schemas.openxmlformats.org/drawingml/2006/main">
              <a:ext uri="{FF2B5EF4-FFF2-40B4-BE49-F238E27FC236}">
                <a16:creationId xmlns:a16="http://schemas.microsoft.com/office/drawing/2014/main" id="{05EB7D28-849F-4C41-BE3D-B5B4E2E948DB}"/>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344" name="">
            <a:extLst xmlns:a="http://schemas.openxmlformats.org/drawingml/2006/main">
              <a:ext uri="{FF2B5EF4-FFF2-40B4-BE49-F238E27FC236}">
                <a16:creationId xmlns:a16="http://schemas.microsoft.com/office/drawing/2014/main" id="{73F1FC4E-5D77-405A-94F5-F1C13205BC7C}"/>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45" name="">
            <a:extLst xmlns:a="http://schemas.openxmlformats.org/drawingml/2006/main">
              <a:ext uri="{FF2B5EF4-FFF2-40B4-BE49-F238E27FC236}">
                <a16:creationId xmlns:a16="http://schemas.microsoft.com/office/drawing/2014/main" id="{1C800D93-6A45-411E-BB62-FAB1F6BA86B0}"/>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46" name="">
            <a:extLst xmlns:a="http://schemas.openxmlformats.org/drawingml/2006/main">
              <a:ext uri="{FF2B5EF4-FFF2-40B4-BE49-F238E27FC236}">
                <a16:creationId xmlns:a16="http://schemas.microsoft.com/office/drawing/2014/main" id="{464D399F-F90B-4E61-9493-9AFF1E394EED}"/>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409" name="">
            <a:extLst xmlns:a="http://schemas.openxmlformats.org/drawingml/2006/main">
              <a:ext uri="{FF2B5EF4-FFF2-40B4-BE49-F238E27FC236}">
                <a16:creationId xmlns:a16="http://schemas.microsoft.com/office/drawing/2014/main" id="{F683BC8C-4D16-4078-9E9B-0CF6EDFE8C52}"/>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0" name="">
            <a:extLst xmlns:a="http://schemas.openxmlformats.org/drawingml/2006/main">
              <a:ext uri="{FF2B5EF4-FFF2-40B4-BE49-F238E27FC236}">
                <a16:creationId xmlns:a16="http://schemas.microsoft.com/office/drawing/2014/main" id="{DDB25396-E6BC-47BD-A79D-C598FE57DE65}"/>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1" name="">
            <a:extLst xmlns:a="http://schemas.openxmlformats.org/drawingml/2006/main">
              <a:ext uri="{FF2B5EF4-FFF2-40B4-BE49-F238E27FC236}">
                <a16:creationId xmlns:a16="http://schemas.microsoft.com/office/drawing/2014/main" id="{970FEFA7-724B-4570-8FD6-1AABC560977C}"/>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412" name="">
            <a:extLst xmlns:a="http://schemas.openxmlformats.org/drawingml/2006/main">
              <a:ext uri="{FF2B5EF4-FFF2-40B4-BE49-F238E27FC236}">
                <a16:creationId xmlns:a16="http://schemas.microsoft.com/office/drawing/2014/main" id="{5F57800F-1137-475E-9597-C9B6A96C4705}"/>
              </a:ext>
            </a:extLst>
          </p:cNvPr>
          <p:cNvSpPr>
            <a:spLocks xmlns:a="http://schemas.openxmlformats.org/drawingml/2006/main" noGrp="1"/>
          </p:cNvSpPr>
          <p:nvPr/>
        </p:nvSpPr>
        <p:spPr>
          <a:xfrm xmlns:a="http://schemas.openxmlformats.org/drawingml/2006/main">
            <a:off x="15106650" y="6096000"/>
            <a:ext cx="38100" cy="325755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3" name="">
            <a:extLst xmlns:a="http://schemas.openxmlformats.org/drawingml/2006/main">
              <a:ext uri="{FF2B5EF4-FFF2-40B4-BE49-F238E27FC236}">
                <a16:creationId xmlns:a16="http://schemas.microsoft.com/office/drawing/2014/main" id="{1CD38137-2E2C-4CA4-9561-CEE99EAB7EEB}"/>
              </a:ext>
            </a:extLst>
          </p:cNvPr>
          <p:cNvSpPr>
            <a:spLocks xmlns:a="http://schemas.openxmlformats.org/drawingml/2006/main" noGrp="1"/>
          </p:cNvSpPr>
          <p:nvPr/>
        </p:nvSpPr>
        <p:spPr>
          <a:xfrm xmlns:a="http://schemas.openxmlformats.org/drawingml/2006/main">
            <a:off x="838200" y="61912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14" name="">
            <a:extLst xmlns:a="http://schemas.openxmlformats.org/drawingml/2006/main">
              <a:ext uri="{FF2B5EF4-FFF2-40B4-BE49-F238E27FC236}">
                <a16:creationId xmlns:a16="http://schemas.microsoft.com/office/drawing/2014/main" id="{335A37C8-124A-4C37-B133-BD703A2E6F0A}"/>
              </a:ext>
            </a:extLst>
          </p:cNvPr>
          <p:cNvSpPr>
            <a:spLocks xmlns:a="http://schemas.openxmlformats.org/drawingml/2006/main" noGrp="1"/>
          </p:cNvSpPr>
          <p:nvPr/>
        </p:nvSpPr>
        <p:spPr>
          <a:xfrm xmlns:a="http://schemas.openxmlformats.org/drawingml/2006/main">
            <a:off x="838200" y="61912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5" name="">
            <a:extLst xmlns:a="http://schemas.openxmlformats.org/drawingml/2006/main">
              <a:ext uri="{FF2B5EF4-FFF2-40B4-BE49-F238E27FC236}">
                <a16:creationId xmlns:a16="http://schemas.microsoft.com/office/drawing/2014/main" id="{B8C25DDB-11CD-4353-937D-8E3D1A369DA7}"/>
              </a:ext>
            </a:extLst>
          </p:cNvPr>
          <p:cNvSpPr>
            <a:spLocks xmlns:a="http://schemas.openxmlformats.org/drawingml/2006/main" noGrp="1"/>
          </p:cNvSpPr>
          <p:nvPr/>
        </p:nvSpPr>
        <p:spPr>
          <a:xfrm xmlns:a="http://schemas.openxmlformats.org/drawingml/2006/main">
            <a:off x="1009650" y="62769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1. Abstract</a:t>
            </a:r>
          </a:p>
        </p:txBody>
      </p:sp>
      <p:sp>
        <p:nvSpPr>
          <p:cNvPr id="416" name="">
            <a:extLst xmlns:a="http://schemas.openxmlformats.org/drawingml/2006/main">
              <a:ext uri="{FF2B5EF4-FFF2-40B4-BE49-F238E27FC236}">
                <a16:creationId xmlns:a16="http://schemas.microsoft.com/office/drawing/2014/main" id="{41F44729-5012-4A9D-BA49-BF7F822850A8}"/>
              </a:ext>
            </a:extLst>
          </p:cNvPr>
          <p:cNvSpPr>
            <a:spLocks xmlns:a="http://schemas.openxmlformats.org/drawingml/2006/main" noGrp="1"/>
          </p:cNvSpPr>
          <p:nvPr/>
        </p:nvSpPr>
        <p:spPr>
          <a:xfrm xmlns:a="http://schemas.openxmlformats.org/drawingml/2006/main">
            <a:off x="1028700" y="68770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Police investigation data contains sensitive personal information, case evidence, and investigative leads. When an authorized insider misuses such data, detection is harder than in many external-intrusion cases because the user already owns a valid account and partial permission. This work proposes a police-specific dynamic Zero Trust access-control system that re-verifies every request after login. The system combines account, registered device, location, assigned case, data grade, and behavior history to compute request-level risk, then decides full access, view-only access, masking, re-authentication, admin approval, or blocking. The goal is to reduce sensitive-data exposure while preserving legitimate investigation work.</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research question is how to continuously re-evaluate access by already-authenticated users inside the operational context of police work. The proposed design does not rely only on a static permission table; it evaluates case assignment, data sensitivity, endpoint trust, location, repeated behavior, and download intent together. The result is a policy-engine layer that can sit above existing authentication systems while targeting confidentiality, continuity, and accountability.</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final artifact assumes legitimate police work, but implements the principle that permission should change when request context changes. Its significance is the shift from “authenticated once, trusted continuously” to “trust is recomputed for every request.”</a:t>
            </a:r>
          </a:p>
        </p:txBody>
      </p:sp>
      <p:sp>
        <p:nvSpPr>
          <p:cNvPr id="417" name="">
            <a:extLst xmlns:a="http://schemas.openxmlformats.org/drawingml/2006/main">
              <a:ext uri="{FF2B5EF4-FFF2-40B4-BE49-F238E27FC236}">
                <a16:creationId xmlns:a16="http://schemas.microsoft.com/office/drawing/2014/main" id="{EB1C2E10-EE14-4404-9686-5120642436A6}"/>
              </a:ext>
            </a:extLst>
          </p:cNvPr>
          <p:cNvSpPr>
            <a:spLocks xmlns:a="http://schemas.openxmlformats.org/drawingml/2006/main" noGrp="1"/>
          </p:cNvSpPr>
          <p:nvPr/>
        </p:nvSpPr>
        <p:spPr>
          <a:xfrm xmlns:a="http://schemas.openxmlformats.org/drawingml/2006/main">
            <a:off x="838200" y="121729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18" name="">
            <a:extLst xmlns:a="http://schemas.openxmlformats.org/drawingml/2006/main">
              <a:ext uri="{FF2B5EF4-FFF2-40B4-BE49-F238E27FC236}">
                <a16:creationId xmlns:a16="http://schemas.microsoft.com/office/drawing/2014/main" id="{C78BC173-693A-4C67-8038-22CFBE3EF6E2}"/>
              </a:ext>
            </a:extLst>
          </p:cNvPr>
          <p:cNvSpPr>
            <a:spLocks xmlns:a="http://schemas.openxmlformats.org/drawingml/2006/main" noGrp="1"/>
          </p:cNvSpPr>
          <p:nvPr/>
        </p:nvSpPr>
        <p:spPr>
          <a:xfrm xmlns:a="http://schemas.openxmlformats.org/drawingml/2006/main">
            <a:off x="838200" y="121729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9" name="">
            <a:extLst xmlns:a="http://schemas.openxmlformats.org/drawingml/2006/main">
              <a:ext uri="{FF2B5EF4-FFF2-40B4-BE49-F238E27FC236}">
                <a16:creationId xmlns:a16="http://schemas.microsoft.com/office/drawing/2014/main" id="{F529BBC1-CED0-4C12-A080-C190069D2713}"/>
              </a:ext>
            </a:extLst>
          </p:cNvPr>
          <p:cNvSpPr>
            <a:spLocks xmlns:a="http://schemas.openxmlformats.org/drawingml/2006/main" noGrp="1"/>
          </p:cNvSpPr>
          <p:nvPr/>
        </p:nvSpPr>
        <p:spPr>
          <a:xfrm xmlns:a="http://schemas.openxmlformats.org/drawingml/2006/main">
            <a:off x="1009650" y="122586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2. Problem Definition</a:t>
            </a:r>
          </a:p>
        </p:txBody>
      </p:sp>
      <p:sp>
        <p:nvSpPr>
          <p:cNvPr id="420" name="">
            <a:extLst xmlns:a="http://schemas.openxmlformats.org/drawingml/2006/main">
              <a:ext uri="{FF2B5EF4-FFF2-40B4-BE49-F238E27FC236}">
                <a16:creationId xmlns:a16="http://schemas.microsoft.com/office/drawing/2014/main" id="{77687333-539D-42C6-8ACE-77C0B922B883}"/>
              </a:ext>
            </a:extLst>
          </p:cNvPr>
          <p:cNvSpPr>
            <a:spLocks xmlns:a="http://schemas.openxmlformats.org/drawingml/2006/main" noGrp="1"/>
          </p:cNvSpPr>
          <p:nvPr/>
        </p:nvSpPr>
        <p:spPr>
          <a:xfrm xmlns:a="http://schemas.openxmlformats.org/drawingml/2006/main">
            <a:off x="1028700" y="128587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Conventional access control usually grants permission according to role or department. In insider-threat scenarios, however, authentication alone is insufficient because the user may already be legitimate. The same police account can have different risk depending on whether the case is assigned, whether the location is allowed, whether the device is registered, and whether the behavior pattern is normal. Therefore, the system must evaluate not only who is accessing, but also which case is accessed, from where, with which device, and at what frequency. This work shifts the focus from after-the-fact discipline to preventive control at the request stage.</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Overly aggressive blocking is also a problem in police operations. Urgent investigations and field response may require exception handling, but uncontrolled exceptions weaken insider-risk control. Therefore, this work frames the problem as staged access governance rather than binary allow or deny: higher risk moves the request toward view-only access, masking, re-authentication, admin approval, and post-review.</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target is therefore broader than account takeover. It includes over-querying by authorized users, curiosity-driven lookup, non-assigned case access, and attempted data exfiltration. These behaviors are moved from post-log analysis into pre-access policy judgment.</a:t>
            </a:r>
          </a:p>
        </p:txBody>
      </p:sp>
      <p:sp>
        <p:nvSpPr>
          <p:cNvPr id="421" name="">
            <a:extLst xmlns:a="http://schemas.openxmlformats.org/drawingml/2006/main">
              <a:ext uri="{FF2B5EF4-FFF2-40B4-BE49-F238E27FC236}">
                <a16:creationId xmlns:a16="http://schemas.microsoft.com/office/drawing/2014/main" id="{6F26D445-EFBC-406D-A362-576FDA70DD51}"/>
              </a:ext>
            </a:extLst>
          </p:cNvPr>
          <p:cNvSpPr>
            <a:spLocks xmlns:a="http://schemas.openxmlformats.org/drawingml/2006/main" noGrp="1"/>
          </p:cNvSpPr>
          <p:nvPr/>
        </p:nvSpPr>
        <p:spPr>
          <a:xfrm xmlns:a="http://schemas.openxmlformats.org/drawingml/2006/main">
            <a:off x="838200" y="181546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22" name="">
            <a:extLst xmlns:a="http://schemas.openxmlformats.org/drawingml/2006/main">
              <a:ext uri="{FF2B5EF4-FFF2-40B4-BE49-F238E27FC236}">
                <a16:creationId xmlns:a16="http://schemas.microsoft.com/office/drawing/2014/main" id="{18F0726A-50CC-4254-98A0-D27CC8EFBD52}"/>
              </a:ext>
            </a:extLst>
          </p:cNvPr>
          <p:cNvSpPr>
            <a:spLocks xmlns:a="http://schemas.openxmlformats.org/drawingml/2006/main" noGrp="1"/>
          </p:cNvSpPr>
          <p:nvPr/>
        </p:nvSpPr>
        <p:spPr>
          <a:xfrm xmlns:a="http://schemas.openxmlformats.org/drawingml/2006/main">
            <a:off x="838200" y="181546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23" name="">
            <a:extLst xmlns:a="http://schemas.openxmlformats.org/drawingml/2006/main">
              <a:ext uri="{FF2B5EF4-FFF2-40B4-BE49-F238E27FC236}">
                <a16:creationId xmlns:a16="http://schemas.microsoft.com/office/drawing/2014/main" id="{B66E8C7B-DF82-482D-BAA4-EFE29EAD390D}"/>
              </a:ext>
            </a:extLst>
          </p:cNvPr>
          <p:cNvSpPr>
            <a:spLocks xmlns:a="http://schemas.openxmlformats.org/drawingml/2006/main" noGrp="1"/>
          </p:cNvSpPr>
          <p:nvPr/>
        </p:nvSpPr>
        <p:spPr>
          <a:xfrm xmlns:a="http://schemas.openxmlformats.org/drawingml/2006/main">
            <a:off x="1009650" y="182403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3. Limitations of Existing Approaches</a:t>
            </a:r>
          </a:p>
        </p:txBody>
      </p:sp>
      <p:sp>
        <p:nvSpPr>
          <p:cNvPr id="424" name="">
            <a:extLst xmlns:a="http://schemas.openxmlformats.org/drawingml/2006/main">
              <a:ext uri="{FF2B5EF4-FFF2-40B4-BE49-F238E27FC236}">
                <a16:creationId xmlns:a16="http://schemas.microsoft.com/office/drawing/2014/main" id="{71E42263-5055-499B-9668-06C11D1DD7C2}"/>
              </a:ext>
            </a:extLst>
          </p:cNvPr>
          <p:cNvSpPr>
            <a:spLocks xmlns:a="http://schemas.openxmlformats.org/drawingml/2006/main" noGrp="1"/>
          </p:cNvSpPr>
          <p:nvPr/>
        </p:nvSpPr>
        <p:spPr>
          <a:xfrm xmlns:a="http://schemas.openxmlformats.org/drawingml/2006/main">
            <a:off x="1028700" y="188404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RBAC is simple and manageable, but it cannot reflect fine-grained differences inside the same role or department. ABAC can use more attributes, but real operation becomes complex, and behavior accumulation or real-time risk changes usually require a separate engine. Audit logs are useful for post-incident investigation, but they do not reduce exposure before access. This work does not replace role and attribute controls. Instead, it adds a context-aware risk layer above existing permission boundaries, making the system compatible with conventional access-control assumptions while adding domain-specific protection for investigation data.</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Generic enterprise Zero Trust also has limits when directly applied to investigation data. The operational unit is often not only a department or rank, but a case, jurisdiction, evidence grade, and investigation phase. This work therefore uses case-level context as a first-class policy variable and reflects both the exception-driven nature of investigations and the need for strict control.</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To address this gap, the proposed method does not discard RBAC or ABAC. It adds risk scoring and staged decisions above them, making the design an extension layer that remains compatible with existing permission systems while enabling case-centered control.</a:t>
            </a:r>
          </a:p>
        </p:txBody>
      </p:sp>
      <p:sp>
        <p:nvSpPr>
          <p:cNvPr id="425" name="">
            <a:extLst xmlns:a="http://schemas.openxmlformats.org/drawingml/2006/main">
              <a:ext uri="{FF2B5EF4-FFF2-40B4-BE49-F238E27FC236}">
                <a16:creationId xmlns:a16="http://schemas.microsoft.com/office/drawing/2014/main" id="{49C0AAF4-ECB8-4925-81B3-C1FD6A2FEDA8}"/>
              </a:ext>
            </a:extLst>
          </p:cNvPr>
          <p:cNvSpPr>
            <a:spLocks xmlns:a="http://schemas.openxmlformats.org/drawingml/2006/main" noGrp="1"/>
          </p:cNvSpPr>
          <p:nvPr/>
        </p:nvSpPr>
        <p:spPr>
          <a:xfrm xmlns:a="http://schemas.openxmlformats.org/drawingml/2006/main">
            <a:off x="838200" y="24136350"/>
            <a:ext cx="14173200" cy="7429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26" name="">
            <a:extLst xmlns:a="http://schemas.openxmlformats.org/drawingml/2006/main">
              <a:ext uri="{FF2B5EF4-FFF2-40B4-BE49-F238E27FC236}">
                <a16:creationId xmlns:a16="http://schemas.microsoft.com/office/drawing/2014/main" id="{1BAAD445-8EF4-49F9-AB29-78AFD3556BE0}"/>
              </a:ext>
            </a:extLst>
          </p:cNvPr>
          <p:cNvSpPr>
            <a:spLocks xmlns:a="http://schemas.openxmlformats.org/drawingml/2006/main" noGrp="1"/>
          </p:cNvSpPr>
          <p:nvPr/>
        </p:nvSpPr>
        <p:spPr>
          <a:xfrm xmlns:a="http://schemas.openxmlformats.org/drawingml/2006/main">
            <a:off x="838200" y="241363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27" name="">
            <a:extLst xmlns:a="http://schemas.openxmlformats.org/drawingml/2006/main">
              <a:ext uri="{FF2B5EF4-FFF2-40B4-BE49-F238E27FC236}">
                <a16:creationId xmlns:a16="http://schemas.microsoft.com/office/drawing/2014/main" id="{C9CAC27B-9102-4D56-886D-65A0DD8EC242}"/>
              </a:ext>
            </a:extLst>
          </p:cNvPr>
          <p:cNvSpPr>
            <a:spLocks xmlns:a="http://schemas.openxmlformats.org/drawingml/2006/main" noGrp="1"/>
          </p:cNvSpPr>
          <p:nvPr/>
        </p:nvSpPr>
        <p:spPr>
          <a:xfrm xmlns:a="http://schemas.openxmlformats.org/drawingml/2006/main">
            <a:off x="1009650" y="242220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4. Proposed System Architecture</a:t>
            </a:r>
          </a:p>
        </p:txBody>
      </p:sp>
      <p:sp>
        <p:nvSpPr>
          <p:cNvPr id="428" name="">
            <a:extLst xmlns:a="http://schemas.openxmlformats.org/drawingml/2006/main">
              <a:ext uri="{FF2B5EF4-FFF2-40B4-BE49-F238E27FC236}">
                <a16:creationId xmlns:a16="http://schemas.microsoft.com/office/drawing/2014/main" id="{2B921F61-B9FD-42FC-8267-CDD31EF73164}"/>
              </a:ext>
            </a:extLst>
          </p:cNvPr>
          <p:cNvSpPr>
            <a:spLocks xmlns:a="http://schemas.openxmlformats.org/drawingml/2006/main" noGrp="1"/>
          </p:cNvSpPr>
          <p:nvPr/>
        </p:nvSpPr>
        <p:spPr>
          <a:xfrm xmlns:a="http://schemas.openxmlformats.org/drawingml/2006/main">
            <a:off x="1028700" y="24822150"/>
            <a:ext cx="13792200" cy="504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proposed system consists of a request context collector, policy and risk engine, access-decision module, admin approval module, and audit-log repository. When a user requests to view or download investigation data, the system collects account, department, assigned case, data grade, location, registered device, time, behavior frequency, and requested action. Immediate block rules first handle concurrent-auth failure, impossible travel, disallowed location, and risky download. If the request is not blocked, the 4-axis risk score is computed and mapped with decision confidence to an L1-L5 outcome. Every decision is logged for review and accountability.</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architectural point is the separation between immediate-block rules and scored decisions. Obvious risks are blocked quickly to reduce exposure, while gray-zone requests move to restricted viewing or approval according to risk score and policy confidence. This separation reduces unnecessary interruption from false positives while still enabling preventive control for high-risk access.</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admin approval module is not just an exception channel. It is a control point for validating high-risk requests. Justification, scope, TTL, and post-review status are stored together so emergency access does not silently become permanent privilege.</a:t>
            </a:r>
          </a:p>
        </p:txBody>
      </p:sp>
      <p:sp>
        <p:nvSpPr>
          <p:cNvPr id="429" name="">
            <a:extLst xmlns:a="http://schemas.openxmlformats.org/drawingml/2006/main">
              <a:ext uri="{FF2B5EF4-FFF2-40B4-BE49-F238E27FC236}">
                <a16:creationId xmlns:a16="http://schemas.microsoft.com/office/drawing/2014/main" id="{C3A04853-6000-45F7-B94D-D1D49DE9EC36}"/>
              </a:ext>
            </a:extLst>
          </p:cNvPr>
          <p:cNvSpPr>
            <a:spLocks xmlns:a="http://schemas.openxmlformats.org/drawingml/2006/main" noGrp="1"/>
          </p:cNvSpPr>
          <p:nvPr/>
        </p:nvSpPr>
        <p:spPr>
          <a:xfrm xmlns:a="http://schemas.openxmlformats.org/drawingml/2006/main">
            <a:off x="1104900" y="29965650"/>
            <a:ext cx="13639800" cy="1447800"/>
          </a:xfrm>
          <a:prstGeom xmlns:a="http://schemas.openxmlformats.org/drawingml/2006/main" prst="rect">
            <a:avLst/>
          </a:prstGeom>
          <a:solidFill xmlns:a="http://schemas.openxmlformats.org/drawingml/2006/main">
            <a:srgbClr val="F7F9FC"/>
          </a:solidFill>
          <a:ln xmlns:a="http://schemas.openxmlformats.org/drawingml/2006/main" w="9525">
            <a:solidFill>
              <a:srgbClr val="D7DFEC"/>
            </a:solidFill>
            <a:prstDash val="solid"/>
          </a:ln>
        </p:spPr>
      </p:sp>
      <p:sp>
        <p:nvSpPr>
          <p:cNvPr id="430" name="">
            <a:extLst xmlns:a="http://schemas.openxmlformats.org/drawingml/2006/main">
              <a:ext uri="{FF2B5EF4-FFF2-40B4-BE49-F238E27FC236}">
                <a16:creationId xmlns:a16="http://schemas.microsoft.com/office/drawing/2014/main" id="{FE7C22CE-0602-460C-BAB2-EC38C68A10C6}"/>
              </a:ext>
            </a:extLst>
          </p:cNvPr>
          <p:cNvSpPr>
            <a:spLocks xmlns:a="http://schemas.openxmlformats.org/drawingml/2006/main" noGrp="1"/>
          </p:cNvSpPr>
          <p:nvPr/>
        </p:nvSpPr>
        <p:spPr>
          <a:xfrm xmlns:a="http://schemas.openxmlformats.org/drawingml/2006/main">
            <a:off x="1238250" y="30060900"/>
            <a:ext cx="1337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2B2A55"/>
                </a:solidFill>
                <a:latin typeface="Segoe UI"/>
                <a:ea typeface="Segoe UI"/>
                <a:cs typeface="Segoe UI"/>
              </a:defRPr>
            </a:pPr>
            <a:r>
              <a:rPr sz="1125" b="1">
                <a:solidFill>
                  <a:srgbClr val="2B2A55"/>
                </a:solidFill>
                <a:latin typeface="Segoe UI"/>
                <a:ea typeface="Segoe UI"/>
                <a:cs typeface="Segoe UI"/>
              </a:rPr>
              <a:t>Fig. 1. Request-to-decision flow</a:t>
            </a:r>
          </a:p>
        </p:txBody>
      </p:sp>
      <p:sp>
        <p:nvSpPr>
          <p:cNvPr id="431" name="">
            <a:extLst xmlns:a="http://schemas.openxmlformats.org/drawingml/2006/main">
              <a:ext uri="{FF2B5EF4-FFF2-40B4-BE49-F238E27FC236}">
                <a16:creationId xmlns:a16="http://schemas.microsoft.com/office/drawing/2014/main" id="{78BC2573-FEC4-4FA7-A338-E1D1105C24D1}"/>
              </a:ext>
            </a:extLst>
          </p:cNvPr>
          <p:cNvSpPr>
            <a:spLocks xmlns:a="http://schemas.openxmlformats.org/drawingml/2006/main" noGrp="1"/>
          </p:cNvSpPr>
          <p:nvPr/>
        </p:nvSpPr>
        <p:spPr>
          <a:xfrm xmlns:a="http://schemas.openxmlformats.org/drawingml/2006/main">
            <a:off x="1314450" y="30422850"/>
            <a:ext cx="2571750" cy="4953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432" name="">
            <a:extLst xmlns:a="http://schemas.openxmlformats.org/drawingml/2006/main">
              <a:ext uri="{FF2B5EF4-FFF2-40B4-BE49-F238E27FC236}">
                <a16:creationId xmlns:a16="http://schemas.microsoft.com/office/drawing/2014/main" id="{4868C0D1-662A-49A1-BEE6-15277BCFE999}"/>
              </a:ext>
            </a:extLst>
          </p:cNvPr>
          <p:cNvSpPr>
            <a:spLocks xmlns:a="http://schemas.openxmlformats.org/drawingml/2006/main" noGrp="1"/>
          </p:cNvSpPr>
          <p:nvPr/>
        </p:nvSpPr>
        <p:spPr>
          <a:xfrm xmlns:a="http://schemas.openxmlformats.org/drawingml/2006/main">
            <a:off x="1314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Segoe UI"/>
                <a:ea typeface="Segoe UI"/>
                <a:cs typeface="Segoe UI"/>
              </a:defRPr>
            </a:pPr>
            <a:r>
              <a:rPr sz="975" b="1">
                <a:solidFill>
                  <a:srgbClr val="FFFFFF"/>
                </a:solidFill>
                <a:latin typeface="Segoe UI"/>
                <a:ea typeface="Segoe UI"/>
                <a:cs typeface="Segoe UI"/>
              </a:rPr>
              <a:t>Request</a:t>
            </a:r>
          </a:p>
        </p:txBody>
      </p:sp>
      <p:sp>
        <p:nvSpPr>
          <p:cNvPr id="433" name="">
            <a:extLst xmlns:a="http://schemas.openxmlformats.org/drawingml/2006/main">
              <a:ext uri="{FF2B5EF4-FFF2-40B4-BE49-F238E27FC236}">
                <a16:creationId xmlns:a16="http://schemas.microsoft.com/office/drawing/2014/main" id="{66F95003-B719-4A88-9719-C7EFF6A5C843}"/>
              </a:ext>
            </a:extLst>
          </p:cNvPr>
          <p:cNvSpPr>
            <a:spLocks xmlns:a="http://schemas.openxmlformats.org/drawingml/2006/main" noGrp="1"/>
          </p:cNvSpPr>
          <p:nvPr/>
        </p:nvSpPr>
        <p:spPr>
          <a:xfrm xmlns:a="http://schemas.openxmlformats.org/drawingml/2006/main">
            <a:off x="3886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34" name="">
            <a:extLst xmlns:a="http://schemas.openxmlformats.org/drawingml/2006/main">
              <a:ext uri="{FF2B5EF4-FFF2-40B4-BE49-F238E27FC236}">
                <a16:creationId xmlns:a16="http://schemas.microsoft.com/office/drawing/2014/main" id="{34DABFB1-35E5-4BC5-9837-9B14BBE829F7}"/>
              </a:ext>
            </a:extLst>
          </p:cNvPr>
          <p:cNvSpPr>
            <a:spLocks xmlns:a="http://schemas.openxmlformats.org/drawingml/2006/main" noGrp="1"/>
          </p:cNvSpPr>
          <p:nvPr/>
        </p:nvSpPr>
        <p:spPr>
          <a:xfrm xmlns:a="http://schemas.openxmlformats.org/drawingml/2006/main">
            <a:off x="3981450" y="30422850"/>
            <a:ext cx="2571750" cy="4953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35" name="">
            <a:extLst xmlns:a="http://schemas.openxmlformats.org/drawingml/2006/main">
              <a:ext uri="{FF2B5EF4-FFF2-40B4-BE49-F238E27FC236}">
                <a16:creationId xmlns:a16="http://schemas.microsoft.com/office/drawing/2014/main" id="{CB4C1CE7-7A85-4EEA-8B6C-9765F3D8C852}"/>
              </a:ext>
            </a:extLst>
          </p:cNvPr>
          <p:cNvSpPr>
            <a:spLocks xmlns:a="http://schemas.openxmlformats.org/drawingml/2006/main" noGrp="1"/>
          </p:cNvSpPr>
          <p:nvPr/>
        </p:nvSpPr>
        <p:spPr>
          <a:xfrm xmlns:a="http://schemas.openxmlformats.org/drawingml/2006/main">
            <a:off x="3981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Segoe UI"/>
                <a:ea typeface="Segoe UI"/>
                <a:cs typeface="Segoe UI"/>
              </a:defRPr>
            </a:pPr>
            <a:r>
              <a:rPr sz="975" b="1">
                <a:solidFill>
                  <a:srgbClr val="FFFFFF"/>
                </a:solidFill>
                <a:latin typeface="Segoe UI"/>
                <a:ea typeface="Segoe UI"/>
                <a:cs typeface="Segoe UI"/>
              </a:rPr>
              <a:t>Context</a:t>
            </a:r>
          </a:p>
        </p:txBody>
      </p:sp>
      <p:sp>
        <p:nvSpPr>
          <p:cNvPr id="436" name="">
            <a:extLst xmlns:a="http://schemas.openxmlformats.org/drawingml/2006/main">
              <a:ext uri="{FF2B5EF4-FFF2-40B4-BE49-F238E27FC236}">
                <a16:creationId xmlns:a16="http://schemas.microsoft.com/office/drawing/2014/main" id="{487A9A11-5940-42A2-9F1E-2A6F6E7D40B3}"/>
              </a:ext>
            </a:extLst>
          </p:cNvPr>
          <p:cNvSpPr>
            <a:spLocks xmlns:a="http://schemas.openxmlformats.org/drawingml/2006/main" noGrp="1"/>
          </p:cNvSpPr>
          <p:nvPr/>
        </p:nvSpPr>
        <p:spPr>
          <a:xfrm xmlns:a="http://schemas.openxmlformats.org/drawingml/2006/main">
            <a:off x="6553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37" name="">
            <a:extLst xmlns:a="http://schemas.openxmlformats.org/drawingml/2006/main">
              <a:ext uri="{FF2B5EF4-FFF2-40B4-BE49-F238E27FC236}">
                <a16:creationId xmlns:a16="http://schemas.microsoft.com/office/drawing/2014/main" id="{F2F0C9B9-E857-43E3-B4AB-1B7B84C21563}"/>
              </a:ext>
            </a:extLst>
          </p:cNvPr>
          <p:cNvSpPr>
            <a:spLocks xmlns:a="http://schemas.openxmlformats.org/drawingml/2006/main" noGrp="1"/>
          </p:cNvSpPr>
          <p:nvPr/>
        </p:nvSpPr>
        <p:spPr>
          <a:xfrm xmlns:a="http://schemas.openxmlformats.org/drawingml/2006/main">
            <a:off x="6648450" y="30422850"/>
            <a:ext cx="2571750" cy="4953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438" name="">
            <a:extLst xmlns:a="http://schemas.openxmlformats.org/drawingml/2006/main">
              <a:ext uri="{FF2B5EF4-FFF2-40B4-BE49-F238E27FC236}">
                <a16:creationId xmlns:a16="http://schemas.microsoft.com/office/drawing/2014/main" id="{876D767F-63CC-4CCB-9461-83C405F56E87}"/>
              </a:ext>
            </a:extLst>
          </p:cNvPr>
          <p:cNvSpPr>
            <a:spLocks xmlns:a="http://schemas.openxmlformats.org/drawingml/2006/main" noGrp="1"/>
          </p:cNvSpPr>
          <p:nvPr/>
        </p:nvSpPr>
        <p:spPr>
          <a:xfrm xmlns:a="http://schemas.openxmlformats.org/drawingml/2006/main">
            <a:off x="6648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Segoe UI"/>
                <a:ea typeface="Segoe UI"/>
                <a:cs typeface="Segoe UI"/>
              </a:defRPr>
            </a:pPr>
            <a:r>
              <a:rPr sz="975" b="1">
                <a:solidFill>
                  <a:srgbClr val="FFFFFF"/>
                </a:solidFill>
                <a:latin typeface="Segoe UI"/>
                <a:ea typeface="Segoe UI"/>
                <a:cs typeface="Segoe UI"/>
              </a:rPr>
              <a:t>Scoring</a:t>
            </a:r>
          </a:p>
        </p:txBody>
      </p:sp>
      <p:sp>
        <p:nvSpPr>
          <p:cNvPr id="439" name="">
            <a:extLst xmlns:a="http://schemas.openxmlformats.org/drawingml/2006/main">
              <a:ext uri="{FF2B5EF4-FFF2-40B4-BE49-F238E27FC236}">
                <a16:creationId xmlns:a16="http://schemas.microsoft.com/office/drawing/2014/main" id="{39862C21-089B-4800-91CB-C2B014EF76E7}"/>
              </a:ext>
            </a:extLst>
          </p:cNvPr>
          <p:cNvSpPr>
            <a:spLocks xmlns:a="http://schemas.openxmlformats.org/drawingml/2006/main" noGrp="1"/>
          </p:cNvSpPr>
          <p:nvPr/>
        </p:nvSpPr>
        <p:spPr>
          <a:xfrm xmlns:a="http://schemas.openxmlformats.org/drawingml/2006/main">
            <a:off x="9220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40" name="">
            <a:extLst xmlns:a="http://schemas.openxmlformats.org/drawingml/2006/main">
              <a:ext uri="{FF2B5EF4-FFF2-40B4-BE49-F238E27FC236}">
                <a16:creationId xmlns:a16="http://schemas.microsoft.com/office/drawing/2014/main" id="{004589D0-21B8-49A0-81C3-8FDFF95DEA2C}"/>
              </a:ext>
            </a:extLst>
          </p:cNvPr>
          <p:cNvSpPr>
            <a:spLocks xmlns:a="http://schemas.openxmlformats.org/drawingml/2006/main" noGrp="1"/>
          </p:cNvSpPr>
          <p:nvPr/>
        </p:nvSpPr>
        <p:spPr>
          <a:xfrm xmlns:a="http://schemas.openxmlformats.org/drawingml/2006/main">
            <a:off x="9315450" y="30422850"/>
            <a:ext cx="2571750" cy="4953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441" name="">
            <a:extLst xmlns:a="http://schemas.openxmlformats.org/drawingml/2006/main">
              <a:ext uri="{FF2B5EF4-FFF2-40B4-BE49-F238E27FC236}">
                <a16:creationId xmlns:a16="http://schemas.microsoft.com/office/drawing/2014/main" id="{C8C532C0-DBC3-4EEF-BD22-812B96F1E8AF}"/>
              </a:ext>
            </a:extLst>
          </p:cNvPr>
          <p:cNvSpPr>
            <a:spLocks xmlns:a="http://schemas.openxmlformats.org/drawingml/2006/main" noGrp="1"/>
          </p:cNvSpPr>
          <p:nvPr/>
        </p:nvSpPr>
        <p:spPr>
          <a:xfrm xmlns:a="http://schemas.openxmlformats.org/drawingml/2006/main">
            <a:off x="9315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Segoe UI"/>
                <a:ea typeface="Segoe UI"/>
                <a:cs typeface="Segoe UI"/>
              </a:defRPr>
            </a:pPr>
            <a:r>
              <a:rPr sz="975" b="1">
                <a:solidFill>
                  <a:srgbClr val="FFFFFF"/>
                </a:solidFill>
                <a:latin typeface="Segoe UI"/>
                <a:ea typeface="Segoe UI"/>
                <a:cs typeface="Segoe UI"/>
              </a:rPr>
              <a:t>Decision</a:t>
            </a:r>
          </a:p>
        </p:txBody>
      </p:sp>
      <p:sp>
        <p:nvSpPr>
          <p:cNvPr id="442" name="">
            <a:extLst xmlns:a="http://schemas.openxmlformats.org/drawingml/2006/main">
              <a:ext uri="{FF2B5EF4-FFF2-40B4-BE49-F238E27FC236}">
                <a16:creationId xmlns:a16="http://schemas.microsoft.com/office/drawing/2014/main" id="{B9DAC11C-E31E-4B3D-97E0-F34D1B76E96E}"/>
              </a:ext>
            </a:extLst>
          </p:cNvPr>
          <p:cNvSpPr>
            <a:spLocks xmlns:a="http://schemas.openxmlformats.org/drawingml/2006/main" noGrp="1"/>
          </p:cNvSpPr>
          <p:nvPr/>
        </p:nvSpPr>
        <p:spPr>
          <a:xfrm xmlns:a="http://schemas.openxmlformats.org/drawingml/2006/main">
            <a:off x="11887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43" name="">
            <a:extLst xmlns:a="http://schemas.openxmlformats.org/drawingml/2006/main">
              <a:ext uri="{FF2B5EF4-FFF2-40B4-BE49-F238E27FC236}">
                <a16:creationId xmlns:a16="http://schemas.microsoft.com/office/drawing/2014/main" id="{3EA0D6B5-868F-4807-BF14-A688EF2ABCC5}"/>
              </a:ext>
            </a:extLst>
          </p:cNvPr>
          <p:cNvSpPr>
            <a:spLocks xmlns:a="http://schemas.openxmlformats.org/drawingml/2006/main" noGrp="1"/>
          </p:cNvSpPr>
          <p:nvPr/>
        </p:nvSpPr>
        <p:spPr>
          <a:xfrm xmlns:a="http://schemas.openxmlformats.org/drawingml/2006/main">
            <a:off x="11982450" y="30422850"/>
            <a:ext cx="2571750" cy="4953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444" name="">
            <a:extLst xmlns:a="http://schemas.openxmlformats.org/drawingml/2006/main">
              <a:ext uri="{FF2B5EF4-FFF2-40B4-BE49-F238E27FC236}">
                <a16:creationId xmlns:a16="http://schemas.microsoft.com/office/drawing/2014/main" id="{F4641611-2D16-4CCE-BBCB-9E18121FBF90}"/>
              </a:ext>
            </a:extLst>
          </p:cNvPr>
          <p:cNvSpPr>
            <a:spLocks xmlns:a="http://schemas.openxmlformats.org/drawingml/2006/main" noGrp="1"/>
          </p:cNvSpPr>
          <p:nvPr/>
        </p:nvSpPr>
        <p:spPr>
          <a:xfrm xmlns:a="http://schemas.openxmlformats.org/drawingml/2006/main">
            <a:off x="11982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Segoe UI"/>
                <a:ea typeface="Segoe UI"/>
                <a:cs typeface="Segoe UI"/>
              </a:defRPr>
            </a:pPr>
            <a:r>
              <a:rPr sz="975" b="1">
                <a:solidFill>
                  <a:srgbClr val="FFFFFF"/>
                </a:solidFill>
                <a:latin typeface="Segoe UI"/>
                <a:ea typeface="Segoe UI"/>
                <a:cs typeface="Segoe UI"/>
              </a:rPr>
              <a:t>Audit</a:t>
            </a:r>
          </a:p>
        </p:txBody>
      </p:sp>
      <p:sp>
        <p:nvSpPr>
          <p:cNvPr id="445" name="">
            <a:extLst xmlns:a="http://schemas.openxmlformats.org/drawingml/2006/main">
              <a:ext uri="{FF2B5EF4-FFF2-40B4-BE49-F238E27FC236}">
                <a16:creationId xmlns:a16="http://schemas.microsoft.com/office/drawing/2014/main" id="{8E13B0FC-AE4E-401D-B015-63A726F43B4B}"/>
              </a:ext>
            </a:extLst>
          </p:cNvPr>
          <p:cNvSpPr>
            <a:spLocks xmlns:a="http://schemas.openxmlformats.org/drawingml/2006/main" noGrp="1"/>
          </p:cNvSpPr>
          <p:nvPr/>
        </p:nvSpPr>
        <p:spPr>
          <a:xfrm xmlns:a="http://schemas.openxmlformats.org/drawingml/2006/main">
            <a:off x="1314450" y="31032450"/>
            <a:ext cx="13220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414563"/>
                </a:solidFill>
                <a:latin typeface="Segoe UI"/>
                <a:ea typeface="Segoe UI"/>
                <a:cs typeface="Segoe UI"/>
              </a:defRPr>
            </a:pPr>
            <a:r>
              <a:rPr sz="900" b="0">
                <a:solidFill>
                  <a:srgbClr val="414563"/>
                </a:solidFill>
                <a:latin typeface="Segoe UI"/>
                <a:ea typeface="Segoe UI"/>
                <a:cs typeface="Segoe UI"/>
              </a:rPr>
              <a:t>Immediate blocks run before scoring; L4/L5 outcomes connect to approval and review.</a:t>
            </a:r>
          </a:p>
        </p:txBody>
      </p:sp>
      <p:sp>
        <p:nvSpPr>
          <p:cNvPr id="446" name="">
            <a:extLst xmlns:a="http://schemas.openxmlformats.org/drawingml/2006/main">
              <a:ext uri="{FF2B5EF4-FFF2-40B4-BE49-F238E27FC236}">
                <a16:creationId xmlns:a16="http://schemas.microsoft.com/office/drawing/2014/main" id="{15702E3D-B7B0-47FE-9D1C-AE28C25E32D3}"/>
              </a:ext>
            </a:extLst>
          </p:cNvPr>
          <p:cNvSpPr>
            <a:spLocks xmlns:a="http://schemas.openxmlformats.org/drawingml/2006/main" noGrp="1"/>
          </p:cNvSpPr>
          <p:nvPr/>
        </p:nvSpPr>
        <p:spPr>
          <a:xfrm xmlns:a="http://schemas.openxmlformats.org/drawingml/2006/main">
            <a:off x="838200" y="3173730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47" name="">
            <a:extLst xmlns:a="http://schemas.openxmlformats.org/drawingml/2006/main">
              <a:ext uri="{FF2B5EF4-FFF2-40B4-BE49-F238E27FC236}">
                <a16:creationId xmlns:a16="http://schemas.microsoft.com/office/drawing/2014/main" id="{C76C60DF-EF3A-4847-99C3-72E9182CCC6D}"/>
              </a:ext>
            </a:extLst>
          </p:cNvPr>
          <p:cNvSpPr>
            <a:spLocks xmlns:a="http://schemas.openxmlformats.org/drawingml/2006/main" noGrp="1"/>
          </p:cNvSpPr>
          <p:nvPr/>
        </p:nvSpPr>
        <p:spPr>
          <a:xfrm xmlns:a="http://schemas.openxmlformats.org/drawingml/2006/main">
            <a:off x="838200" y="3173730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48" name="">
            <a:extLst xmlns:a="http://schemas.openxmlformats.org/drawingml/2006/main">
              <a:ext uri="{FF2B5EF4-FFF2-40B4-BE49-F238E27FC236}">
                <a16:creationId xmlns:a16="http://schemas.microsoft.com/office/drawing/2014/main" id="{38956527-0BD0-43A6-B8EE-B83C2477044E}"/>
              </a:ext>
            </a:extLst>
          </p:cNvPr>
          <p:cNvSpPr>
            <a:spLocks xmlns:a="http://schemas.openxmlformats.org/drawingml/2006/main" noGrp="1"/>
          </p:cNvSpPr>
          <p:nvPr/>
        </p:nvSpPr>
        <p:spPr>
          <a:xfrm xmlns:a="http://schemas.openxmlformats.org/drawingml/2006/main">
            <a:off x="1009650" y="3182302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5. Policy Model</a:t>
            </a:r>
          </a:p>
        </p:txBody>
      </p:sp>
      <p:sp>
        <p:nvSpPr>
          <p:cNvPr id="449" name="">
            <a:extLst xmlns:a="http://schemas.openxmlformats.org/drawingml/2006/main">
              <a:ext uri="{FF2B5EF4-FFF2-40B4-BE49-F238E27FC236}">
                <a16:creationId xmlns:a16="http://schemas.microsoft.com/office/drawing/2014/main" id="{BE6BE27B-81FC-4B48-ADE9-8C9C82FC42E2}"/>
              </a:ext>
            </a:extLst>
          </p:cNvPr>
          <p:cNvSpPr>
            <a:spLocks xmlns:a="http://schemas.openxmlformats.org/drawingml/2006/main" noGrp="1"/>
          </p:cNvSpPr>
          <p:nvPr/>
        </p:nvSpPr>
        <p:spPr>
          <a:xfrm xmlns:a="http://schemas.openxmlformats.org/drawingml/2006/main">
            <a:off x="1028700" y="3242310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risk score consists of four axes: object sensitivity, environment risk, behavior risk, and job fitness. Object sensitivity reflects data grade and original-evidence status. Environment risk reflects location, time, and device trust. Behavior risk captures repeated access, bulk query, copy attempts, and downloads. Job fitness represents the relevance between the request and the user's assigned case, department duty, and work tags; it reduces risk when the request is job-relevant. Access outcomes are divided into L1 full allow, L2 view-only, L3 re-authentication, L4 admin approval, and L5 block. This model preserves legitimate work while progressively restricting non-assigned or risky access.</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policy model is designed so operators can tune thresholds and weights. For example, downloading grade-5 original evidence, repeatedly viewing non-assigned cases, and using an unregistered device raise risk through different axes, while assigned-case relevance and proper duty tags reduce risk. The output is not only a score; it is stored as a decision level with explainable evidence.</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engine can return different outcomes for the same user when the requested object or behavior changes. Viewing low-grade data for an assigned case may remain L1, while downloading original evidence for a non-assigned case can rise to L4 or L5.</a:t>
            </a:r>
          </a:p>
        </p:txBody>
      </p:sp>
      <p:sp>
        <p:nvSpPr>
          <p:cNvPr id="450" name="">
            <a:extLst xmlns:a="http://schemas.openxmlformats.org/drawingml/2006/main">
              <a:ext uri="{FF2B5EF4-FFF2-40B4-BE49-F238E27FC236}">
                <a16:creationId xmlns:a16="http://schemas.microsoft.com/office/drawing/2014/main" id="{468432F3-C994-4D0B-B768-520204728C88}"/>
              </a:ext>
            </a:extLst>
          </p:cNvPr>
          <p:cNvSpPr>
            <a:spLocks xmlns:a="http://schemas.openxmlformats.org/drawingml/2006/main" noGrp="1"/>
          </p:cNvSpPr>
          <p:nvPr/>
        </p:nvSpPr>
        <p:spPr>
          <a:xfrm xmlns:a="http://schemas.openxmlformats.org/drawingml/2006/main">
            <a:off x="15468600" y="61912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51" name="">
            <a:extLst xmlns:a="http://schemas.openxmlformats.org/drawingml/2006/main">
              <a:ext uri="{FF2B5EF4-FFF2-40B4-BE49-F238E27FC236}">
                <a16:creationId xmlns:a16="http://schemas.microsoft.com/office/drawing/2014/main" id="{76268F74-39F0-4D42-9D08-8FC7ABE2B207}"/>
              </a:ext>
            </a:extLst>
          </p:cNvPr>
          <p:cNvSpPr>
            <a:spLocks xmlns:a="http://schemas.openxmlformats.org/drawingml/2006/main" noGrp="1"/>
          </p:cNvSpPr>
          <p:nvPr/>
        </p:nvSpPr>
        <p:spPr>
          <a:xfrm xmlns:a="http://schemas.openxmlformats.org/drawingml/2006/main">
            <a:off x="15468600" y="61912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52" name="">
            <a:extLst xmlns:a="http://schemas.openxmlformats.org/drawingml/2006/main">
              <a:ext uri="{FF2B5EF4-FFF2-40B4-BE49-F238E27FC236}">
                <a16:creationId xmlns:a16="http://schemas.microsoft.com/office/drawing/2014/main" id="{5CB12F11-99C1-4B6F-9294-134D76B5A91B}"/>
              </a:ext>
            </a:extLst>
          </p:cNvPr>
          <p:cNvSpPr>
            <a:spLocks xmlns:a="http://schemas.openxmlformats.org/drawingml/2006/main" noGrp="1"/>
          </p:cNvSpPr>
          <p:nvPr/>
        </p:nvSpPr>
        <p:spPr>
          <a:xfrm xmlns:a="http://schemas.openxmlformats.org/drawingml/2006/main">
            <a:off x="15640050" y="62769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6. Core Functions</a:t>
            </a:r>
          </a:p>
        </p:txBody>
      </p:sp>
      <p:sp>
        <p:nvSpPr>
          <p:cNvPr id="453" name="">
            <a:extLst xmlns:a="http://schemas.openxmlformats.org/drawingml/2006/main">
              <a:ext uri="{FF2B5EF4-FFF2-40B4-BE49-F238E27FC236}">
                <a16:creationId xmlns:a16="http://schemas.microsoft.com/office/drawing/2014/main" id="{61D83941-0F87-488D-9BF6-013B01611683}"/>
              </a:ext>
            </a:extLst>
          </p:cNvPr>
          <p:cNvSpPr>
            <a:spLocks xmlns:a="http://schemas.openxmlformats.org/drawingml/2006/main" noGrp="1"/>
          </p:cNvSpPr>
          <p:nvPr/>
        </p:nvSpPr>
        <p:spPr>
          <a:xfrm xmlns:a="http://schemas.openxmlformats.org/drawingml/2006/main">
            <a:off x="15659100" y="68770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First, the system re-computes risk on every request, reflecting changes in location, device, and behavior after login. Second, it provides staged control rather than binary allow or deny: view-only access, partial masking, re-authentication, admin approval, and blocking. Third, it separates original viewing from download permission according to data grade and risk level. Fourth, when decision confidence is low, the system avoids risky automatic allow or deny and converges to approval or view-only access. Fifth, break-glass access requires MFA, justification, scope, TTL, and post-review. Sixth, operation logs, audit logs, and sensitive logs are separated to improve traceability.</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From an operational perspective, policy simulation and audit search are essential. Administrators can inspect which rules affected a specific case, user, or data grade, and can trace approval history and repeated exceptions. Because accumulated risky behavior changes later decisions for the same user, the control model follows real work patterns more closely than one-time authentication.</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system also separates data outcomes into original view, masking, view-only, and download restriction. This lets investigators receive the minimum information needed for work while suppressing unnecessary exposure of original evidence and sensitive personal data.</a:t>
            </a:r>
          </a:p>
        </p:txBody>
      </p:sp>
      <p:sp>
        <p:nvSpPr>
          <p:cNvPr id="454" name="">
            <a:extLst xmlns:a="http://schemas.openxmlformats.org/drawingml/2006/main">
              <a:ext uri="{FF2B5EF4-FFF2-40B4-BE49-F238E27FC236}">
                <a16:creationId xmlns:a16="http://schemas.microsoft.com/office/drawing/2014/main" id="{EA402492-F21B-4D8D-B6DA-93720A96F1F5}"/>
              </a:ext>
            </a:extLst>
          </p:cNvPr>
          <p:cNvSpPr>
            <a:spLocks xmlns:a="http://schemas.openxmlformats.org/drawingml/2006/main" noGrp="1"/>
          </p:cNvSpPr>
          <p:nvPr/>
        </p:nvSpPr>
        <p:spPr>
          <a:xfrm xmlns:a="http://schemas.openxmlformats.org/drawingml/2006/main">
            <a:off x="15468600" y="121729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55" name="">
            <a:extLst xmlns:a="http://schemas.openxmlformats.org/drawingml/2006/main">
              <a:ext uri="{FF2B5EF4-FFF2-40B4-BE49-F238E27FC236}">
                <a16:creationId xmlns:a16="http://schemas.microsoft.com/office/drawing/2014/main" id="{A55F7B7C-3E2C-4B22-B7CC-919E3BD86001}"/>
              </a:ext>
            </a:extLst>
          </p:cNvPr>
          <p:cNvSpPr>
            <a:spLocks xmlns:a="http://schemas.openxmlformats.org/drawingml/2006/main" noGrp="1"/>
          </p:cNvSpPr>
          <p:nvPr/>
        </p:nvSpPr>
        <p:spPr>
          <a:xfrm xmlns:a="http://schemas.openxmlformats.org/drawingml/2006/main">
            <a:off x="15468600" y="121729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56" name="">
            <a:extLst xmlns:a="http://schemas.openxmlformats.org/drawingml/2006/main">
              <a:ext uri="{FF2B5EF4-FFF2-40B4-BE49-F238E27FC236}">
                <a16:creationId xmlns:a16="http://schemas.microsoft.com/office/drawing/2014/main" id="{F26BEFB8-974B-4276-A674-999EDFAC9A88}"/>
              </a:ext>
            </a:extLst>
          </p:cNvPr>
          <p:cNvSpPr>
            <a:spLocks xmlns:a="http://schemas.openxmlformats.org/drawingml/2006/main" noGrp="1"/>
          </p:cNvSpPr>
          <p:nvPr/>
        </p:nvSpPr>
        <p:spPr>
          <a:xfrm xmlns:a="http://schemas.openxmlformats.org/drawingml/2006/main">
            <a:off x="15640050" y="122586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7. Differentiation and Novelty</a:t>
            </a:r>
          </a:p>
        </p:txBody>
      </p:sp>
      <p:sp>
        <p:nvSpPr>
          <p:cNvPr id="457" name="">
            <a:extLst xmlns:a="http://schemas.openxmlformats.org/drawingml/2006/main">
              <a:ext uri="{FF2B5EF4-FFF2-40B4-BE49-F238E27FC236}">
                <a16:creationId xmlns:a16="http://schemas.microsoft.com/office/drawing/2014/main" id="{002F8058-77CC-4E59-AE21-C08CAED1BDB8}"/>
              </a:ext>
            </a:extLst>
          </p:cNvPr>
          <p:cNvSpPr>
            <a:spLocks xmlns:a="http://schemas.openxmlformats.org/drawingml/2006/main" noGrp="1"/>
          </p:cNvSpPr>
          <p:nvPr/>
        </p:nvSpPr>
        <p:spPr>
          <a:xfrm xmlns:a="http://schemas.openxmlformats.org/drawingml/2006/main">
            <a:off x="15659100" y="128587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novelty is the concrete mapping of Zero Trust principles to police investigation work. The system uses case assignment, jurisdiction, data grade, duty tags, and repeated viewing patterns as policy variables. Job fitness is used as a negative component in the risk score, so legitimate assigned-case work is not unnecessarily interrupted while non-assigned access is evaluated as risky. The architecture also separates obvious immediate blocks from scored decisions. Clear risks are stopped quickly, ambiguous requests move to re-authentication or approval, and normal work remains available. This makes the design more police-domain-specific than a generic enterprise Zero Trust model.</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novelty is not merely listing security functions, but jointly designing police-domain policy variables and staged decisions. Job fitness is introduced as a risk-reducing factor, lowering friction for legitimate investigation activity while treating non-assigned, highly sensitive, and repeated access as combined risk. This expresses the balance between stronger security and operational continuity as a policy model.</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While many security tools focus on user authentication or network boundary protection, this system evaluates the investigation-data query itself. The differentiation is that Zero Trust is applied at the operational data layer, not only at login or network access.</a:t>
            </a:r>
          </a:p>
        </p:txBody>
      </p:sp>
      <p:sp>
        <p:nvSpPr>
          <p:cNvPr id="458" name="">
            <a:extLst xmlns:a="http://schemas.openxmlformats.org/drawingml/2006/main">
              <a:ext uri="{FF2B5EF4-FFF2-40B4-BE49-F238E27FC236}">
                <a16:creationId xmlns:a16="http://schemas.microsoft.com/office/drawing/2014/main" id="{B6889BB2-F78F-41F0-BBFA-6744B7EF6642}"/>
              </a:ext>
            </a:extLst>
          </p:cNvPr>
          <p:cNvSpPr>
            <a:spLocks xmlns:a="http://schemas.openxmlformats.org/drawingml/2006/main" noGrp="1"/>
          </p:cNvSpPr>
          <p:nvPr/>
        </p:nvSpPr>
        <p:spPr>
          <a:xfrm xmlns:a="http://schemas.openxmlformats.org/drawingml/2006/main">
            <a:off x="15468600" y="181546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59" name="">
            <a:extLst xmlns:a="http://schemas.openxmlformats.org/drawingml/2006/main">
              <a:ext uri="{FF2B5EF4-FFF2-40B4-BE49-F238E27FC236}">
                <a16:creationId xmlns:a16="http://schemas.microsoft.com/office/drawing/2014/main" id="{1F0EE3C9-990B-46D7-ABAC-2612C262B899}"/>
              </a:ext>
            </a:extLst>
          </p:cNvPr>
          <p:cNvSpPr>
            <a:spLocks xmlns:a="http://schemas.openxmlformats.org/drawingml/2006/main" noGrp="1"/>
          </p:cNvSpPr>
          <p:nvPr/>
        </p:nvSpPr>
        <p:spPr>
          <a:xfrm xmlns:a="http://schemas.openxmlformats.org/drawingml/2006/main">
            <a:off x="15468600" y="181546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60" name="">
            <a:extLst xmlns:a="http://schemas.openxmlformats.org/drawingml/2006/main">
              <a:ext uri="{FF2B5EF4-FFF2-40B4-BE49-F238E27FC236}">
                <a16:creationId xmlns:a16="http://schemas.microsoft.com/office/drawing/2014/main" id="{67EF21C5-F24A-4A4F-891A-A370FB095973}"/>
              </a:ext>
            </a:extLst>
          </p:cNvPr>
          <p:cNvSpPr>
            <a:spLocks xmlns:a="http://schemas.openxmlformats.org/drawingml/2006/main" noGrp="1"/>
          </p:cNvSpPr>
          <p:nvPr/>
        </p:nvSpPr>
        <p:spPr>
          <a:xfrm xmlns:a="http://schemas.openxmlformats.org/drawingml/2006/main">
            <a:off x="15640050" y="182403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8. Implementation and Scenarios</a:t>
            </a:r>
          </a:p>
        </p:txBody>
      </p:sp>
      <p:sp>
        <p:nvSpPr>
          <p:cNvPr id="461" name="">
            <a:extLst xmlns:a="http://schemas.openxmlformats.org/drawingml/2006/main">
              <a:ext uri="{FF2B5EF4-FFF2-40B4-BE49-F238E27FC236}">
                <a16:creationId xmlns:a16="http://schemas.microsoft.com/office/drawing/2014/main" id="{75AE8AC9-9296-4093-A6D1-C2F622430EB5}"/>
              </a:ext>
            </a:extLst>
          </p:cNvPr>
          <p:cNvSpPr>
            <a:spLocks xmlns:a="http://schemas.openxmlformats.org/drawingml/2006/main" noGrp="1"/>
          </p:cNvSpPr>
          <p:nvPr/>
        </p:nvSpPr>
        <p:spPr>
          <a:xfrm xmlns:a="http://schemas.openxmlformats.org/drawingml/2006/main">
            <a:off x="15659100" y="188404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prototype is implemented around a web-based access-control flow and PostgreSQL-backed audit logging. Three insider-threat scenarios were demonstrated. First, when a user accesses grade 4/5 data for a non-assigned case, the system requires admin approval and masking. Second, when access comes from a disallowed location or unregistered device, it is blocked at login or download time. Third, repeated viewing of non-assigned cases accumulates behavior risk, raises the access level, and downgrades permission. The scenarios show that the final decision changes when case assignment, location, device, and behavior accumulation are combined.</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demonstration shows that the same account can receive different outcomes when case assignment, location, device, data grade, and behavior accumulation change. The log repository stores request context, applied rule, risk score, final decision, and approval state together. This structure can later support policy validation and audit-report generation when connected to real internal police systems.</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prototype expresses policy decisions as understandable access levels. This is more useful than a simple failure message, and it lets administrators reproduce why blocking or approval occurred under specific conditions.</a:t>
            </a:r>
          </a:p>
        </p:txBody>
      </p:sp>
      <p:sp>
        <p:nvSpPr>
          <p:cNvPr id="462" name="">
            <a:extLst xmlns:a="http://schemas.openxmlformats.org/drawingml/2006/main">
              <a:ext uri="{FF2B5EF4-FFF2-40B4-BE49-F238E27FC236}">
                <a16:creationId xmlns:a16="http://schemas.microsoft.com/office/drawing/2014/main" id="{CEDB9376-94BC-4E1C-9356-4F25A259372B}"/>
              </a:ext>
            </a:extLst>
          </p:cNvPr>
          <p:cNvSpPr>
            <a:spLocks xmlns:a="http://schemas.openxmlformats.org/drawingml/2006/main" noGrp="1"/>
          </p:cNvSpPr>
          <p:nvPr/>
        </p:nvSpPr>
        <p:spPr>
          <a:xfrm xmlns:a="http://schemas.openxmlformats.org/drawingml/2006/main">
            <a:off x="15468600" y="24136350"/>
            <a:ext cx="14173200" cy="7429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63" name="">
            <a:extLst xmlns:a="http://schemas.openxmlformats.org/drawingml/2006/main">
              <a:ext uri="{FF2B5EF4-FFF2-40B4-BE49-F238E27FC236}">
                <a16:creationId xmlns:a16="http://schemas.microsoft.com/office/drawing/2014/main" id="{27F3E09E-701E-4364-ADE5-880C5F8487CF}"/>
              </a:ext>
            </a:extLst>
          </p:cNvPr>
          <p:cNvSpPr>
            <a:spLocks xmlns:a="http://schemas.openxmlformats.org/drawingml/2006/main" noGrp="1"/>
          </p:cNvSpPr>
          <p:nvPr/>
        </p:nvSpPr>
        <p:spPr>
          <a:xfrm xmlns:a="http://schemas.openxmlformats.org/drawingml/2006/main">
            <a:off x="15468600" y="241363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64" name="">
            <a:extLst xmlns:a="http://schemas.openxmlformats.org/drawingml/2006/main">
              <a:ext uri="{FF2B5EF4-FFF2-40B4-BE49-F238E27FC236}">
                <a16:creationId xmlns:a16="http://schemas.microsoft.com/office/drawing/2014/main" id="{E0C39502-1128-401F-AC13-22AB9395ED5E}"/>
              </a:ext>
            </a:extLst>
          </p:cNvPr>
          <p:cNvSpPr>
            <a:spLocks xmlns:a="http://schemas.openxmlformats.org/drawingml/2006/main" noGrp="1"/>
          </p:cNvSpPr>
          <p:nvPr/>
        </p:nvSpPr>
        <p:spPr>
          <a:xfrm xmlns:a="http://schemas.openxmlformats.org/drawingml/2006/main">
            <a:off x="15640050" y="242220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9. Strengths and Limitations</a:t>
            </a:r>
          </a:p>
        </p:txBody>
      </p:sp>
      <p:sp>
        <p:nvSpPr>
          <p:cNvPr id="465" name="">
            <a:extLst xmlns:a="http://schemas.openxmlformats.org/drawingml/2006/main">
              <a:ext uri="{FF2B5EF4-FFF2-40B4-BE49-F238E27FC236}">
                <a16:creationId xmlns:a16="http://schemas.microsoft.com/office/drawing/2014/main" id="{13AB1B15-A41D-4ECF-839F-16647B8FFD84}"/>
              </a:ext>
            </a:extLst>
          </p:cNvPr>
          <p:cNvSpPr>
            <a:spLocks xmlns:a="http://schemas.openxmlformats.org/drawingml/2006/main" noGrp="1"/>
          </p:cNvSpPr>
          <p:nvPr/>
        </p:nvSpPr>
        <p:spPr>
          <a:xfrm xmlns:a="http://schemas.openxmlformats.org/drawingml/2006/main">
            <a:off x="15659100" y="24822150"/>
            <a:ext cx="13792200" cy="6553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strengths are preventive reduction of insider misuse, minimized sensitive-data exposure, and reviewable evidence for every access decision. The system also considers operational continuity by offering view-only access, re-authentication, admin approval, and break-glass handling instead of only blocking work. The limitation is that the current implementation is a scenario-driven prototype. Production deployment would require organization-specific thresholds, endpoint telemetry, SIEM/EDR integration, and performance validation under large-scale user workloads. Policy tuning and admin-user-experience improvements are also needed to prevent excessive approval burden.</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main strength is that security is refined at the request level rather than only at the user level. A limitation is that risk weights depend on organizational policy and data quality. Real deployment would require baseline learning from investigation workflows, prevention of excessive approval load, and log-retention rules aligned with privacy regulations and internal audit procedures.</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Future work should tune thresholds from real logs, compare false positives and false negatives before and after policy changes, and connect anomaly detection models. Log integrity must also be validated to satisfy evidentiary and privacy requirements.</a:t>
            </a:r>
          </a:p>
        </p:txBody>
      </p:sp>
      <p:sp>
        <p:nvSpPr>
          <p:cNvPr id="466" name="">
            <a:extLst xmlns:a="http://schemas.openxmlformats.org/drawingml/2006/main">
              <a:ext uri="{FF2B5EF4-FFF2-40B4-BE49-F238E27FC236}">
                <a16:creationId xmlns:a16="http://schemas.microsoft.com/office/drawing/2014/main" id="{5EF35CFC-CC48-4362-973C-F739DD65208F}"/>
              </a:ext>
            </a:extLst>
          </p:cNvPr>
          <p:cNvSpPr>
            <a:spLocks xmlns:a="http://schemas.openxmlformats.org/drawingml/2006/main" noGrp="1"/>
          </p:cNvSpPr>
          <p:nvPr/>
        </p:nvSpPr>
        <p:spPr>
          <a:xfrm xmlns:a="http://schemas.openxmlformats.org/drawingml/2006/main">
            <a:off x="15468600" y="3173730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67" name="">
            <a:extLst xmlns:a="http://schemas.openxmlformats.org/drawingml/2006/main">
              <a:ext uri="{FF2B5EF4-FFF2-40B4-BE49-F238E27FC236}">
                <a16:creationId xmlns:a16="http://schemas.microsoft.com/office/drawing/2014/main" id="{040C8CD4-62DE-4815-A239-8D5584075C05}"/>
              </a:ext>
            </a:extLst>
          </p:cNvPr>
          <p:cNvSpPr>
            <a:spLocks xmlns:a="http://schemas.openxmlformats.org/drawingml/2006/main" noGrp="1"/>
          </p:cNvSpPr>
          <p:nvPr/>
        </p:nvSpPr>
        <p:spPr>
          <a:xfrm xmlns:a="http://schemas.openxmlformats.org/drawingml/2006/main">
            <a:off x="15468600" y="3173730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68" name="">
            <a:extLst xmlns:a="http://schemas.openxmlformats.org/drawingml/2006/main">
              <a:ext uri="{FF2B5EF4-FFF2-40B4-BE49-F238E27FC236}">
                <a16:creationId xmlns:a16="http://schemas.microsoft.com/office/drawing/2014/main" id="{E9EBE496-A6A0-44F1-9A46-AFB4C66AEFC8}"/>
              </a:ext>
            </a:extLst>
          </p:cNvPr>
          <p:cNvSpPr>
            <a:spLocks xmlns:a="http://schemas.openxmlformats.org/drawingml/2006/main" noGrp="1"/>
          </p:cNvSpPr>
          <p:nvPr/>
        </p:nvSpPr>
        <p:spPr>
          <a:xfrm xmlns:a="http://schemas.openxmlformats.org/drawingml/2006/main">
            <a:off x="15640050" y="3182302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10. Expected Impact and Conclusion</a:t>
            </a:r>
          </a:p>
        </p:txBody>
      </p:sp>
      <p:sp>
        <p:nvSpPr>
          <p:cNvPr id="469" name="">
            <a:extLst xmlns:a="http://schemas.openxmlformats.org/drawingml/2006/main">
              <a:ext uri="{FF2B5EF4-FFF2-40B4-BE49-F238E27FC236}">
                <a16:creationId xmlns:a16="http://schemas.microsoft.com/office/drawing/2014/main" id="{7F5AC9A2-4B92-4988-A60D-0EAAE1A91919}"/>
              </a:ext>
            </a:extLst>
          </p:cNvPr>
          <p:cNvSpPr>
            <a:spLocks xmlns:a="http://schemas.openxmlformats.org/drawingml/2006/main" noGrp="1"/>
          </p:cNvSpPr>
          <p:nvPr/>
        </p:nvSpPr>
        <p:spPr>
          <a:xfrm xmlns:a="http://schemas.openxmlformats.org/drawingml/2006/main">
            <a:off x="15659100" y="3242310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proposed system can restrict non-assigned access, repeated viewing, and risky downloads by legitimate users before exposure occurs. Under high-risk context, it can reduce leakage impact by switching from original access to masking or view-only access. At the same time, re-authentication, admin approval, and break-glass handling allow critical investigation work to continue. Audit logs preserve decision reasons and access history for internal review, inspection, and accountability. In conclusion, this work implements Zero Trust not as a one-time authentication technique, but as a police-specific policy engine that continuously adapts access to investigation-data risk.</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expected impact is threefold. First, insider misuse by authorized users can be reduced before exposure occurs. Second, masking and view-only access lower exposure while avoiding unnecessary interruption of investigations. Third, logged decision evidence strengthens internal review and accountability. The proposed system can therefore serve as a practical dynamic Zero Trust model for protecting police investigation data.</a:t>
            </a:r>
          </a:p>
          <a:p xmlns:a="http://schemas.openxmlformats.org/drawingml/2006/main">
            <a:r>
              <a:t/>
            </a:r>
          </a:p>
          <a:p xmlns:a="http://schemas.openxmlformats.org/drawingml/2006/main">
            <a:pPr algn="l">
              <a:defRPr sz="1425" b="0">
                <a:solidFill>
                  <a:srgbClr val="414563"/>
                </a:solidFill>
                <a:latin typeface="Segoe UI"/>
                <a:ea typeface="Segoe UI"/>
                <a:cs typeface="Segoe UI"/>
              </a:defRPr>
            </a:pPr>
            <a:r>
              <a:rPr sz="1425" b="0">
                <a:solidFill>
                  <a:srgbClr val="414563"/>
                </a:solidFill>
                <a:latin typeface="Segoe UI"/>
                <a:ea typeface="Segoe UI"/>
                <a:cs typeface="Segoe UI"/>
              </a:rPr>
              <a:t>The central claim is that protecting police investigation data depends less on who logged in and more on what the user is trying to do in a specific context. The proposed system turns that judgment into an automatable policy structure.</a:t>
            </a:r>
          </a:p>
        </p:txBody>
      </p:sp>
      <p:sp>
        <p:nvSpPr>
          <p:cNvPr id="470" name="">
            <a:extLst xmlns:a="http://schemas.openxmlformats.org/drawingml/2006/main">
              <a:ext uri="{FF2B5EF4-FFF2-40B4-BE49-F238E27FC236}">
                <a16:creationId xmlns:a16="http://schemas.microsoft.com/office/drawing/2014/main" id="{5511C6FC-DDB6-4CAC-A8A1-3511D971DF62}"/>
              </a:ext>
            </a:extLst>
          </p:cNvPr>
          <p:cNvSpPr>
            <a:spLocks xmlns:a="http://schemas.openxmlformats.org/drawingml/2006/main" noGrp="1"/>
          </p:cNvSpPr>
          <p:nvPr/>
        </p:nvSpPr>
        <p:spPr>
          <a:xfrm xmlns:a="http://schemas.openxmlformats.org/drawingml/2006/main">
            <a:off x="838200" y="39338250"/>
            <a:ext cx="28803600" cy="20955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71" name="">
            <a:extLst xmlns:a="http://schemas.openxmlformats.org/drawingml/2006/main">
              <a:ext uri="{FF2B5EF4-FFF2-40B4-BE49-F238E27FC236}">
                <a16:creationId xmlns:a16="http://schemas.microsoft.com/office/drawing/2014/main" id="{2648574A-72DD-4A47-9208-B1F6970E6AA5}"/>
              </a:ext>
            </a:extLst>
          </p:cNvPr>
          <p:cNvSpPr>
            <a:spLocks xmlns:a="http://schemas.openxmlformats.org/drawingml/2006/main" noGrp="1"/>
          </p:cNvSpPr>
          <p:nvPr/>
        </p:nvSpPr>
        <p:spPr>
          <a:xfrm xmlns:a="http://schemas.openxmlformats.org/drawingml/2006/main">
            <a:off x="1333500" y="39928800"/>
            <a:ext cx="27813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Summary conclusion: police-investigation context is embedded into the policy engine, shifting access control from one-time permission grants to continuous risk-adaptive decisions.</a:t>
            </a:r>
          </a:p>
        </p:txBody>
      </p:sp>
    </p:spTree>
    <p:extLst>
      <p:ext uri="{BB962C8B-B14F-4D97-AF65-F5344CB8AC3E}">
        <p14:creationId xmlns:p14="http://schemas.microsoft.com/office/powerpoint/2010/main" val="25610634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2026-06-12T13:38:05.4810000Z</dcterms:created>
  <dcterms:modified xsi:type="dcterms:W3CDTF">2026-06-12T13:38:05.4810000Z</dcterms:modified>
</coreProperties>
</file>