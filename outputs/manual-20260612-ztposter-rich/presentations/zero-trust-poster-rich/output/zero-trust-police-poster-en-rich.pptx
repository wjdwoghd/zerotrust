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97ad45cb7241e7" /><Relationship Type="http://schemas.openxmlformats.org/officeDocument/2006/relationships/extended-properties" Target="/docProps/app.xml" Id="R076f8ea085fd4843" /><Relationship Type="http://schemas.openxmlformats.org/officeDocument/2006/relationships/officeDocument" Target="/ppt/presentation.xml" Id="R2f154b39f92b44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d713028da148d3"/>
  </p:sldMasterIdLst>
  <p:notesMasterIdLst>
    <p:notesMasterId xmlns:r="http://schemas.openxmlformats.org/officeDocument/2006/relationships" r:id="R4aed8f6382424d04"/>
  </p:notesMasterIdLst>
  <p:sldIdLst>
    <p:sldId xmlns:r="http://schemas.openxmlformats.org/officeDocument/2006/relationships" id="256" r:id="R8588748671584f26"/>
  </p:sldIdLst>
  <p:sldSz cx="30275213" cy="42803763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828fad7f084486" /><Relationship Type="http://schemas.openxmlformats.org/officeDocument/2006/relationships/slideMaster" Target="/ppt/slideMasters/slideMaster1.xml" Id="R38d713028da148d3" /><Relationship Type="http://schemas.openxmlformats.org/officeDocument/2006/relationships/notesMaster" Target="/ppt/notesMasters/notesMaster1.xml" Id="R4aed8f6382424d04" /><Relationship Type="http://schemas.openxmlformats.org/officeDocument/2006/relationships/presProps" Target="/ppt/presProps.xml" Id="R176e6b69af314e76" /><Relationship Type="http://schemas.openxmlformats.org/officeDocument/2006/relationships/viewProps" Target="/ppt/viewProps.xml" Id="R202cbd75c68c4dbe" /><Relationship Type="http://schemas.openxmlformats.org/officeDocument/2006/relationships/tableStyles" Target="/ppt/tableStyles.xml" Id="R6204101f03ee4570" /><Relationship Type="http://schemas.openxmlformats.org/officeDocument/2006/relationships/slide" Target="/ppt/slides/slide1.xml" Id="R8588748671584f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909e0fdbe547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8f7a30d14d48f6" /><Relationship Type="http://schemas.openxmlformats.org/officeDocument/2006/relationships/notesMaster" Target="/ppt/notesMasters/notesMaster1.xml" Id="R732ea5ab88994d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3330c623fb427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e48d2baf744bf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964fc041c1479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0fe3e417ed40c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ec36575a504b91" /></Relationships>
</file>

<file path=ppt/slideLayouts/slideLayout1.xml><?xml version="1.0" encoding="utf-8"?>
<p:sldLayout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C2BE2E78-5EE5-4EBE-8E42-90BD2B9CA8E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272546" y="13269164"/>
            <a:ext cx="25755554" cy="661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9625D93C-D487-4420-83BF-B3E54E571D9E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545098" y="23970113"/>
            <a:ext cx="21210458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FF3D5D55-EE4E-491A-AD2F-3D8DE35C8E62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AD6466F7-6ECA-4ED1-9F9E-8ED8B55DA27E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64DBFADC-31EA-4E96-A4B6-89DD141CCA71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4794A862-76D8-44F5-81BC-B2D0419081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2416" y="1330512"/>
            <a:ext cx="27635831" cy="26472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7202" b="0" i="0">
                <a:solidFill>
                  <a:srgbClr val="373362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B05DA6BB-5DAD-47D6-9956-2B8BDE8B20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890B3E69-BC2C-4732-A34F-A4E4754FF09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CE1815C1-2116-4B09-B86B-8D5EF69510D2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3005B063-4225-493C-879B-9BD01920D383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375D737A-E972-4014-817D-6F24566D9F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2416" y="1330512"/>
            <a:ext cx="27635831" cy="26472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7202" b="0" i="0">
                <a:solidFill>
                  <a:srgbClr val="373362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5A93BD1D-1E64-430B-9191-127E3ABE49D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515037" y="9844870"/>
            <a:ext cx="13180782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8E192FA5-1607-406D-A2E6-787FC399A6F5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16153871" y="11536227"/>
            <a:ext cx="11270520" cy="6156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4000" b="1" i="0">
                <a:solidFill>
                  <a:schemeClr val="tx1"/>
                </a:solidFill>
                <a:latin typeface="Book Antiqua"/>
                <a:ea typeface="Book Antiqua"/>
                <a:cs typeface="Book Antiqua"/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723F4882-0D01-4A77-82C2-BC2D592A57BA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58BA99A5-DBDF-4570-ACA9-9F392E2B12F8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B08E87B8-898C-4D19-B7A2-DFC092A1C7CC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CEF36C51-AFFF-4F25-964C-B1FCE3DFF7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2416" y="1330512"/>
            <a:ext cx="27635831" cy="26472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7202" b="0" i="0">
                <a:solidFill>
                  <a:srgbClr val="373362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5D06B33E-7CB0-48A0-BD43-497EF5E6AFE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EC524AF8-4E72-4216-A5D1-3A5518666F4E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7DC2D0D1-5819-4E01-B36A-AAAB23B2A4C2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FCCEA099-3361-478D-9FDB-D34627E4A186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3D4F5A11-CBF8-401B-AB2E-F0117BE356E6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6D41FCB3-0967-4DBD-B56D-A4647416FFA5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c3c7cabbd4284d07" /><Relationship Type="http://schemas.openxmlformats.org/officeDocument/2006/relationships/theme" Target="/ppt/slideMasters/theme/theme2.xml" Id="R18f051ddbe974e68" /><Relationship Type="http://schemas.openxmlformats.org/officeDocument/2006/relationships/slideLayout" Target="/ppt/slideLayouts/slideLayout1.xml" Id="Re1f12fd5ae6f49b2" /><Relationship Type="http://schemas.openxmlformats.org/officeDocument/2006/relationships/slideLayout" Target="/ppt/slideLayouts/slideLayout2.xml" Id="R26f0d30cbed34bcd" /><Relationship Type="http://schemas.openxmlformats.org/officeDocument/2006/relationships/slideLayout" Target="/ppt/slideLayouts/slideLayout3.xml" Id="Rc454f3cd77504560" /><Relationship Type="http://schemas.openxmlformats.org/officeDocument/2006/relationships/slideLayout" Target="/ppt/slideLayouts/slideLayout4.xml" Id="R0ce671e9fc4241dd" /><Relationship Type="http://schemas.openxmlformats.org/officeDocument/2006/relationships/slideLayout" Target="/ppt/slideLayouts/slideLayout5.xml" Id="R8d576b271eff45da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bg 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c7cabbd4284d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881056"/>
            <a:ext cx="30300654" cy="41910001"/>
          </a:xfrm>
          <a:prstGeom xmlns:a="http://schemas.openxmlformats.org/drawingml/2006/main" prst="rect">
            <a:avLst/>
          </a:prstGeom>
        </p:spPr>
      </p:pic>
      <p:sp>
        <p:nvSpPr>
          <p:cNvPr id="17" name="bg object 17">
            <a:extLst xmlns:a="http://schemas.openxmlformats.org/drawingml/2006/main">
              <a:ext uri="{FF2B5EF4-FFF2-40B4-BE49-F238E27FC236}">
                <a16:creationId xmlns:a16="http://schemas.microsoft.com/office/drawing/2014/main" id="{96EC0D05-044A-4545-91CB-29257ADA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300654" cy="42791112"/>
          </a:xfrm>
          <a:custGeom xmlns:a="http://schemas.openxmlformats.org/drawingml/2006/main">
            <a:rect l="l" t="t" r="r" b="b"/>
            <a:pathLst>
              <a:path w="7562850" h="10696575">
                <a:moveTo>
                  <a:pt x="507479" y="0"/>
                </a:moveTo>
                <a:lnTo>
                  <a:pt x="408584" y="0"/>
                </a:lnTo>
                <a:lnTo>
                  <a:pt x="0" y="408584"/>
                </a:lnTo>
                <a:lnTo>
                  <a:pt x="0" y="507479"/>
                </a:lnTo>
                <a:lnTo>
                  <a:pt x="507479" y="0"/>
                </a:lnTo>
                <a:close/>
              </a:path>
              <a:path w="7562850" h="10696575">
                <a:moveTo>
                  <a:pt x="537692" y="10696575"/>
                </a:moveTo>
                <a:lnTo>
                  <a:pt x="0" y="10158908"/>
                </a:lnTo>
                <a:lnTo>
                  <a:pt x="0" y="10257803"/>
                </a:lnTo>
                <a:lnTo>
                  <a:pt x="438759" y="10696575"/>
                </a:lnTo>
                <a:lnTo>
                  <a:pt x="537692" y="10696575"/>
                </a:lnTo>
                <a:close/>
              </a:path>
              <a:path w="7562850" h="10696575">
                <a:moveTo>
                  <a:pt x="1534642" y="757351"/>
                </a:moveTo>
                <a:lnTo>
                  <a:pt x="1435658" y="658418"/>
                </a:lnTo>
                <a:lnTo>
                  <a:pt x="1435658" y="757351"/>
                </a:lnTo>
                <a:lnTo>
                  <a:pt x="1294447" y="898575"/>
                </a:lnTo>
                <a:lnTo>
                  <a:pt x="1153236" y="757351"/>
                </a:lnTo>
                <a:lnTo>
                  <a:pt x="1294447" y="616140"/>
                </a:lnTo>
                <a:lnTo>
                  <a:pt x="1435658" y="757351"/>
                </a:lnTo>
                <a:lnTo>
                  <a:pt x="1435658" y="658418"/>
                </a:lnTo>
                <a:lnTo>
                  <a:pt x="1393367" y="616140"/>
                </a:lnTo>
                <a:lnTo>
                  <a:pt x="1294447" y="517258"/>
                </a:lnTo>
                <a:lnTo>
                  <a:pt x="1054341" y="757351"/>
                </a:lnTo>
                <a:lnTo>
                  <a:pt x="1294447" y="997458"/>
                </a:lnTo>
                <a:lnTo>
                  <a:pt x="1319187" y="972718"/>
                </a:lnTo>
                <a:lnTo>
                  <a:pt x="1534642" y="757351"/>
                </a:lnTo>
                <a:close/>
              </a:path>
              <a:path w="7562850" h="10696575">
                <a:moveTo>
                  <a:pt x="1570672" y="9945065"/>
                </a:moveTo>
                <a:lnTo>
                  <a:pt x="1471688" y="9846132"/>
                </a:lnTo>
                <a:lnTo>
                  <a:pt x="1471688" y="9945065"/>
                </a:lnTo>
                <a:lnTo>
                  <a:pt x="1330477" y="10086276"/>
                </a:lnTo>
                <a:lnTo>
                  <a:pt x="1189266" y="9945065"/>
                </a:lnTo>
                <a:lnTo>
                  <a:pt x="1330477" y="9803854"/>
                </a:lnTo>
                <a:lnTo>
                  <a:pt x="1471688" y="9945065"/>
                </a:lnTo>
                <a:lnTo>
                  <a:pt x="1471688" y="9846132"/>
                </a:lnTo>
                <a:lnTo>
                  <a:pt x="1429397" y="9803854"/>
                </a:lnTo>
                <a:lnTo>
                  <a:pt x="1330477" y="9704959"/>
                </a:lnTo>
                <a:lnTo>
                  <a:pt x="1090371" y="9945065"/>
                </a:lnTo>
                <a:lnTo>
                  <a:pt x="1330477" y="10185171"/>
                </a:lnTo>
                <a:lnTo>
                  <a:pt x="1355217" y="10160419"/>
                </a:lnTo>
                <a:lnTo>
                  <a:pt x="1570672" y="9945065"/>
                </a:lnTo>
                <a:close/>
              </a:path>
              <a:path w="7562850" h="10696575">
                <a:moveTo>
                  <a:pt x="1781644" y="757351"/>
                </a:moveTo>
                <a:lnTo>
                  <a:pt x="1682762" y="658495"/>
                </a:lnTo>
                <a:lnTo>
                  <a:pt x="1682762" y="757351"/>
                </a:lnTo>
                <a:lnTo>
                  <a:pt x="1294447" y="1145590"/>
                </a:lnTo>
                <a:lnTo>
                  <a:pt x="906221" y="757351"/>
                </a:lnTo>
                <a:lnTo>
                  <a:pt x="1294447" y="369138"/>
                </a:lnTo>
                <a:lnTo>
                  <a:pt x="1682762" y="757351"/>
                </a:lnTo>
                <a:lnTo>
                  <a:pt x="1682762" y="658495"/>
                </a:lnTo>
                <a:lnTo>
                  <a:pt x="1393355" y="369138"/>
                </a:lnTo>
                <a:lnTo>
                  <a:pt x="1294447" y="270243"/>
                </a:lnTo>
                <a:lnTo>
                  <a:pt x="807326" y="757351"/>
                </a:lnTo>
                <a:lnTo>
                  <a:pt x="1294447" y="1244561"/>
                </a:lnTo>
                <a:lnTo>
                  <a:pt x="1319187" y="1219822"/>
                </a:lnTo>
                <a:lnTo>
                  <a:pt x="1269695" y="1170330"/>
                </a:lnTo>
                <a:lnTo>
                  <a:pt x="1294536" y="1195070"/>
                </a:lnTo>
                <a:lnTo>
                  <a:pt x="1319187" y="1219822"/>
                </a:lnTo>
                <a:lnTo>
                  <a:pt x="1781644" y="757351"/>
                </a:lnTo>
                <a:close/>
              </a:path>
              <a:path w="7562850" h="10696575">
                <a:moveTo>
                  <a:pt x="1817674" y="9945065"/>
                </a:moveTo>
                <a:lnTo>
                  <a:pt x="1718792" y="9846208"/>
                </a:lnTo>
                <a:lnTo>
                  <a:pt x="1718792" y="9945065"/>
                </a:lnTo>
                <a:lnTo>
                  <a:pt x="1330477" y="10333291"/>
                </a:lnTo>
                <a:lnTo>
                  <a:pt x="942251" y="9945065"/>
                </a:lnTo>
                <a:lnTo>
                  <a:pt x="1330477" y="9556839"/>
                </a:lnTo>
                <a:lnTo>
                  <a:pt x="1718792" y="9945065"/>
                </a:lnTo>
                <a:lnTo>
                  <a:pt x="1718792" y="9846208"/>
                </a:lnTo>
                <a:lnTo>
                  <a:pt x="1429385" y="9556839"/>
                </a:lnTo>
                <a:lnTo>
                  <a:pt x="1330477" y="9457944"/>
                </a:lnTo>
                <a:lnTo>
                  <a:pt x="843356" y="9945065"/>
                </a:lnTo>
                <a:lnTo>
                  <a:pt x="1330477" y="10432275"/>
                </a:lnTo>
                <a:lnTo>
                  <a:pt x="1355217" y="10407523"/>
                </a:lnTo>
                <a:lnTo>
                  <a:pt x="1305725" y="10358031"/>
                </a:lnTo>
                <a:lnTo>
                  <a:pt x="1330566" y="10382783"/>
                </a:lnTo>
                <a:lnTo>
                  <a:pt x="1355217" y="10407523"/>
                </a:lnTo>
                <a:lnTo>
                  <a:pt x="1817674" y="9945065"/>
                </a:lnTo>
                <a:close/>
              </a:path>
              <a:path w="7562850" h="10696575">
                <a:moveTo>
                  <a:pt x="2037232" y="757351"/>
                </a:moveTo>
                <a:lnTo>
                  <a:pt x="1938248" y="658393"/>
                </a:lnTo>
                <a:lnTo>
                  <a:pt x="1938248" y="757351"/>
                </a:lnTo>
                <a:lnTo>
                  <a:pt x="1294447" y="1401165"/>
                </a:lnTo>
                <a:lnTo>
                  <a:pt x="650722" y="757351"/>
                </a:lnTo>
                <a:lnTo>
                  <a:pt x="1294447" y="113550"/>
                </a:lnTo>
                <a:lnTo>
                  <a:pt x="1938248" y="757351"/>
                </a:lnTo>
                <a:lnTo>
                  <a:pt x="1938248" y="658393"/>
                </a:lnTo>
                <a:lnTo>
                  <a:pt x="1393342" y="113550"/>
                </a:lnTo>
                <a:lnTo>
                  <a:pt x="1294447" y="14655"/>
                </a:lnTo>
                <a:lnTo>
                  <a:pt x="551738" y="757351"/>
                </a:lnTo>
                <a:lnTo>
                  <a:pt x="1294447" y="1500060"/>
                </a:lnTo>
                <a:lnTo>
                  <a:pt x="1319187" y="1475308"/>
                </a:lnTo>
                <a:lnTo>
                  <a:pt x="2037232" y="757351"/>
                </a:lnTo>
                <a:close/>
              </a:path>
              <a:path w="7562850" h="10696575">
                <a:moveTo>
                  <a:pt x="2073262" y="9945065"/>
                </a:moveTo>
                <a:lnTo>
                  <a:pt x="1974278" y="9846094"/>
                </a:lnTo>
                <a:lnTo>
                  <a:pt x="1974278" y="9945065"/>
                </a:lnTo>
                <a:lnTo>
                  <a:pt x="1330477" y="10588866"/>
                </a:lnTo>
                <a:lnTo>
                  <a:pt x="686752" y="9945065"/>
                </a:lnTo>
                <a:lnTo>
                  <a:pt x="1330477" y="9301264"/>
                </a:lnTo>
                <a:lnTo>
                  <a:pt x="1974278" y="9945065"/>
                </a:lnTo>
                <a:lnTo>
                  <a:pt x="1974278" y="9846094"/>
                </a:lnTo>
                <a:lnTo>
                  <a:pt x="1429385" y="9301264"/>
                </a:lnTo>
                <a:lnTo>
                  <a:pt x="1330477" y="9202369"/>
                </a:lnTo>
                <a:lnTo>
                  <a:pt x="587781" y="9945065"/>
                </a:lnTo>
                <a:lnTo>
                  <a:pt x="1330477" y="10687761"/>
                </a:lnTo>
                <a:lnTo>
                  <a:pt x="1355217" y="10663022"/>
                </a:lnTo>
                <a:lnTo>
                  <a:pt x="2073262" y="9945065"/>
                </a:lnTo>
                <a:close/>
              </a:path>
              <a:path w="7562850" h="10696575">
                <a:moveTo>
                  <a:pt x="4024084" y="757351"/>
                </a:moveTo>
                <a:lnTo>
                  <a:pt x="3925112" y="658418"/>
                </a:lnTo>
                <a:lnTo>
                  <a:pt x="3925112" y="757351"/>
                </a:lnTo>
                <a:lnTo>
                  <a:pt x="3783901" y="898575"/>
                </a:lnTo>
                <a:lnTo>
                  <a:pt x="3642677" y="757351"/>
                </a:lnTo>
                <a:lnTo>
                  <a:pt x="3783901" y="616140"/>
                </a:lnTo>
                <a:lnTo>
                  <a:pt x="3925112" y="757351"/>
                </a:lnTo>
                <a:lnTo>
                  <a:pt x="3925112" y="658418"/>
                </a:lnTo>
                <a:lnTo>
                  <a:pt x="3882821" y="616140"/>
                </a:lnTo>
                <a:lnTo>
                  <a:pt x="3783901" y="517258"/>
                </a:lnTo>
                <a:lnTo>
                  <a:pt x="3543795" y="757351"/>
                </a:lnTo>
                <a:lnTo>
                  <a:pt x="3783901" y="997458"/>
                </a:lnTo>
                <a:lnTo>
                  <a:pt x="3808641" y="972718"/>
                </a:lnTo>
                <a:lnTo>
                  <a:pt x="4024084" y="757351"/>
                </a:lnTo>
                <a:close/>
              </a:path>
              <a:path w="7562850" h="10696575">
                <a:moveTo>
                  <a:pt x="4052392" y="9945065"/>
                </a:moveTo>
                <a:lnTo>
                  <a:pt x="3953408" y="9846119"/>
                </a:lnTo>
                <a:lnTo>
                  <a:pt x="3953408" y="9945065"/>
                </a:lnTo>
                <a:lnTo>
                  <a:pt x="3812197" y="10086276"/>
                </a:lnTo>
                <a:lnTo>
                  <a:pt x="3670985" y="9945065"/>
                </a:lnTo>
                <a:lnTo>
                  <a:pt x="3812197" y="9803854"/>
                </a:lnTo>
                <a:lnTo>
                  <a:pt x="3953408" y="9945065"/>
                </a:lnTo>
                <a:lnTo>
                  <a:pt x="3953408" y="9846119"/>
                </a:lnTo>
                <a:lnTo>
                  <a:pt x="3911130" y="9803854"/>
                </a:lnTo>
                <a:lnTo>
                  <a:pt x="3812197" y="9704959"/>
                </a:lnTo>
                <a:lnTo>
                  <a:pt x="3572091" y="9945065"/>
                </a:lnTo>
                <a:lnTo>
                  <a:pt x="3812197" y="10185171"/>
                </a:lnTo>
                <a:lnTo>
                  <a:pt x="3836936" y="10160419"/>
                </a:lnTo>
                <a:lnTo>
                  <a:pt x="4052392" y="9945065"/>
                </a:lnTo>
                <a:close/>
              </a:path>
              <a:path w="7562850" h="10696575">
                <a:moveTo>
                  <a:pt x="4271099" y="757351"/>
                </a:moveTo>
                <a:lnTo>
                  <a:pt x="4172204" y="658482"/>
                </a:lnTo>
                <a:lnTo>
                  <a:pt x="4172204" y="757351"/>
                </a:lnTo>
                <a:lnTo>
                  <a:pt x="3783901" y="1145590"/>
                </a:lnTo>
                <a:lnTo>
                  <a:pt x="3395675" y="757351"/>
                </a:lnTo>
                <a:lnTo>
                  <a:pt x="3783901" y="369138"/>
                </a:lnTo>
                <a:lnTo>
                  <a:pt x="4172204" y="757351"/>
                </a:lnTo>
                <a:lnTo>
                  <a:pt x="4172204" y="658482"/>
                </a:lnTo>
                <a:lnTo>
                  <a:pt x="3882809" y="369138"/>
                </a:lnTo>
                <a:lnTo>
                  <a:pt x="3783901" y="270243"/>
                </a:lnTo>
                <a:lnTo>
                  <a:pt x="3296780" y="757351"/>
                </a:lnTo>
                <a:lnTo>
                  <a:pt x="3783901" y="1244561"/>
                </a:lnTo>
                <a:lnTo>
                  <a:pt x="3808641" y="1219822"/>
                </a:lnTo>
                <a:lnTo>
                  <a:pt x="3759149" y="1170330"/>
                </a:lnTo>
                <a:lnTo>
                  <a:pt x="3783977" y="1195070"/>
                </a:lnTo>
                <a:lnTo>
                  <a:pt x="3808641" y="1219822"/>
                </a:lnTo>
                <a:lnTo>
                  <a:pt x="4271099" y="757351"/>
                </a:lnTo>
                <a:close/>
              </a:path>
              <a:path w="7562850" h="10696575">
                <a:moveTo>
                  <a:pt x="4299407" y="9945065"/>
                </a:moveTo>
                <a:lnTo>
                  <a:pt x="4200512" y="9846196"/>
                </a:lnTo>
                <a:lnTo>
                  <a:pt x="4200512" y="9945065"/>
                </a:lnTo>
                <a:lnTo>
                  <a:pt x="3812197" y="10333291"/>
                </a:lnTo>
                <a:lnTo>
                  <a:pt x="3423970" y="9945065"/>
                </a:lnTo>
                <a:lnTo>
                  <a:pt x="3812197" y="9556839"/>
                </a:lnTo>
                <a:lnTo>
                  <a:pt x="4200512" y="9945065"/>
                </a:lnTo>
                <a:lnTo>
                  <a:pt x="4200512" y="9846196"/>
                </a:lnTo>
                <a:lnTo>
                  <a:pt x="3911104" y="9556839"/>
                </a:lnTo>
                <a:lnTo>
                  <a:pt x="3812197" y="9457944"/>
                </a:lnTo>
                <a:lnTo>
                  <a:pt x="3325076" y="9945065"/>
                </a:lnTo>
                <a:lnTo>
                  <a:pt x="3812197" y="10432275"/>
                </a:lnTo>
                <a:lnTo>
                  <a:pt x="3836936" y="10407523"/>
                </a:lnTo>
                <a:lnTo>
                  <a:pt x="3787457" y="10358031"/>
                </a:lnTo>
                <a:lnTo>
                  <a:pt x="3812286" y="10382783"/>
                </a:lnTo>
                <a:lnTo>
                  <a:pt x="3836936" y="10407523"/>
                </a:lnTo>
                <a:lnTo>
                  <a:pt x="4299407" y="9945065"/>
                </a:lnTo>
                <a:close/>
              </a:path>
              <a:path w="7562850" h="10696575">
                <a:moveTo>
                  <a:pt x="4526686" y="757351"/>
                </a:moveTo>
                <a:lnTo>
                  <a:pt x="4427702" y="658393"/>
                </a:lnTo>
                <a:lnTo>
                  <a:pt x="4427702" y="757351"/>
                </a:lnTo>
                <a:lnTo>
                  <a:pt x="3783901" y="1401165"/>
                </a:lnTo>
                <a:lnTo>
                  <a:pt x="3140176" y="757351"/>
                </a:lnTo>
                <a:lnTo>
                  <a:pt x="3783901" y="113550"/>
                </a:lnTo>
                <a:lnTo>
                  <a:pt x="4427702" y="757351"/>
                </a:lnTo>
                <a:lnTo>
                  <a:pt x="4427702" y="658393"/>
                </a:lnTo>
                <a:lnTo>
                  <a:pt x="3882796" y="113550"/>
                </a:lnTo>
                <a:lnTo>
                  <a:pt x="3783901" y="14655"/>
                </a:lnTo>
                <a:lnTo>
                  <a:pt x="3041192" y="757351"/>
                </a:lnTo>
                <a:lnTo>
                  <a:pt x="3783901" y="1500060"/>
                </a:lnTo>
                <a:lnTo>
                  <a:pt x="3808641" y="1475308"/>
                </a:lnTo>
                <a:lnTo>
                  <a:pt x="4526686" y="757351"/>
                </a:lnTo>
                <a:close/>
              </a:path>
              <a:path w="7562850" h="10696575">
                <a:moveTo>
                  <a:pt x="4554982" y="9945065"/>
                </a:moveTo>
                <a:lnTo>
                  <a:pt x="4455998" y="9846094"/>
                </a:lnTo>
                <a:lnTo>
                  <a:pt x="4455998" y="9945065"/>
                </a:lnTo>
                <a:lnTo>
                  <a:pt x="3812197" y="10588866"/>
                </a:lnTo>
                <a:lnTo>
                  <a:pt x="3168472" y="9945065"/>
                </a:lnTo>
                <a:lnTo>
                  <a:pt x="3812197" y="9301264"/>
                </a:lnTo>
                <a:lnTo>
                  <a:pt x="4455998" y="9945065"/>
                </a:lnTo>
                <a:lnTo>
                  <a:pt x="4455998" y="9846094"/>
                </a:lnTo>
                <a:lnTo>
                  <a:pt x="3911104" y="9301264"/>
                </a:lnTo>
                <a:lnTo>
                  <a:pt x="3812197" y="9202369"/>
                </a:lnTo>
                <a:lnTo>
                  <a:pt x="3069501" y="9945065"/>
                </a:lnTo>
                <a:lnTo>
                  <a:pt x="3812197" y="10687761"/>
                </a:lnTo>
                <a:lnTo>
                  <a:pt x="3836936" y="10663022"/>
                </a:lnTo>
                <a:lnTo>
                  <a:pt x="4554982" y="9945065"/>
                </a:lnTo>
                <a:close/>
              </a:path>
              <a:path w="7562850" h="10696575">
                <a:moveTo>
                  <a:pt x="6497523" y="757351"/>
                </a:moveTo>
                <a:lnTo>
                  <a:pt x="6398539" y="658418"/>
                </a:lnTo>
                <a:lnTo>
                  <a:pt x="6398539" y="757351"/>
                </a:lnTo>
                <a:lnTo>
                  <a:pt x="6257328" y="898575"/>
                </a:lnTo>
                <a:lnTo>
                  <a:pt x="6116117" y="757351"/>
                </a:lnTo>
                <a:lnTo>
                  <a:pt x="6257328" y="616140"/>
                </a:lnTo>
                <a:lnTo>
                  <a:pt x="6398539" y="757351"/>
                </a:lnTo>
                <a:lnTo>
                  <a:pt x="6398539" y="658418"/>
                </a:lnTo>
                <a:lnTo>
                  <a:pt x="6356248" y="616140"/>
                </a:lnTo>
                <a:lnTo>
                  <a:pt x="6257328" y="517258"/>
                </a:lnTo>
                <a:lnTo>
                  <a:pt x="6017222" y="757351"/>
                </a:lnTo>
                <a:lnTo>
                  <a:pt x="6257328" y="997458"/>
                </a:lnTo>
                <a:lnTo>
                  <a:pt x="6282067" y="972718"/>
                </a:lnTo>
                <a:lnTo>
                  <a:pt x="6497523" y="757351"/>
                </a:lnTo>
                <a:close/>
              </a:path>
              <a:path w="7562850" h="10696575">
                <a:moveTo>
                  <a:pt x="6744525" y="757351"/>
                </a:moveTo>
                <a:lnTo>
                  <a:pt x="6645643" y="658495"/>
                </a:lnTo>
                <a:lnTo>
                  <a:pt x="6645643" y="757351"/>
                </a:lnTo>
                <a:lnTo>
                  <a:pt x="6257328" y="1145590"/>
                </a:lnTo>
                <a:lnTo>
                  <a:pt x="5869102" y="757351"/>
                </a:lnTo>
                <a:lnTo>
                  <a:pt x="6257328" y="369138"/>
                </a:lnTo>
                <a:lnTo>
                  <a:pt x="6645643" y="757351"/>
                </a:lnTo>
                <a:lnTo>
                  <a:pt x="6645643" y="658495"/>
                </a:lnTo>
                <a:lnTo>
                  <a:pt x="6356236" y="369138"/>
                </a:lnTo>
                <a:lnTo>
                  <a:pt x="6257328" y="270243"/>
                </a:lnTo>
                <a:lnTo>
                  <a:pt x="5770207" y="757351"/>
                </a:lnTo>
                <a:lnTo>
                  <a:pt x="6257328" y="1244561"/>
                </a:lnTo>
                <a:lnTo>
                  <a:pt x="6282067" y="1219822"/>
                </a:lnTo>
                <a:lnTo>
                  <a:pt x="6232576" y="1170330"/>
                </a:lnTo>
                <a:lnTo>
                  <a:pt x="6257417" y="1195070"/>
                </a:lnTo>
                <a:lnTo>
                  <a:pt x="6282067" y="1219822"/>
                </a:lnTo>
                <a:lnTo>
                  <a:pt x="6744525" y="757351"/>
                </a:lnTo>
                <a:close/>
              </a:path>
              <a:path w="7562850" h="10696575">
                <a:moveTo>
                  <a:pt x="7000113" y="757351"/>
                </a:moveTo>
                <a:lnTo>
                  <a:pt x="6901129" y="658393"/>
                </a:lnTo>
                <a:lnTo>
                  <a:pt x="6901129" y="757351"/>
                </a:lnTo>
                <a:lnTo>
                  <a:pt x="6257328" y="1401165"/>
                </a:lnTo>
                <a:lnTo>
                  <a:pt x="5613603" y="757351"/>
                </a:lnTo>
                <a:lnTo>
                  <a:pt x="6257328" y="113550"/>
                </a:lnTo>
                <a:lnTo>
                  <a:pt x="6901129" y="757351"/>
                </a:lnTo>
                <a:lnTo>
                  <a:pt x="6901129" y="658393"/>
                </a:lnTo>
                <a:lnTo>
                  <a:pt x="6356223" y="113550"/>
                </a:lnTo>
                <a:lnTo>
                  <a:pt x="6257328" y="14655"/>
                </a:lnTo>
                <a:lnTo>
                  <a:pt x="5514619" y="757351"/>
                </a:lnTo>
                <a:lnTo>
                  <a:pt x="6257328" y="1500060"/>
                </a:lnTo>
                <a:lnTo>
                  <a:pt x="6282067" y="1475308"/>
                </a:lnTo>
                <a:lnTo>
                  <a:pt x="7000113" y="757351"/>
                </a:lnTo>
                <a:close/>
              </a:path>
              <a:path w="7562850" h="10696575">
                <a:moveTo>
                  <a:pt x="7036143" y="9945065"/>
                </a:moveTo>
                <a:lnTo>
                  <a:pt x="6937159" y="9846094"/>
                </a:lnTo>
                <a:lnTo>
                  <a:pt x="6937159" y="9945065"/>
                </a:lnTo>
                <a:lnTo>
                  <a:pt x="6293358" y="10588866"/>
                </a:lnTo>
                <a:lnTo>
                  <a:pt x="5649633" y="9945065"/>
                </a:lnTo>
                <a:lnTo>
                  <a:pt x="6293358" y="9301264"/>
                </a:lnTo>
                <a:lnTo>
                  <a:pt x="6937159" y="9945065"/>
                </a:lnTo>
                <a:lnTo>
                  <a:pt x="6937159" y="9846094"/>
                </a:lnTo>
                <a:lnTo>
                  <a:pt x="6392265" y="9301264"/>
                </a:lnTo>
                <a:lnTo>
                  <a:pt x="6293358" y="9202369"/>
                </a:lnTo>
                <a:lnTo>
                  <a:pt x="5550662" y="9945065"/>
                </a:lnTo>
                <a:lnTo>
                  <a:pt x="6293358" y="10687761"/>
                </a:lnTo>
                <a:lnTo>
                  <a:pt x="6318097" y="10663022"/>
                </a:lnTo>
                <a:lnTo>
                  <a:pt x="7036143" y="9945065"/>
                </a:lnTo>
                <a:close/>
              </a:path>
              <a:path w="7562850" h="10696575">
                <a:moveTo>
                  <a:pt x="7562850" y="10219817"/>
                </a:moveTo>
                <a:lnTo>
                  <a:pt x="7086092" y="10696575"/>
                </a:lnTo>
                <a:lnTo>
                  <a:pt x="7185076" y="10696575"/>
                </a:lnTo>
                <a:lnTo>
                  <a:pt x="7562850" y="10318801"/>
                </a:lnTo>
                <a:lnTo>
                  <a:pt x="7562850" y="10219817"/>
                </a:lnTo>
                <a:close/>
              </a:path>
              <a:path w="7562850" h="10696575">
                <a:moveTo>
                  <a:pt x="7562850" y="9571330"/>
                </a:moveTo>
                <a:lnTo>
                  <a:pt x="6392253" y="8400732"/>
                </a:lnTo>
                <a:lnTo>
                  <a:pt x="6293358" y="8301837"/>
                </a:lnTo>
                <a:lnTo>
                  <a:pt x="5052771" y="9542424"/>
                </a:lnTo>
                <a:lnTo>
                  <a:pt x="5003292" y="9492945"/>
                </a:lnTo>
                <a:lnTo>
                  <a:pt x="5003292" y="9591904"/>
                </a:lnTo>
                <a:lnTo>
                  <a:pt x="4890173" y="9705022"/>
                </a:lnTo>
                <a:lnTo>
                  <a:pt x="4840694" y="9655556"/>
                </a:lnTo>
                <a:lnTo>
                  <a:pt x="4840694" y="9754502"/>
                </a:lnTo>
                <a:lnTo>
                  <a:pt x="4741405" y="9853790"/>
                </a:lnTo>
                <a:lnTo>
                  <a:pt x="3911092" y="9023464"/>
                </a:lnTo>
                <a:lnTo>
                  <a:pt x="3812197" y="8924569"/>
                </a:lnTo>
                <a:lnTo>
                  <a:pt x="2882696" y="9854070"/>
                </a:lnTo>
                <a:lnTo>
                  <a:pt x="2833205" y="9804578"/>
                </a:lnTo>
                <a:lnTo>
                  <a:pt x="2833205" y="9903562"/>
                </a:lnTo>
                <a:lnTo>
                  <a:pt x="2791701" y="9945065"/>
                </a:lnTo>
                <a:lnTo>
                  <a:pt x="2833205" y="9986581"/>
                </a:lnTo>
                <a:lnTo>
                  <a:pt x="2733916" y="10085870"/>
                </a:lnTo>
                <a:lnTo>
                  <a:pt x="2684437" y="10036391"/>
                </a:lnTo>
                <a:lnTo>
                  <a:pt x="2684437" y="10135349"/>
                </a:lnTo>
                <a:lnTo>
                  <a:pt x="2571292" y="10248494"/>
                </a:lnTo>
                <a:lnTo>
                  <a:pt x="2458174" y="10135387"/>
                </a:lnTo>
                <a:lnTo>
                  <a:pt x="2571331" y="10022256"/>
                </a:lnTo>
                <a:lnTo>
                  <a:pt x="2684437" y="10135349"/>
                </a:lnTo>
                <a:lnTo>
                  <a:pt x="2684437" y="10036391"/>
                </a:lnTo>
                <a:lnTo>
                  <a:pt x="2620822" y="9972764"/>
                </a:lnTo>
                <a:lnTo>
                  <a:pt x="2648521" y="9945065"/>
                </a:lnTo>
                <a:lnTo>
                  <a:pt x="2620822" y="9917379"/>
                </a:lnTo>
                <a:lnTo>
                  <a:pt x="2733929" y="9804273"/>
                </a:lnTo>
                <a:lnTo>
                  <a:pt x="2833205" y="9903562"/>
                </a:lnTo>
                <a:lnTo>
                  <a:pt x="2833205" y="9804578"/>
                </a:lnTo>
                <a:lnTo>
                  <a:pt x="2783421" y="9754781"/>
                </a:lnTo>
                <a:lnTo>
                  <a:pt x="3812197" y="8726005"/>
                </a:lnTo>
                <a:lnTo>
                  <a:pt x="4840694" y="9754502"/>
                </a:lnTo>
                <a:lnTo>
                  <a:pt x="4840694" y="9655556"/>
                </a:lnTo>
                <a:lnTo>
                  <a:pt x="3911092" y="8726005"/>
                </a:lnTo>
                <a:lnTo>
                  <a:pt x="3812197" y="8627110"/>
                </a:lnTo>
                <a:lnTo>
                  <a:pt x="2733929" y="9705302"/>
                </a:lnTo>
                <a:lnTo>
                  <a:pt x="2684437" y="9655810"/>
                </a:lnTo>
                <a:lnTo>
                  <a:pt x="2684437" y="9754794"/>
                </a:lnTo>
                <a:lnTo>
                  <a:pt x="2571331" y="9867887"/>
                </a:lnTo>
                <a:lnTo>
                  <a:pt x="2521839" y="9818408"/>
                </a:lnTo>
                <a:lnTo>
                  <a:pt x="2521839" y="9917379"/>
                </a:lnTo>
                <a:lnTo>
                  <a:pt x="2494153" y="9945065"/>
                </a:lnTo>
                <a:lnTo>
                  <a:pt x="2521839" y="9972764"/>
                </a:lnTo>
                <a:lnTo>
                  <a:pt x="2408694" y="10085908"/>
                </a:lnTo>
                <a:lnTo>
                  <a:pt x="2309406" y="9986620"/>
                </a:lnTo>
                <a:lnTo>
                  <a:pt x="2350960" y="9945065"/>
                </a:lnTo>
                <a:lnTo>
                  <a:pt x="2309406" y="9903523"/>
                </a:lnTo>
                <a:lnTo>
                  <a:pt x="2408694" y="9804235"/>
                </a:lnTo>
                <a:lnTo>
                  <a:pt x="2521839" y="9917379"/>
                </a:lnTo>
                <a:lnTo>
                  <a:pt x="2521839" y="9818408"/>
                </a:lnTo>
                <a:lnTo>
                  <a:pt x="2458174" y="9754756"/>
                </a:lnTo>
                <a:lnTo>
                  <a:pt x="2571292" y="9641637"/>
                </a:lnTo>
                <a:lnTo>
                  <a:pt x="2684437" y="9754794"/>
                </a:lnTo>
                <a:lnTo>
                  <a:pt x="2684437" y="9655810"/>
                </a:lnTo>
                <a:lnTo>
                  <a:pt x="2620784" y="9592145"/>
                </a:lnTo>
                <a:lnTo>
                  <a:pt x="3812197" y="8400732"/>
                </a:lnTo>
                <a:lnTo>
                  <a:pt x="5003292" y="9591904"/>
                </a:lnTo>
                <a:lnTo>
                  <a:pt x="5003292" y="9492945"/>
                </a:lnTo>
                <a:lnTo>
                  <a:pt x="3911092" y="8400732"/>
                </a:lnTo>
                <a:lnTo>
                  <a:pt x="3812197" y="8301837"/>
                </a:lnTo>
                <a:lnTo>
                  <a:pt x="2571331" y="9542704"/>
                </a:lnTo>
                <a:lnTo>
                  <a:pt x="1429372" y="8400732"/>
                </a:lnTo>
                <a:lnTo>
                  <a:pt x="1330477" y="8301837"/>
                </a:lnTo>
                <a:lnTo>
                  <a:pt x="0" y="9632315"/>
                </a:lnTo>
                <a:lnTo>
                  <a:pt x="0" y="9731210"/>
                </a:lnTo>
                <a:lnTo>
                  <a:pt x="1330477" y="8400732"/>
                </a:lnTo>
                <a:lnTo>
                  <a:pt x="2521851" y="9592183"/>
                </a:lnTo>
                <a:lnTo>
                  <a:pt x="2408732" y="9705302"/>
                </a:lnTo>
                <a:lnTo>
                  <a:pt x="1429372" y="8726005"/>
                </a:lnTo>
                <a:lnTo>
                  <a:pt x="1330477" y="8627110"/>
                </a:lnTo>
                <a:lnTo>
                  <a:pt x="12433" y="9945065"/>
                </a:lnTo>
                <a:lnTo>
                  <a:pt x="763981" y="10696575"/>
                </a:lnTo>
                <a:lnTo>
                  <a:pt x="862914" y="10696575"/>
                </a:lnTo>
                <a:lnTo>
                  <a:pt x="111417" y="9945065"/>
                </a:lnTo>
                <a:lnTo>
                  <a:pt x="1330477" y="8726005"/>
                </a:lnTo>
                <a:lnTo>
                  <a:pt x="2359253" y="9754781"/>
                </a:lnTo>
                <a:lnTo>
                  <a:pt x="2259965" y="9854070"/>
                </a:lnTo>
                <a:lnTo>
                  <a:pt x="1429372" y="9023464"/>
                </a:lnTo>
                <a:lnTo>
                  <a:pt x="1330477" y="8924569"/>
                </a:lnTo>
                <a:lnTo>
                  <a:pt x="309981" y="9945065"/>
                </a:lnTo>
                <a:lnTo>
                  <a:pt x="1061491" y="10696575"/>
                </a:lnTo>
                <a:lnTo>
                  <a:pt x="1160449" y="10696575"/>
                </a:lnTo>
                <a:lnTo>
                  <a:pt x="408876" y="9945065"/>
                </a:lnTo>
                <a:lnTo>
                  <a:pt x="1330477" y="9023464"/>
                </a:lnTo>
                <a:lnTo>
                  <a:pt x="2210524" y="9903511"/>
                </a:lnTo>
                <a:lnTo>
                  <a:pt x="2168969" y="9945065"/>
                </a:lnTo>
                <a:lnTo>
                  <a:pt x="2210511" y="9986632"/>
                </a:lnTo>
                <a:lnTo>
                  <a:pt x="1500492" y="10696575"/>
                </a:lnTo>
                <a:lnTo>
                  <a:pt x="1599463" y="10696575"/>
                </a:lnTo>
                <a:lnTo>
                  <a:pt x="2259952" y="10036073"/>
                </a:lnTo>
                <a:lnTo>
                  <a:pt x="2359241" y="10135362"/>
                </a:lnTo>
                <a:lnTo>
                  <a:pt x="1798027" y="10696575"/>
                </a:lnTo>
                <a:lnTo>
                  <a:pt x="1896960" y="10696575"/>
                </a:lnTo>
                <a:lnTo>
                  <a:pt x="2408732" y="10184841"/>
                </a:lnTo>
                <a:lnTo>
                  <a:pt x="2521839" y="10297947"/>
                </a:lnTo>
                <a:lnTo>
                  <a:pt x="2123211" y="10696575"/>
                </a:lnTo>
                <a:lnTo>
                  <a:pt x="2222195" y="10696575"/>
                </a:lnTo>
                <a:lnTo>
                  <a:pt x="2571331" y="10347439"/>
                </a:lnTo>
                <a:lnTo>
                  <a:pt x="2920479" y="10696575"/>
                </a:lnTo>
                <a:lnTo>
                  <a:pt x="3019412" y="10696575"/>
                </a:lnTo>
                <a:lnTo>
                  <a:pt x="2620784" y="10297985"/>
                </a:lnTo>
                <a:lnTo>
                  <a:pt x="2733929" y="10184841"/>
                </a:lnTo>
                <a:lnTo>
                  <a:pt x="3245713" y="10696575"/>
                </a:lnTo>
                <a:lnTo>
                  <a:pt x="3344634" y="10696575"/>
                </a:lnTo>
                <a:lnTo>
                  <a:pt x="2783408" y="10135362"/>
                </a:lnTo>
                <a:lnTo>
                  <a:pt x="2882696" y="10036073"/>
                </a:lnTo>
                <a:lnTo>
                  <a:pt x="3543211" y="10696575"/>
                </a:lnTo>
                <a:lnTo>
                  <a:pt x="3642169" y="10696575"/>
                </a:lnTo>
                <a:lnTo>
                  <a:pt x="2932150" y="9986620"/>
                </a:lnTo>
                <a:lnTo>
                  <a:pt x="2973705" y="9945065"/>
                </a:lnTo>
                <a:lnTo>
                  <a:pt x="2932150" y="9903511"/>
                </a:lnTo>
                <a:lnTo>
                  <a:pt x="3812197" y="9023464"/>
                </a:lnTo>
                <a:lnTo>
                  <a:pt x="4691964" y="9903231"/>
                </a:lnTo>
                <a:lnTo>
                  <a:pt x="4650130" y="9945065"/>
                </a:lnTo>
                <a:lnTo>
                  <a:pt x="4691951" y="9986899"/>
                </a:lnTo>
                <a:lnTo>
                  <a:pt x="3982224" y="10696575"/>
                </a:lnTo>
                <a:lnTo>
                  <a:pt x="4081183" y="10696575"/>
                </a:lnTo>
                <a:lnTo>
                  <a:pt x="4741405" y="10036353"/>
                </a:lnTo>
                <a:lnTo>
                  <a:pt x="4840694" y="10135641"/>
                </a:lnTo>
                <a:lnTo>
                  <a:pt x="4279760" y="10696575"/>
                </a:lnTo>
                <a:lnTo>
                  <a:pt x="4378680" y="10696575"/>
                </a:lnTo>
                <a:lnTo>
                  <a:pt x="4890173" y="10185121"/>
                </a:lnTo>
                <a:lnTo>
                  <a:pt x="5003279" y="10298227"/>
                </a:lnTo>
                <a:lnTo>
                  <a:pt x="4604944" y="10696575"/>
                </a:lnTo>
                <a:lnTo>
                  <a:pt x="4703915" y="10696575"/>
                </a:lnTo>
                <a:lnTo>
                  <a:pt x="5052771" y="10347719"/>
                </a:lnTo>
                <a:lnTo>
                  <a:pt x="5401640" y="10696575"/>
                </a:lnTo>
                <a:lnTo>
                  <a:pt x="5500573" y="10696575"/>
                </a:lnTo>
                <a:lnTo>
                  <a:pt x="5102225" y="10298265"/>
                </a:lnTo>
                <a:lnTo>
                  <a:pt x="5215369" y="10185121"/>
                </a:lnTo>
                <a:lnTo>
                  <a:pt x="5726862" y="10696575"/>
                </a:lnTo>
                <a:lnTo>
                  <a:pt x="5825795" y="10696575"/>
                </a:lnTo>
                <a:lnTo>
                  <a:pt x="5264848" y="10135641"/>
                </a:lnTo>
                <a:lnTo>
                  <a:pt x="5364137" y="10036353"/>
                </a:lnTo>
                <a:lnTo>
                  <a:pt x="6024372" y="10696575"/>
                </a:lnTo>
                <a:lnTo>
                  <a:pt x="6123330" y="10696575"/>
                </a:lnTo>
                <a:lnTo>
                  <a:pt x="5413591" y="9986899"/>
                </a:lnTo>
                <a:lnTo>
                  <a:pt x="5455424" y="9945065"/>
                </a:lnTo>
                <a:lnTo>
                  <a:pt x="5413591" y="9903231"/>
                </a:lnTo>
                <a:lnTo>
                  <a:pt x="6293358" y="9023464"/>
                </a:lnTo>
                <a:lnTo>
                  <a:pt x="7214959" y="9945065"/>
                </a:lnTo>
                <a:lnTo>
                  <a:pt x="6463385" y="10696575"/>
                </a:lnTo>
                <a:lnTo>
                  <a:pt x="6562344" y="10696575"/>
                </a:lnTo>
                <a:lnTo>
                  <a:pt x="7313841" y="9945065"/>
                </a:lnTo>
                <a:lnTo>
                  <a:pt x="6392253" y="9023464"/>
                </a:lnTo>
                <a:lnTo>
                  <a:pt x="6293358" y="8924569"/>
                </a:lnTo>
                <a:lnTo>
                  <a:pt x="5364137" y="9853790"/>
                </a:lnTo>
                <a:lnTo>
                  <a:pt x="5314645" y="9804298"/>
                </a:lnTo>
                <a:lnTo>
                  <a:pt x="5314645" y="9903282"/>
                </a:lnTo>
                <a:lnTo>
                  <a:pt x="5272862" y="9945065"/>
                </a:lnTo>
                <a:lnTo>
                  <a:pt x="5314645" y="9986861"/>
                </a:lnTo>
                <a:lnTo>
                  <a:pt x="5215356" y="10086149"/>
                </a:lnTo>
                <a:lnTo>
                  <a:pt x="5165877" y="10036670"/>
                </a:lnTo>
                <a:lnTo>
                  <a:pt x="5165877" y="10135629"/>
                </a:lnTo>
                <a:lnTo>
                  <a:pt x="5052733" y="10248773"/>
                </a:lnTo>
                <a:lnTo>
                  <a:pt x="4939627" y="10135667"/>
                </a:lnTo>
                <a:lnTo>
                  <a:pt x="5052771" y="10022535"/>
                </a:lnTo>
                <a:lnTo>
                  <a:pt x="5165877" y="10135629"/>
                </a:lnTo>
                <a:lnTo>
                  <a:pt x="5165877" y="10036670"/>
                </a:lnTo>
                <a:lnTo>
                  <a:pt x="5102263" y="9973043"/>
                </a:lnTo>
                <a:lnTo>
                  <a:pt x="5130241" y="9945065"/>
                </a:lnTo>
                <a:lnTo>
                  <a:pt x="5102263" y="9917100"/>
                </a:lnTo>
                <a:lnTo>
                  <a:pt x="5215369" y="9803994"/>
                </a:lnTo>
                <a:lnTo>
                  <a:pt x="5314645" y="9903282"/>
                </a:lnTo>
                <a:lnTo>
                  <a:pt x="5314645" y="9804298"/>
                </a:lnTo>
                <a:lnTo>
                  <a:pt x="5264861" y="9754502"/>
                </a:lnTo>
                <a:lnTo>
                  <a:pt x="6293358" y="8726005"/>
                </a:lnTo>
                <a:lnTo>
                  <a:pt x="7512418" y="9945065"/>
                </a:lnTo>
                <a:lnTo>
                  <a:pt x="6760908" y="10696575"/>
                </a:lnTo>
                <a:lnTo>
                  <a:pt x="6859841" y="10696575"/>
                </a:lnTo>
                <a:lnTo>
                  <a:pt x="7562850" y="9993617"/>
                </a:lnTo>
                <a:lnTo>
                  <a:pt x="7562850" y="9896513"/>
                </a:lnTo>
                <a:lnTo>
                  <a:pt x="6392253" y="8726005"/>
                </a:lnTo>
                <a:lnTo>
                  <a:pt x="6293358" y="8627110"/>
                </a:lnTo>
                <a:lnTo>
                  <a:pt x="5215369" y="9705022"/>
                </a:lnTo>
                <a:lnTo>
                  <a:pt x="5165877" y="9655531"/>
                </a:lnTo>
                <a:lnTo>
                  <a:pt x="5165877" y="9754514"/>
                </a:lnTo>
                <a:lnTo>
                  <a:pt x="5052771" y="9867621"/>
                </a:lnTo>
                <a:lnTo>
                  <a:pt x="5003279" y="9818141"/>
                </a:lnTo>
                <a:lnTo>
                  <a:pt x="5003279" y="9917100"/>
                </a:lnTo>
                <a:lnTo>
                  <a:pt x="4975314" y="9945065"/>
                </a:lnTo>
                <a:lnTo>
                  <a:pt x="5003279" y="9973043"/>
                </a:lnTo>
                <a:lnTo>
                  <a:pt x="4890135" y="10086188"/>
                </a:lnTo>
                <a:lnTo>
                  <a:pt x="4790859" y="9986899"/>
                </a:lnTo>
                <a:lnTo>
                  <a:pt x="4832693" y="9945065"/>
                </a:lnTo>
                <a:lnTo>
                  <a:pt x="4790859" y="9903231"/>
                </a:lnTo>
                <a:lnTo>
                  <a:pt x="4890135" y="9803955"/>
                </a:lnTo>
                <a:lnTo>
                  <a:pt x="5003279" y="9917100"/>
                </a:lnTo>
                <a:lnTo>
                  <a:pt x="5003279" y="9818141"/>
                </a:lnTo>
                <a:lnTo>
                  <a:pt x="4939614" y="9754476"/>
                </a:lnTo>
                <a:lnTo>
                  <a:pt x="5052733" y="9641357"/>
                </a:lnTo>
                <a:lnTo>
                  <a:pt x="5165877" y="9754514"/>
                </a:lnTo>
                <a:lnTo>
                  <a:pt x="5165877" y="9655531"/>
                </a:lnTo>
                <a:lnTo>
                  <a:pt x="5102225" y="9591865"/>
                </a:lnTo>
                <a:lnTo>
                  <a:pt x="6293358" y="8400732"/>
                </a:lnTo>
                <a:lnTo>
                  <a:pt x="7562850" y="9670288"/>
                </a:lnTo>
                <a:lnTo>
                  <a:pt x="7562850" y="9571330"/>
                </a:lnTo>
                <a:close/>
              </a:path>
              <a:path w="7562850" h="10696575">
                <a:moveTo>
                  <a:pt x="7562850" y="744829"/>
                </a:moveTo>
                <a:lnTo>
                  <a:pt x="6817957" y="0"/>
                </a:lnTo>
                <a:lnTo>
                  <a:pt x="6719024" y="0"/>
                </a:lnTo>
                <a:lnTo>
                  <a:pt x="7476388" y="757351"/>
                </a:lnTo>
                <a:lnTo>
                  <a:pt x="6257328" y="1976424"/>
                </a:lnTo>
                <a:lnTo>
                  <a:pt x="5232679" y="951788"/>
                </a:lnTo>
                <a:lnTo>
                  <a:pt x="5331968" y="852500"/>
                </a:lnTo>
                <a:lnTo>
                  <a:pt x="6257328" y="1777847"/>
                </a:lnTo>
                <a:lnTo>
                  <a:pt x="6282067" y="1753108"/>
                </a:lnTo>
                <a:lnTo>
                  <a:pt x="6232576" y="1703616"/>
                </a:lnTo>
                <a:lnTo>
                  <a:pt x="6257417" y="1728355"/>
                </a:lnTo>
                <a:lnTo>
                  <a:pt x="6282067" y="1753108"/>
                </a:lnTo>
                <a:lnTo>
                  <a:pt x="7277811" y="757351"/>
                </a:lnTo>
                <a:lnTo>
                  <a:pt x="6520447" y="0"/>
                </a:lnTo>
                <a:lnTo>
                  <a:pt x="6421564" y="0"/>
                </a:lnTo>
                <a:lnTo>
                  <a:pt x="7178916" y="757351"/>
                </a:lnTo>
                <a:lnTo>
                  <a:pt x="6257328" y="1678863"/>
                </a:lnTo>
                <a:lnTo>
                  <a:pt x="5381422" y="803046"/>
                </a:lnTo>
                <a:lnTo>
                  <a:pt x="5427116" y="757351"/>
                </a:lnTo>
                <a:lnTo>
                  <a:pt x="5381422" y="711669"/>
                </a:lnTo>
                <a:lnTo>
                  <a:pt x="6093091" y="0"/>
                </a:lnTo>
                <a:lnTo>
                  <a:pt x="5994197" y="0"/>
                </a:lnTo>
                <a:lnTo>
                  <a:pt x="5331968" y="662216"/>
                </a:lnTo>
                <a:lnTo>
                  <a:pt x="5282489" y="612736"/>
                </a:lnTo>
                <a:lnTo>
                  <a:pt x="5282489" y="711695"/>
                </a:lnTo>
                <a:lnTo>
                  <a:pt x="5236832" y="757351"/>
                </a:lnTo>
                <a:lnTo>
                  <a:pt x="5282489" y="803021"/>
                </a:lnTo>
                <a:lnTo>
                  <a:pt x="5183200" y="902296"/>
                </a:lnTo>
                <a:lnTo>
                  <a:pt x="5133721" y="852817"/>
                </a:lnTo>
                <a:lnTo>
                  <a:pt x="5133721" y="951788"/>
                </a:lnTo>
                <a:lnTo>
                  <a:pt x="5020576" y="1064933"/>
                </a:lnTo>
                <a:lnTo>
                  <a:pt x="4971123" y="1015492"/>
                </a:lnTo>
                <a:lnTo>
                  <a:pt x="4971123" y="1114386"/>
                </a:lnTo>
                <a:lnTo>
                  <a:pt x="3783901" y="2301608"/>
                </a:lnTo>
                <a:lnTo>
                  <a:pt x="2588628" y="1106398"/>
                </a:lnTo>
                <a:lnTo>
                  <a:pt x="2701772" y="993254"/>
                </a:lnTo>
                <a:lnTo>
                  <a:pt x="3783901" y="2075307"/>
                </a:lnTo>
                <a:lnTo>
                  <a:pt x="3808641" y="2050567"/>
                </a:lnTo>
                <a:lnTo>
                  <a:pt x="4858004" y="1001268"/>
                </a:lnTo>
                <a:lnTo>
                  <a:pt x="4971123" y="1114386"/>
                </a:lnTo>
                <a:lnTo>
                  <a:pt x="4971123" y="1015492"/>
                </a:lnTo>
                <a:lnTo>
                  <a:pt x="4907458" y="951826"/>
                </a:lnTo>
                <a:lnTo>
                  <a:pt x="5020602" y="838682"/>
                </a:lnTo>
                <a:lnTo>
                  <a:pt x="5133721" y="951788"/>
                </a:lnTo>
                <a:lnTo>
                  <a:pt x="5133721" y="852817"/>
                </a:lnTo>
                <a:lnTo>
                  <a:pt x="5070094" y="789190"/>
                </a:lnTo>
                <a:lnTo>
                  <a:pt x="5101933" y="757351"/>
                </a:lnTo>
                <a:lnTo>
                  <a:pt x="5070094" y="725525"/>
                </a:lnTo>
                <a:lnTo>
                  <a:pt x="5183200" y="612419"/>
                </a:lnTo>
                <a:lnTo>
                  <a:pt x="5282489" y="711695"/>
                </a:lnTo>
                <a:lnTo>
                  <a:pt x="5282489" y="612736"/>
                </a:lnTo>
                <a:lnTo>
                  <a:pt x="5232692" y="562927"/>
                </a:lnTo>
                <a:lnTo>
                  <a:pt x="5795619" y="0"/>
                </a:lnTo>
                <a:lnTo>
                  <a:pt x="5696699" y="0"/>
                </a:lnTo>
                <a:lnTo>
                  <a:pt x="5183200" y="513448"/>
                </a:lnTo>
                <a:lnTo>
                  <a:pt x="5133721" y="463969"/>
                </a:lnTo>
                <a:lnTo>
                  <a:pt x="5133721" y="562927"/>
                </a:lnTo>
                <a:lnTo>
                  <a:pt x="5020602" y="676033"/>
                </a:lnTo>
                <a:lnTo>
                  <a:pt x="4971123" y="626567"/>
                </a:lnTo>
                <a:lnTo>
                  <a:pt x="4971123" y="725525"/>
                </a:lnTo>
                <a:lnTo>
                  <a:pt x="4939284" y="757351"/>
                </a:lnTo>
                <a:lnTo>
                  <a:pt x="4971123" y="789203"/>
                </a:lnTo>
                <a:lnTo>
                  <a:pt x="4857978" y="902347"/>
                </a:lnTo>
                <a:lnTo>
                  <a:pt x="4808525" y="852906"/>
                </a:lnTo>
                <a:lnTo>
                  <a:pt x="4808525" y="951788"/>
                </a:lnTo>
                <a:lnTo>
                  <a:pt x="3783901" y="1976424"/>
                </a:lnTo>
                <a:lnTo>
                  <a:pt x="2751251" y="943775"/>
                </a:lnTo>
                <a:lnTo>
                  <a:pt x="2850540" y="844486"/>
                </a:lnTo>
                <a:lnTo>
                  <a:pt x="3783901" y="1777847"/>
                </a:lnTo>
                <a:lnTo>
                  <a:pt x="3808641" y="1753108"/>
                </a:lnTo>
                <a:lnTo>
                  <a:pt x="3759149" y="1703616"/>
                </a:lnTo>
                <a:lnTo>
                  <a:pt x="3783977" y="1728355"/>
                </a:lnTo>
                <a:lnTo>
                  <a:pt x="3808641" y="1753108"/>
                </a:lnTo>
                <a:lnTo>
                  <a:pt x="4709236" y="852500"/>
                </a:lnTo>
                <a:lnTo>
                  <a:pt x="4808525" y="951788"/>
                </a:lnTo>
                <a:lnTo>
                  <a:pt x="4808525" y="852906"/>
                </a:lnTo>
                <a:lnTo>
                  <a:pt x="4758677" y="803059"/>
                </a:lnTo>
                <a:lnTo>
                  <a:pt x="4804384" y="757351"/>
                </a:lnTo>
                <a:lnTo>
                  <a:pt x="4758690" y="711669"/>
                </a:lnTo>
                <a:lnTo>
                  <a:pt x="4857978" y="612381"/>
                </a:lnTo>
                <a:lnTo>
                  <a:pt x="4971123" y="725525"/>
                </a:lnTo>
                <a:lnTo>
                  <a:pt x="4971123" y="626567"/>
                </a:lnTo>
                <a:lnTo>
                  <a:pt x="4907458" y="562902"/>
                </a:lnTo>
                <a:lnTo>
                  <a:pt x="5020576" y="449783"/>
                </a:lnTo>
                <a:lnTo>
                  <a:pt x="5133721" y="562927"/>
                </a:lnTo>
                <a:lnTo>
                  <a:pt x="5133721" y="463969"/>
                </a:lnTo>
                <a:lnTo>
                  <a:pt x="5070056" y="400304"/>
                </a:lnTo>
                <a:lnTo>
                  <a:pt x="5470360" y="0"/>
                </a:lnTo>
                <a:lnTo>
                  <a:pt x="5371465" y="0"/>
                </a:lnTo>
                <a:lnTo>
                  <a:pt x="5020602" y="350850"/>
                </a:lnTo>
                <a:lnTo>
                  <a:pt x="4669764" y="0"/>
                </a:lnTo>
                <a:lnTo>
                  <a:pt x="4570819" y="0"/>
                </a:lnTo>
                <a:lnTo>
                  <a:pt x="4971123" y="400329"/>
                </a:lnTo>
                <a:lnTo>
                  <a:pt x="4858004" y="513448"/>
                </a:lnTo>
                <a:lnTo>
                  <a:pt x="4344530" y="0"/>
                </a:lnTo>
                <a:lnTo>
                  <a:pt x="4245597" y="0"/>
                </a:lnTo>
                <a:lnTo>
                  <a:pt x="4808525" y="562927"/>
                </a:lnTo>
                <a:lnTo>
                  <a:pt x="4709236" y="662216"/>
                </a:lnTo>
                <a:lnTo>
                  <a:pt x="4047020" y="0"/>
                </a:lnTo>
                <a:lnTo>
                  <a:pt x="3948125" y="0"/>
                </a:lnTo>
                <a:lnTo>
                  <a:pt x="4659782" y="711669"/>
                </a:lnTo>
                <a:lnTo>
                  <a:pt x="4614100" y="757351"/>
                </a:lnTo>
                <a:lnTo>
                  <a:pt x="4659782" y="803046"/>
                </a:lnTo>
                <a:lnTo>
                  <a:pt x="3783901" y="1678863"/>
                </a:lnTo>
                <a:lnTo>
                  <a:pt x="2899981" y="795045"/>
                </a:lnTo>
                <a:lnTo>
                  <a:pt x="2937675" y="757351"/>
                </a:lnTo>
                <a:lnTo>
                  <a:pt x="2899981" y="719670"/>
                </a:lnTo>
                <a:lnTo>
                  <a:pt x="3619665" y="0"/>
                </a:lnTo>
                <a:lnTo>
                  <a:pt x="3520770" y="0"/>
                </a:lnTo>
                <a:lnTo>
                  <a:pt x="2850540" y="670229"/>
                </a:lnTo>
                <a:lnTo>
                  <a:pt x="2801048" y="620737"/>
                </a:lnTo>
                <a:lnTo>
                  <a:pt x="2801048" y="719709"/>
                </a:lnTo>
                <a:lnTo>
                  <a:pt x="2763405" y="757351"/>
                </a:lnTo>
                <a:lnTo>
                  <a:pt x="2801048" y="795007"/>
                </a:lnTo>
                <a:lnTo>
                  <a:pt x="2701760" y="894295"/>
                </a:lnTo>
                <a:lnTo>
                  <a:pt x="2652280" y="844816"/>
                </a:lnTo>
                <a:lnTo>
                  <a:pt x="2652280" y="943775"/>
                </a:lnTo>
                <a:lnTo>
                  <a:pt x="2539136" y="1056919"/>
                </a:lnTo>
                <a:lnTo>
                  <a:pt x="2426017" y="943813"/>
                </a:lnTo>
                <a:lnTo>
                  <a:pt x="2539161" y="830668"/>
                </a:lnTo>
                <a:lnTo>
                  <a:pt x="2652280" y="943775"/>
                </a:lnTo>
                <a:lnTo>
                  <a:pt x="2652280" y="844816"/>
                </a:lnTo>
                <a:lnTo>
                  <a:pt x="2588653" y="781189"/>
                </a:lnTo>
                <a:lnTo>
                  <a:pt x="2612491" y="757351"/>
                </a:lnTo>
                <a:lnTo>
                  <a:pt x="2588653" y="733526"/>
                </a:lnTo>
                <a:lnTo>
                  <a:pt x="2701760" y="620420"/>
                </a:lnTo>
                <a:lnTo>
                  <a:pt x="2801048" y="719709"/>
                </a:lnTo>
                <a:lnTo>
                  <a:pt x="2801048" y="620737"/>
                </a:lnTo>
                <a:lnTo>
                  <a:pt x="2751251" y="570941"/>
                </a:lnTo>
                <a:lnTo>
                  <a:pt x="3322193" y="0"/>
                </a:lnTo>
                <a:lnTo>
                  <a:pt x="3223272" y="0"/>
                </a:lnTo>
                <a:lnTo>
                  <a:pt x="2701772" y="521462"/>
                </a:lnTo>
                <a:lnTo>
                  <a:pt x="2652280" y="471970"/>
                </a:lnTo>
                <a:lnTo>
                  <a:pt x="2652280" y="570941"/>
                </a:lnTo>
                <a:lnTo>
                  <a:pt x="2539161" y="684047"/>
                </a:lnTo>
                <a:lnTo>
                  <a:pt x="2489682" y="634568"/>
                </a:lnTo>
                <a:lnTo>
                  <a:pt x="2489682" y="733539"/>
                </a:lnTo>
                <a:lnTo>
                  <a:pt x="2465857" y="757351"/>
                </a:lnTo>
                <a:lnTo>
                  <a:pt x="2489682" y="781189"/>
                </a:lnTo>
                <a:lnTo>
                  <a:pt x="2376538" y="894334"/>
                </a:lnTo>
                <a:lnTo>
                  <a:pt x="2277237" y="795045"/>
                </a:lnTo>
                <a:lnTo>
                  <a:pt x="2314930" y="757351"/>
                </a:lnTo>
                <a:lnTo>
                  <a:pt x="2277237" y="719683"/>
                </a:lnTo>
                <a:lnTo>
                  <a:pt x="2376525" y="620395"/>
                </a:lnTo>
                <a:lnTo>
                  <a:pt x="2489682" y="733539"/>
                </a:lnTo>
                <a:lnTo>
                  <a:pt x="2489682" y="634568"/>
                </a:lnTo>
                <a:lnTo>
                  <a:pt x="2426017" y="570903"/>
                </a:lnTo>
                <a:lnTo>
                  <a:pt x="2539123" y="457796"/>
                </a:lnTo>
                <a:lnTo>
                  <a:pt x="2652280" y="570941"/>
                </a:lnTo>
                <a:lnTo>
                  <a:pt x="2652280" y="471970"/>
                </a:lnTo>
                <a:lnTo>
                  <a:pt x="2588615" y="408305"/>
                </a:lnTo>
                <a:lnTo>
                  <a:pt x="2996920" y="0"/>
                </a:lnTo>
                <a:lnTo>
                  <a:pt x="2898038" y="0"/>
                </a:lnTo>
                <a:lnTo>
                  <a:pt x="2539174" y="358863"/>
                </a:lnTo>
                <a:lnTo>
                  <a:pt x="2180310" y="0"/>
                </a:lnTo>
                <a:lnTo>
                  <a:pt x="2081364" y="0"/>
                </a:lnTo>
                <a:lnTo>
                  <a:pt x="2489682" y="408343"/>
                </a:lnTo>
                <a:lnTo>
                  <a:pt x="2376563" y="521462"/>
                </a:lnTo>
                <a:lnTo>
                  <a:pt x="1855076" y="0"/>
                </a:lnTo>
                <a:lnTo>
                  <a:pt x="1756143" y="0"/>
                </a:lnTo>
                <a:lnTo>
                  <a:pt x="2327084" y="570941"/>
                </a:lnTo>
                <a:lnTo>
                  <a:pt x="2227796" y="670229"/>
                </a:lnTo>
                <a:lnTo>
                  <a:pt x="1557566" y="0"/>
                </a:lnTo>
                <a:lnTo>
                  <a:pt x="1458683" y="0"/>
                </a:lnTo>
                <a:lnTo>
                  <a:pt x="2178354" y="719670"/>
                </a:lnTo>
                <a:lnTo>
                  <a:pt x="2140674" y="757351"/>
                </a:lnTo>
                <a:lnTo>
                  <a:pt x="2178354" y="795045"/>
                </a:lnTo>
                <a:lnTo>
                  <a:pt x="1294447" y="1678863"/>
                </a:lnTo>
                <a:lnTo>
                  <a:pt x="372846" y="757351"/>
                </a:lnTo>
                <a:lnTo>
                  <a:pt x="1130211" y="0"/>
                </a:lnTo>
                <a:lnTo>
                  <a:pt x="1031316" y="0"/>
                </a:lnTo>
                <a:lnTo>
                  <a:pt x="273951" y="757351"/>
                </a:lnTo>
                <a:lnTo>
                  <a:pt x="1294447" y="1777847"/>
                </a:lnTo>
                <a:lnTo>
                  <a:pt x="1319187" y="1753108"/>
                </a:lnTo>
                <a:lnTo>
                  <a:pt x="1269695" y="1703616"/>
                </a:lnTo>
                <a:lnTo>
                  <a:pt x="1294536" y="1728355"/>
                </a:lnTo>
                <a:lnTo>
                  <a:pt x="1319187" y="1753108"/>
                </a:lnTo>
                <a:lnTo>
                  <a:pt x="2227796" y="844486"/>
                </a:lnTo>
                <a:lnTo>
                  <a:pt x="2327084" y="943775"/>
                </a:lnTo>
                <a:lnTo>
                  <a:pt x="1294447" y="1976424"/>
                </a:lnTo>
                <a:lnTo>
                  <a:pt x="75387" y="757351"/>
                </a:lnTo>
                <a:lnTo>
                  <a:pt x="832739" y="0"/>
                </a:lnTo>
                <a:lnTo>
                  <a:pt x="733818" y="0"/>
                </a:lnTo>
                <a:lnTo>
                  <a:pt x="0" y="733767"/>
                </a:lnTo>
                <a:lnTo>
                  <a:pt x="0" y="780948"/>
                </a:lnTo>
                <a:lnTo>
                  <a:pt x="1294447" y="2075307"/>
                </a:lnTo>
                <a:lnTo>
                  <a:pt x="1319187" y="2050567"/>
                </a:lnTo>
                <a:lnTo>
                  <a:pt x="2376563" y="993267"/>
                </a:lnTo>
                <a:lnTo>
                  <a:pt x="2489682" y="1106373"/>
                </a:lnTo>
                <a:lnTo>
                  <a:pt x="1294447" y="2301608"/>
                </a:lnTo>
                <a:lnTo>
                  <a:pt x="0" y="1007224"/>
                </a:lnTo>
                <a:lnTo>
                  <a:pt x="0" y="1106131"/>
                </a:lnTo>
                <a:lnTo>
                  <a:pt x="1294447" y="2400579"/>
                </a:lnTo>
                <a:lnTo>
                  <a:pt x="1319187" y="2375839"/>
                </a:lnTo>
                <a:lnTo>
                  <a:pt x="2539174" y="1155852"/>
                </a:lnTo>
                <a:lnTo>
                  <a:pt x="3783901" y="2400579"/>
                </a:lnTo>
                <a:lnTo>
                  <a:pt x="3808641" y="2375839"/>
                </a:lnTo>
                <a:lnTo>
                  <a:pt x="5020602" y="1163866"/>
                </a:lnTo>
                <a:lnTo>
                  <a:pt x="6257328" y="2400579"/>
                </a:lnTo>
                <a:lnTo>
                  <a:pt x="6282067" y="2375839"/>
                </a:lnTo>
                <a:lnTo>
                  <a:pt x="7562850" y="1095057"/>
                </a:lnTo>
                <a:lnTo>
                  <a:pt x="7562850" y="996086"/>
                </a:lnTo>
                <a:lnTo>
                  <a:pt x="6257328" y="2301608"/>
                </a:lnTo>
                <a:lnTo>
                  <a:pt x="5070056" y="1114412"/>
                </a:lnTo>
                <a:lnTo>
                  <a:pt x="5183200" y="1001268"/>
                </a:lnTo>
                <a:lnTo>
                  <a:pt x="6257328" y="2075307"/>
                </a:lnTo>
                <a:lnTo>
                  <a:pt x="6282067" y="2050567"/>
                </a:lnTo>
                <a:lnTo>
                  <a:pt x="7562850" y="769874"/>
                </a:lnTo>
                <a:lnTo>
                  <a:pt x="7562850" y="744829"/>
                </a:lnTo>
                <a:close/>
              </a:path>
              <a:path w="7562850" h="10696575">
                <a:moveTo>
                  <a:pt x="7562850" y="419646"/>
                </a:moveTo>
                <a:lnTo>
                  <a:pt x="7143191" y="0"/>
                </a:lnTo>
                <a:lnTo>
                  <a:pt x="7044245" y="0"/>
                </a:lnTo>
                <a:lnTo>
                  <a:pt x="7562850" y="518617"/>
                </a:lnTo>
                <a:lnTo>
                  <a:pt x="7562850" y="419646"/>
                </a:lnTo>
                <a:close/>
              </a:path>
            </a:pathLst>
          </a:custGeom>
          <a:solidFill xmlns:a="http://schemas.openxmlformats.org/drawingml/2006/main">
            <a:srgbClr val="37336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8" name="bg object 18">
            <a:extLst xmlns:a="http://schemas.openxmlformats.org/drawingml/2006/main">
              <a:ext uri="{FF2B5EF4-FFF2-40B4-BE49-F238E27FC236}">
                <a16:creationId xmlns:a16="http://schemas.microsoft.com/office/drawing/2014/main" id="{7D781E56-AB8D-4920-BEFA-B654A5BB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4481"/>
            <a:ext cx="30300654" cy="42214800"/>
          </a:xfrm>
          <a:custGeom xmlns:a="http://schemas.openxmlformats.org/drawingml/2006/main">
            <a:rect l="l" t="t" r="r" b="b"/>
            <a:pathLst>
              <a:path w="7562850" h="10191115">
                <a:moveTo>
                  <a:pt x="7562850" y="10190774"/>
                </a:moveTo>
                <a:lnTo>
                  <a:pt x="0" y="10190774"/>
                </a:lnTo>
                <a:lnTo>
                  <a:pt x="0" y="0"/>
                </a:lnTo>
                <a:lnTo>
                  <a:pt x="7562850" y="0"/>
                </a:lnTo>
                <a:lnTo>
                  <a:pt x="7562850" y="1019077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66481A61-817C-4D23-8F54-4F0CA6818F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2416" y="1330512"/>
            <a:ext cx="27635831" cy="661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4300" b="0" i="0">
                <a:solidFill>
                  <a:srgbClr val="373362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A8DA4E9E-E7DD-4812-9C67-BB8D7ACF27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15037" y="9844870"/>
            <a:ext cx="27270589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5D86D43A-8AE8-4AAB-8FF1-D06C06A4B9D7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10302223" y="39807506"/>
            <a:ext cx="9696209" cy="1108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3BB78B4B-A837-40FD-88FC-15D834E60D2B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xfrm xmlns:a="http://schemas.openxmlformats.org/drawingml/2006/main">
            <a:off x="1515037" y="39807506"/>
            <a:ext cx="6969148" cy="1108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1ADA1F0A-5847-41D6-BCEF-4A1C33FFB89C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>
          <a:xfrm xmlns:a="http://schemas.openxmlformats.org/drawingml/2006/main">
            <a:off x="21816473" y="39807506"/>
            <a:ext cx="6969148" cy="1108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f12fd5ae6f49b2"/>
    <p:sldLayoutId xmlns:r="http://schemas.openxmlformats.org/officeDocument/2006/relationships" id="2147483650" r:id="R26f0d30cbed34bcd"/>
    <p:sldLayoutId xmlns:r="http://schemas.openxmlformats.org/officeDocument/2006/relationships" id="2147483651" r:id="Rc454f3cd77504560"/>
    <p:sldLayoutId xmlns:r="http://schemas.openxmlformats.org/officeDocument/2006/relationships" id="2147483652" r:id="R0ce671e9fc4241dd"/>
    <p:sldLayoutId xmlns:r="http://schemas.openxmlformats.org/officeDocument/2006/relationships" id="2147483653" r:id="R8d576b271eff45da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1828983">
        <a:buNone/>
        <a:defRPr>
          <a:latin typeface="+mn-lt"/>
          <a:ea typeface="+mn-lt"/>
          <a:cs typeface="+mn-lt"/>
        </a:defRPr>
      </a:lvl2pPr>
      <a:lvl3pPr xmlns:a="http://schemas.openxmlformats.org/drawingml/2006/main" marL="3657966">
        <a:buNone/>
        <a:defRPr>
          <a:latin typeface="+mn-lt"/>
          <a:ea typeface="+mn-lt"/>
          <a:cs typeface="+mn-lt"/>
        </a:defRPr>
      </a:lvl3pPr>
      <a:lvl4pPr xmlns:a="http://schemas.openxmlformats.org/drawingml/2006/main" marL="5486949">
        <a:buNone/>
        <a:defRPr>
          <a:latin typeface="+mn-lt"/>
          <a:ea typeface="+mn-lt"/>
          <a:cs typeface="+mn-lt"/>
        </a:defRPr>
      </a:lvl4pPr>
      <a:lvl5pPr xmlns:a="http://schemas.openxmlformats.org/drawingml/2006/main" marL="7315932">
        <a:buNone/>
        <a:defRPr>
          <a:latin typeface="+mn-lt"/>
          <a:ea typeface="+mn-lt"/>
          <a:cs typeface="+mn-lt"/>
        </a:defRPr>
      </a:lvl5pPr>
      <a:lvl6pPr xmlns:a="http://schemas.openxmlformats.org/drawingml/2006/main" marL="9144914">
        <a:buNone/>
        <a:defRPr>
          <a:latin typeface="+mn-lt"/>
          <a:ea typeface="+mn-lt"/>
          <a:cs typeface="+mn-lt"/>
        </a:defRPr>
      </a:lvl6pPr>
      <a:lvl7pPr xmlns:a="http://schemas.openxmlformats.org/drawingml/2006/main" marL="10973897">
        <a:buNone/>
        <a:defRPr>
          <a:latin typeface="+mn-lt"/>
          <a:ea typeface="+mn-lt"/>
          <a:cs typeface="+mn-lt"/>
        </a:defRPr>
      </a:lvl7pPr>
      <a:lvl8pPr xmlns:a="http://schemas.openxmlformats.org/drawingml/2006/main" marL="1280288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14631863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1828983">
        <a:buNone/>
        <a:defRPr>
          <a:latin typeface="+mn-lt"/>
          <a:ea typeface="+mn-lt"/>
          <a:cs typeface="+mn-lt"/>
        </a:defRPr>
      </a:lvl2pPr>
      <a:lvl3pPr xmlns:a="http://schemas.openxmlformats.org/drawingml/2006/main" marL="3657966">
        <a:buNone/>
        <a:defRPr>
          <a:latin typeface="+mn-lt"/>
          <a:ea typeface="+mn-lt"/>
          <a:cs typeface="+mn-lt"/>
        </a:defRPr>
      </a:lvl3pPr>
      <a:lvl4pPr xmlns:a="http://schemas.openxmlformats.org/drawingml/2006/main" marL="5486949">
        <a:buNone/>
        <a:defRPr>
          <a:latin typeface="+mn-lt"/>
          <a:ea typeface="+mn-lt"/>
          <a:cs typeface="+mn-lt"/>
        </a:defRPr>
      </a:lvl4pPr>
      <a:lvl5pPr xmlns:a="http://schemas.openxmlformats.org/drawingml/2006/main" marL="7315932">
        <a:buNone/>
        <a:defRPr>
          <a:latin typeface="+mn-lt"/>
          <a:ea typeface="+mn-lt"/>
          <a:cs typeface="+mn-lt"/>
        </a:defRPr>
      </a:lvl5pPr>
      <a:lvl6pPr xmlns:a="http://schemas.openxmlformats.org/drawingml/2006/main" marL="9144914">
        <a:buNone/>
        <a:defRPr>
          <a:latin typeface="+mn-lt"/>
          <a:ea typeface="+mn-lt"/>
          <a:cs typeface="+mn-lt"/>
        </a:defRPr>
      </a:lvl6pPr>
      <a:lvl7pPr xmlns:a="http://schemas.openxmlformats.org/drawingml/2006/main" marL="10973897">
        <a:buNone/>
        <a:defRPr>
          <a:latin typeface="+mn-lt"/>
          <a:ea typeface="+mn-lt"/>
          <a:cs typeface="+mn-lt"/>
        </a:defRPr>
      </a:lvl7pPr>
      <a:lvl8pPr xmlns:a="http://schemas.openxmlformats.org/drawingml/2006/main" marL="1280288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14631863">
        <a:buNone/>
        <a:defRPr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f18fc91c9564c48" /><Relationship Type="http://schemas.openxmlformats.org/officeDocument/2006/relationships/image" Target="/ppt/media/image2.png" Id="Rad7ec9cd5454491c" /><Relationship Type="http://schemas.openxmlformats.org/officeDocument/2006/relationships/image" Target="/ppt/media/image.svg" Id="Re367a6436eaf4a1d" /><Relationship Type="http://schemas.openxmlformats.org/officeDocument/2006/relationships/image" Target="/ppt/media/image.png" Id="Raf19ed9887d34ad6" /><Relationship Type="http://schemas.openxmlformats.org/officeDocument/2006/relationships/image" Target="/ppt/media/image2.svg" Id="R38184901f2de4c4b" /><Relationship Type="http://schemas.openxmlformats.org/officeDocument/2006/relationships/notesSlide" Target="/ppt/notesSlides/notesSlide1.xml" Id="R35689582d66445b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그림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ec9cd545449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510206" y="2141178"/>
            <a:ext cx="5181573" cy="3470677"/>
          </a:xfrm>
          <a:prstGeom xmlns:a="http://schemas.openxmlformats.org/drawingml/2006/main" prst="rect">
            <a:avLst/>
          </a:prstGeom>
        </p:spPr>
      </p:pic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C7203565-1505-47A6-A9A4-2D0DC5CCF2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94896" y="-110897"/>
            <a:ext cx="28039656" cy="4129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797649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1200"/>
              </a:spcBef>
              <a:buNone/>
            </a:pPr>
            <a:r>
              <a:rPr sz="8800">
                <a:latin typeface="Norwester"/>
                <a:ea typeface="Norwester"/>
                <a:cs typeface="Norwester"/>
              </a:rPr>
              <a:t>Police-Specific Dynamic</a:t>
            </a:r>
          </a:p>
          <a:p xmlns:a="http://schemas.openxmlformats.org/drawingml/2006/main">
            <a:pPr algn="l">
              <a:spcBef>
                <a:spcPts val="1200"/>
              </a:spcBef>
              <a:buNone/>
            </a:pPr>
            <a:r>
              <a:rPr sz="8800">
                <a:latin typeface="Norwester"/>
                <a:ea typeface="Norwester"/>
                <a:cs typeface="Norwester"/>
              </a:rPr>
              <a:t>Zero Trust Access Control System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1A92AF71-3D27-4DBE-DF1D-864EF5DB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4810" y="5663119"/>
            <a:ext cx="28865591" cy="1228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3362"/>
          </a:solidFill>
          <a:ln xmlns:a="http://schemas.openxmlformats.org/drawingml/2006/main">
            <a:solidFill>
              <a:srgbClr val="37336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BE67EAB6-6A4A-44D2-BDB9-D4DA9A55D4AE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435974" y="36413281"/>
            <a:ext cx="28798577" cy="56540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35317" rIns="0" bIns="0">
            <a:spAutoFit/>
          </a:bodyPr>
          <a:lstStyle xmlns:a="http://schemas.openxmlformats.org/drawingml/2006/main"/>
          <a:p xmlns:a="http://schemas.openxmlformats.org/drawingml/2006/main">
            <a:pPr marL="360000">
              <a:buNone/>
            </a:pPr>
            <a:r>
              <a:rPr sz="5400" b="0">
                <a:solidFill>
                  <a:srgbClr val="FFFFFF"/>
                </a:solidFill>
                <a:latin typeface="Norwester"/>
                <a:ea typeface="Norwester"/>
                <a:cs typeface="Norwester"/>
              </a:rPr>
              <a:t>.</a:t>
            </a:r>
          </a:p>
        </p:txBody>
      </p:sp>
      <p:sp>
        <p:nvSpPr>
          <p:cNvPr id="3" name="object 6">
            <a:extLst xmlns:a="http://schemas.openxmlformats.org/drawingml/2006/main">
              <a:ext uri="{FF2B5EF4-FFF2-40B4-BE49-F238E27FC236}">
                <a16:creationId xmlns:a16="http://schemas.microsoft.com/office/drawing/2014/main" id="{C12336CF-AB29-0524-4A2E-6F190EAB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3476" y="6191564"/>
            <a:ext cx="14174289" cy="228139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58423" rIns="0" bIns="0">
            <a:spAutoFit/>
          </a:bodyPr>
          <a:lstStyle xmlns:a="http://schemas.openxmlformats.org/drawingml/2006/main"/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FFFFFF"/>
                </a:solidFill>
                <a:latin typeface="Lora"/>
                <a:ea typeface="Lora"/>
                <a:cs typeface="Lora"/>
              </a:rPr>
              <a:t>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A81A7C5-982B-1946-AE2A-61645594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74" y="6276912"/>
            <a:ext cx="14096503" cy="159838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274400" indent="-914400">
              <a:buAutoNum type="arabicPeriod"/>
            </a:pPr>
            <a:r>
              <a:rPr sz="5400">
                <a:solidFill>
                  <a:srgbClr val="FFFFFF"/>
                </a:solidFill>
                <a:latin typeface="Norwester"/>
                <a:ea typeface="Norwester"/>
                <a:cs typeface="Norwester"/>
              </a:rPr>
              <a:t>.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8035F0D2-FCAB-562F-E5DD-37681C67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289" y="34228687"/>
            <a:ext cx="27892869" cy="191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solidFill>
                  <a:srgbClr val="FFFFFF"/>
                </a:solidFill>
                <a:latin typeface="Lora"/>
                <a:ea typeface="Lora"/>
                <a:cs typeface="Lora"/>
              </a:rPr>
              <a:t>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5017946-4E8C-A50F-F98A-A4946BAD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855" y="3502285"/>
            <a:ext cx="22167596" cy="18213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000"/>
              </a:lnSpc>
              <a:buNone/>
            </a:pPr>
            <a:r>
              <a:rPr sz="4800">
                <a:solidFill>
                  <a:srgbClr val="373362"/>
                </a:solidFill>
                <a:latin typeface="Lora"/>
                <a:ea typeface="Lora"/>
                <a:cs typeface="Lora"/>
              </a:rPr>
              <a:t>Zero Trust Security Team  |  Jae-Hong Jung · Jun Huh · Jun-Won Hong</a:t>
            </a:r>
          </a:p>
          <a:p xmlns:a="http://schemas.openxmlformats.org/drawingml/2006/main">
            <a:pPr algn="ctr">
              <a:lnSpc>
                <a:spcPts val="7000"/>
              </a:lnSpc>
              <a:buNone/>
            </a:pPr>
            <a:r>
              <a:rPr sz="4800">
                <a:solidFill>
                  <a:srgbClr val="373362"/>
                </a:solidFill>
                <a:latin typeface="Lora"/>
                <a:ea typeface="Lora"/>
                <a:cs typeface="Lora"/>
              </a:rPr>
              <a:t>Advisor: Prof. Taekyoung Yoon · Dept. of Cyber Security, Dankook Univ.</a:t>
            </a:r>
          </a:p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7F0DF47E-C912-4489-2D0F-F9F898CA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" y="294481"/>
            <a:ext cx="30022800" cy="422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37336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5" name="그림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19ed9887d34ad6">
            <a:extLst>
              <a:ext uri="{96DAC541-7B7A-43D3-8B79-37D633B846F1}">
                <asvg:svgBlip xmlns:asvg="http://schemas.microsoft.com/office/drawing/2016/SVG/main" r:embed="Re367a6436eaf4a1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94895" y="29326681"/>
            <a:ext cx="27892869" cy="4993218"/>
          </a:xfrm>
          <a:prstGeom xmlns:a="http://schemas.openxmlformats.org/drawingml/2006/main" prst="rect">
            <a:avLst/>
          </a:prstGeom>
        </p:spPr>
      </p:pic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43BB195A-03B4-46ED-9490-B06A2951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69" y="27867326"/>
            <a:ext cx="14701628" cy="1133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solidFill>
                  <a:srgbClr val="FFFFFF"/>
                </a:solidFill>
                <a:latin typeface="Lora"/>
                <a:ea typeface="Lora"/>
                <a:cs typeface="Lora"/>
              </a:rPr>
              <a:t>.</a:t>
            </a:r>
          </a:p>
        </p:txBody>
      </p:sp>
      <p:sp>
        <p:nvSpPr>
          <p:cNvPr id="8" name="AutoShape 2">
            <a:extLst xmlns:a="http://schemas.openxmlformats.org/drawingml/2006/main">
              <a:ext uri="{FF2B5EF4-FFF2-40B4-BE49-F238E27FC236}">
                <a16:creationId xmlns:a16="http://schemas.microsoft.com/office/drawing/2014/main" id="{5AC33F30-6F74-4E68-B787-8797D723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58623" y="23344618"/>
            <a:ext cx="301532" cy="1961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cxnSp>
        <p:nvCxnSpPr>
          <p:cNvPr id="28" name="직선 연결선 8"/>
          <p:cNvCxnSpPr/>
          <p:nvPr/>
        </p:nvCxnSpPr>
        <p:spPr>
          <a:xfrm xmlns:a="http://schemas.openxmlformats.org/drawingml/2006/main" rot="0">
            <a:off x="1155167" y="25871818"/>
            <a:ext cx="13982440" cy="0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000000"/>
            </a:solidFill>
            <a:prstDash val="sysDash"/>
            <a:miter/>
          </a:ln>
        </p:spPr>
      </p:cxnSp>
      <p:sp>
        <p:nvSpPr>
          <p:cNvPr id="36" name="사각형: 둥근 모서리 9">
            <a:extLst xmlns:a="http://schemas.openxmlformats.org/drawingml/2006/main">
              <a:ext uri="{FF2B5EF4-FFF2-40B4-BE49-F238E27FC236}">
                <a16:creationId xmlns:a16="http://schemas.microsoft.com/office/drawing/2014/main" id="{607776B1-1921-47C0-B575-41F9237E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0298" y="24310739"/>
            <a:ext cx="9828191" cy="123790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rgbClr val="FFFFFF"/>
                </a:solidFill>
                <a:latin typeface="함초롬바탕"/>
                <a:ea typeface="함초롬바탕"/>
                <a:cs typeface="함초롬바탕"/>
              </a:rPr>
              <a:t>.</a:t>
            </a:r>
          </a:p>
        </p:txBody>
      </p:sp>
      <p:sp>
        <p:nvSpPr>
          <p:cNvPr id="37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62D808AE-BD80-40FE-98EF-C55B72DF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162" y="26068269"/>
            <a:ext cx="13982444" cy="752641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12700">
            <a:solidFill>
              <a:srgbClr val="2F528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rgbClr val="FFFFFF"/>
                </a:solidFill>
                <a:latin typeface="함초롬바탕"/>
                <a:ea typeface="함초롬바탕"/>
                <a:cs typeface="함초롬바탕"/>
              </a:rPr>
              <a:t>.</a:t>
            </a:r>
          </a:p>
        </p:txBody>
      </p:sp>
      <p:sp>
        <p:nvSpPr>
          <p:cNvPr id="38" name="사각형: 둥근 모서리 11">
            <a:extLst xmlns:a="http://schemas.openxmlformats.org/drawingml/2006/main">
              <a:ext uri="{FF2B5EF4-FFF2-40B4-BE49-F238E27FC236}">
                <a16:creationId xmlns:a16="http://schemas.microsoft.com/office/drawing/2014/main" id="{74362D0B-CDBC-45E2-9413-F24E0063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162" y="26915309"/>
            <a:ext cx="11542347" cy="752641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72C4"/>
          </a:solidFill>
          <a:ln xmlns:a="http://schemas.openxmlformats.org/drawingml/2006/main" w="12700">
            <a:solidFill>
              <a:srgbClr val="2F528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rgbClr val="FFFFFF"/>
                </a:solidFill>
                <a:latin typeface="함초롬바탕"/>
                <a:ea typeface="함초롬바탕"/>
                <a:cs typeface="함초롬바탕"/>
              </a:rPr>
              <a:t>.</a:t>
            </a:r>
          </a:p>
        </p:txBody>
      </p:sp>
      <p:sp>
        <p:nvSpPr>
          <p:cNvPr id="39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D71D34B9-417A-4F62-9CF5-FD80DAC1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6679" y="26916937"/>
            <a:ext cx="2110928" cy="752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72C4"/>
          </a:solidFill>
          <a:ln xmlns:a="http://schemas.openxmlformats.org/drawingml/2006/main" w="12700">
            <a:solidFill>
              <a:srgbClr val="2F528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rgbClr val="FFFFFF"/>
                </a:solidFill>
                <a:latin typeface="함초롬바탕"/>
                <a:ea typeface="함초롬바탕"/>
                <a:cs typeface="함초롬바탕"/>
              </a:rPr>
              <a:t>.</a:t>
            </a:r>
          </a:p>
        </p:txBody>
      </p:sp>
      <p:sp>
        <p:nvSpPr>
          <p:cNvPr id="40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F217A805-5DF0-4D0C-8EEC-7FF12F82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162" y="24280718"/>
            <a:ext cx="3705536" cy="123790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2F528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rgbClr val="FFFFFF"/>
                </a:solidFill>
                <a:latin typeface="함초롬바탕"/>
                <a:ea typeface="함초롬바탕"/>
                <a:cs typeface="함초롬바탕"/>
              </a:rPr>
              <a:t>.</a:t>
            </a:r>
          </a:p>
        </p:txBody>
      </p:sp>
      <p:cxnSp>
        <p:nvCxnSpPr>
          <p:cNvPr id="41" name="직선 연결선 17"/>
          <p:cNvCxnSpPr/>
          <p:nvPr/>
        </p:nvCxnSpPr>
        <p:spPr>
          <a:xfrm xmlns:a="http://schemas.openxmlformats.org/drawingml/2006/main" rot="0">
            <a:off x="3952861" y="25594534"/>
            <a:ext cx="0" cy="1697095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000000"/>
            </a:solidFill>
            <a:miter/>
            <a:headEnd type="triangle" w="med" len="med"/>
            <a:tailEnd type="triangle" w="med" len="med"/>
          </a:ln>
        </p:spPr>
      </p:cxnSp>
      <p:cxnSp>
        <p:nvCxnSpPr>
          <p:cNvPr id="42" name="직선 연결선 17"/>
          <p:cNvCxnSpPr/>
          <p:nvPr/>
        </p:nvCxnSpPr>
        <p:spPr>
          <a:xfrm xmlns:a="http://schemas.openxmlformats.org/drawingml/2006/main" rot="0">
            <a:off x="12018403" y="25591956"/>
            <a:ext cx="0" cy="1697095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000000"/>
            </a:solidFill>
            <a:miter/>
            <a:headEnd type="triangle" w="med" len="med"/>
            <a:tailEnd type="triangle" w="med" len="med"/>
          </a:ln>
        </p:spPr>
      </p:cxnSp>
      <p:cxnSp>
        <p:nvCxnSpPr>
          <p:cNvPr id="43" name="연결선: 구부러짐 136"/>
          <p:cNvCxnSpPr/>
          <p:nvPr/>
        </p:nvCxnSpPr>
        <p:spPr>
          <a:xfrm xmlns:a="http://schemas.openxmlformats.org/drawingml/2006/main" rot="21600000" flipH="1">
            <a:off x="1073440" y="23006791"/>
            <a:ext cx="2499" cy="1922902"/>
          </a:xfrm>
          <a:prstGeom xmlns:a="http://schemas.openxmlformats.org/drawingml/2006/main" prst="curvedConnector3">
            <a:avLst>
              <a:gd name="adj1" fmla="val 28244044"/>
            </a:avLst>
          </a:prstGeom>
          <a:ln xmlns:a="http://schemas.openxmlformats.org/drawingml/2006/main" w="76200">
            <a:headEnd type="triangle"/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A730C7-BC21-4358-B18A-91BC6494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14287500" cy="1647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3C72A14-3DD7-4B48-9A1D-D7376137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91250"/>
            <a:ext cx="1381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3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AEBA61C-3AB4-4889-AFA8-00BF8241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70294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7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F15992-707A-451C-9DED-33F52576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010400"/>
            <a:ext cx="1343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6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018E429-CC4F-48FF-973F-2516AB81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834390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7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77439D5-9781-4C90-B807-60FFBBD1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324850"/>
            <a:ext cx="1343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6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ADB407B-6321-400C-8753-CDA6A3EF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96583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7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C980020-D75A-45A9-B1EF-6BD433A1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9639300"/>
            <a:ext cx="1343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6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707412A-A889-42F0-A4D2-D9194180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163300"/>
            <a:ext cx="1381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3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B58CE3F-3D15-4C88-BC15-6FA7A184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200150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7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647CF60-E3C7-46D0-B8C0-B6271CF7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982450"/>
            <a:ext cx="1343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6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738D1F3-C01A-45A8-8489-4FDEF4C0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33159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7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0DA69A8-F715-4F54-ABC1-BCBD2832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3296900"/>
            <a:ext cx="1343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6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1A78D24-208A-4409-BD3D-8D38FF81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611350"/>
            <a:ext cx="1343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6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1DA64CF-195B-4C5F-AF84-E9F4745B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516380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52372B0-B201-4D26-957D-10438B8E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144750"/>
            <a:ext cx="13049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D4CCB49-5752-418D-8A2B-310C9C18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5859125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FC62465-DACA-4B9C-834A-63281F81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840075"/>
            <a:ext cx="13049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4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ec9cd5454491c">
            <a:extLst>
              <a:ext uri="{96DAC541-7B7A-43D3-8B79-37D633B846F1}">
                <asvg:svgBlip xmlns:asvg="http://schemas.microsoft.com/office/drawing/2016/SVG/main" r:embed="R38184901f2de4c4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4400" y="23764875"/>
            <a:ext cx="14382750" cy="4038600"/>
          </a:xfrm>
          <a:prstGeom xmlns:a="http://schemas.openxmlformats.org/drawingml/2006/main" prst="rect">
            <a:avLst/>
          </a:prstGeom>
        </p:spPr>
      </p:pic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D7C5543-F6CD-4A33-A908-198F3526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30480000" cy="3729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8232F48-30A0-41F9-BC1A-36D80728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38800"/>
            <a:ext cx="2914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14E"/>
          </a:solidFill>
          <a:ln xmlns:a="http://schemas.openxmlformats.org/drawingml/2006/main" w="0">
            <a:solidFill>
              <a:srgbClr val="25214E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1CE6301-1C94-4EE5-9E97-DE2DD568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95250"/>
            <a:ext cx="30289500" cy="4291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25214E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383323E-D4F4-4113-AC5C-2FB97EB9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429375"/>
            <a:ext cx="28575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19050">
            <a:solidFill>
              <a:srgbClr val="D9E2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B3C5EE5-720D-4D9D-81A7-8825F3D9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429375"/>
            <a:ext cx="1714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414"/>
          </a:solidFill>
          <a:ln xmlns:a="http://schemas.openxmlformats.org/drawingml/2006/main" w="0">
            <a:solidFill>
              <a:srgbClr val="C9141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2C2ADD5-2CA1-4EF5-B84B-7E44E858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858000"/>
            <a:ext cx="342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C91414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8933D8C-D9B7-47C9-AF3E-B8BE466F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381875"/>
            <a:ext cx="2305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A48E542-DC23-48EB-9DF5-EFBDC562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8477250"/>
            <a:ext cx="2628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7C3553A-9AA5-427F-8346-7682D4FE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0" y="6858000"/>
            <a:ext cx="3524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4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3858DB5-74AD-456E-9BF7-55254ADA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0" y="6962775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F6C4A4B-3B96-401A-937C-7BBB29F7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0" y="6858000"/>
            <a:ext cx="3524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0E44F98-FD3B-41E3-A62A-8EFAAB69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0" y="6962775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995CB73-2172-406A-8D04-78389D89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0" y="7639050"/>
            <a:ext cx="3524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32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3D8E17E-E88A-446E-B785-8CEE0369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0" y="7743825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80983B6-EE5F-4260-AC05-9847925A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0" y="7639050"/>
            <a:ext cx="3524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A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8D62B04-0BBB-4570-983A-AFF48405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0" y="7743825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0BA0829-5DD6-454C-A020-7FD22CE9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2870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0F0F496-6C4F-42BB-A59F-A1AF4662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953750"/>
            <a:ext cx="54673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C9141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C917485-058B-4E74-819D-4694BCBE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953750"/>
            <a:ext cx="7429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414"/>
          </a:solidFill>
          <a:ln xmlns:a="http://schemas.openxmlformats.org/drawingml/2006/main" w="0">
            <a:solidFill>
              <a:srgbClr val="C9141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A24DDAA-B567-4764-8FCB-AD9BCB9C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258550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18FE4DA-0FF8-4671-B0EB-3193422B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1220450"/>
            <a:ext cx="430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962F9F3-0878-4BE1-984C-2109553B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1734800"/>
            <a:ext cx="4305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0C86313-81A5-48B2-A5D5-768C0C3A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16967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14E"/>
          </a:solidFill>
          <a:ln xmlns:a="http://schemas.openxmlformats.org/drawingml/2006/main" w="0">
            <a:solidFill>
              <a:srgbClr val="25214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D3191C9-81BC-4148-8A82-C0E93BE0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0953750"/>
            <a:ext cx="54673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1111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19EF037-72F4-47AC-BFB9-FD208BC4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0953750"/>
            <a:ext cx="7429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D82792A-6CFB-478C-95A9-02B254E9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1258550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5C2E049-AAC0-47B1-B127-DC12203C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1220450"/>
            <a:ext cx="430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E59B33D-C5AE-4591-BAD4-D7BA21D5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1734800"/>
            <a:ext cx="4305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B486DCD-17A9-44F6-BDFB-5FF7E4D7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116967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14E"/>
          </a:solidFill>
          <a:ln xmlns:a="http://schemas.openxmlformats.org/drawingml/2006/main" w="0">
            <a:solidFill>
              <a:srgbClr val="25214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CC62F64-A231-4176-B5E2-8D18CF48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10953750"/>
            <a:ext cx="54673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F4B3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E59377D-FB7C-4337-A7C4-F29107C4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10953750"/>
            <a:ext cx="7429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321"/>
          </a:solidFill>
          <a:ln xmlns:a="http://schemas.openxmlformats.org/drawingml/2006/main" w="0">
            <a:solidFill>
              <a:srgbClr val="F4B3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F559094-D83F-43AF-890C-32676744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11258550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103AFA8-3997-4889-9642-4EF5ABA3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11220450"/>
            <a:ext cx="430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768C4FE-258A-42E5-B6EA-9CC98EBC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11734800"/>
            <a:ext cx="4305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CA7C6A4-B94E-4E1C-9E01-1707DA0D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0" y="116967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14E"/>
          </a:solidFill>
          <a:ln xmlns:a="http://schemas.openxmlformats.org/drawingml/2006/main" w="0">
            <a:solidFill>
              <a:srgbClr val="25214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A211660-4937-40F0-A9E6-C04EF118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6100" y="10953750"/>
            <a:ext cx="54673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447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98061EB-84F8-451F-910C-D9B20AD0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6100" y="10953750"/>
            <a:ext cx="7429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51AD13D-80D9-4D79-BFB7-2C3FCF28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6100" y="11258550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4188880-480C-4265-8ADA-17E6F73D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8600" y="11220450"/>
            <a:ext cx="430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A37DCE9-C635-4A77-A1BF-A80072DE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8600" y="11734800"/>
            <a:ext cx="4305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0E09D13-211C-4438-9F4B-1414FDE3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3450" y="116967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14E"/>
          </a:solidFill>
          <a:ln xmlns:a="http://schemas.openxmlformats.org/drawingml/2006/main" w="0">
            <a:solidFill>
              <a:srgbClr val="25214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ED091AE-05F1-4C2A-8BAB-6528F61D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7300" y="10953750"/>
            <a:ext cx="54673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6F5AA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5BB824A-0EBB-4FD8-9C08-E0B47AD5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7300" y="10953750"/>
            <a:ext cx="7429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A7"/>
          </a:solidFill>
          <a:ln xmlns:a="http://schemas.openxmlformats.org/drawingml/2006/main" w="0">
            <a:solidFill>
              <a:srgbClr val="6F5AA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84E27AA-6839-41B7-BC7E-6C2AD453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7300" y="11258550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3B19542-3331-46E9-BFC0-1A1240B4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9800" y="11220450"/>
            <a:ext cx="430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8AF6EC1-4988-4588-BB15-75272CF0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9800" y="11734800"/>
            <a:ext cx="4305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A6A6EAE-F8D2-4A5D-905A-F38D05BA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3392150"/>
            <a:ext cx="628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28575">
            <a:solidFill>
              <a:srgbClr val="447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7AE9881-D813-4D01-93C7-FC04BA57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6017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F51134D-23AE-413D-8632-A320C79B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973175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BECBDC7-433E-4D73-91D2-6759C7D3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75" y="13392150"/>
            <a:ext cx="628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FF"/>
          </a:solidFill>
          <a:ln xmlns:a="http://schemas.openxmlformats.org/drawingml/2006/main" w="28575">
            <a:solidFill>
              <a:srgbClr val="6F5AA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837025A-979C-4D47-916B-A9492CAD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375" y="136017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B2D78A3-ADCA-472C-86A1-20E380BD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375" y="13973175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83E5B59-D5A2-4294-8529-1455F8D6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12630150"/>
            <a:ext cx="152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EE1B368-69AC-4849-855A-2DAA49D6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4350" y="12630150"/>
            <a:ext cx="152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A7"/>
          </a:solidFill>
          <a:ln xmlns:a="http://schemas.openxmlformats.org/drawingml/2006/main" w="0">
            <a:solidFill>
              <a:srgbClr val="6F5AA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6ADA60D-D51F-4020-AE24-3299D22B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83125"/>
            <a:ext cx="13906500" cy="1019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6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16C231E-EB48-4D49-A23F-8A79E2F2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83125"/>
            <a:ext cx="114300" cy="1019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3847D51-2597-4DB8-BEA2-3603420D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7630775"/>
            <a:ext cx="1323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D69F5DA-0636-4F19-8701-9281A14F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278475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B1011AE-2EBA-4B71-B82C-898692E6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278475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4E05474-8DF6-4B5F-BEC5-DE7623AC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278475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472C4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EA08641-6E3B-4121-8C15-5D49FA09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8507075"/>
            <a:ext cx="13258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C"/>
          </a:solidFill>
          <a:ln xmlns:a="http://schemas.openxmlformats.org/drawingml/2006/main" w="0">
            <a:solidFill>
              <a:srgbClr val="D7DE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89931BC-8457-43CB-8824-28D2C35D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830925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3D98B31-6250-4B2B-9C0F-7A1912E7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830925"/>
            <a:ext cx="304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9CFF26B-3DBE-4AA1-A3F1-FFD7E8C3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773775"/>
            <a:ext cx="609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C939BDD-7CBC-46DD-9C00-4E5C708E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583525"/>
            <a:ext cx="13258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C"/>
          </a:solidFill>
          <a:ln xmlns:a="http://schemas.openxmlformats.org/drawingml/2006/main" w="0">
            <a:solidFill>
              <a:srgbClr val="D7DE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C38EAE9-96A3-4DAB-A962-C5806E87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907375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D4F6307-96E4-4C60-AEA2-8D8D1086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07375"/>
            <a:ext cx="304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C7F1FF7-AA60-466B-A8DD-4BCE9582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850225"/>
            <a:ext cx="609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6DDF957-45F1-4977-93E0-A22AC163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659975"/>
            <a:ext cx="13258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C"/>
          </a:solidFill>
          <a:ln xmlns:a="http://schemas.openxmlformats.org/drawingml/2006/main" w="0">
            <a:solidFill>
              <a:srgbClr val="D7DE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412FEF9-CACA-4045-AD57-C3484C09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983825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0B2742A-DAD2-4DCC-BC0D-25B8C5CF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983825"/>
            <a:ext cx="304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1E80D75-57B0-40CF-8541-80BFB764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926675"/>
            <a:ext cx="609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7A467491-5942-4BC4-9B7B-2CDBDB15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736425"/>
            <a:ext cx="13258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C"/>
          </a:solidFill>
          <a:ln xmlns:a="http://schemas.openxmlformats.org/drawingml/2006/main" w="0">
            <a:solidFill>
              <a:srgbClr val="D7DE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72DD26DA-9632-419D-9088-0CA2C5FD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060275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5FB5DE2-1336-404C-9CC0-61254FFB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060275"/>
            <a:ext cx="304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CE2F50F-1BE4-410C-9FBD-29475221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003125"/>
            <a:ext cx="609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73D1125-61A3-4497-9516-04202FAB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7383125"/>
            <a:ext cx="13906500" cy="1019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6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3B08D80-AF8F-4C12-BBB9-79D5D4BF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7383125"/>
            <a:ext cx="114300" cy="1019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2A172C21-F948-4C0D-BBE2-3CCE4082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4850" y="17630775"/>
            <a:ext cx="1323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575B04FC-DAA1-4759-96C2-65820E3C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9150" y="18526125"/>
            <a:ext cx="62865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19050">
            <a:solidFill>
              <a:srgbClr val="D8E0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7946B06-8DB6-407F-967F-EB8FDC64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9150" y="18526125"/>
            <a:ext cx="952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0B604C15-4BE0-48D5-BD4C-15CFC9ED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18792825"/>
            <a:ext cx="569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E6E30824-A25B-450D-8FBF-54B784E0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19307175"/>
            <a:ext cx="56959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115C020-FF89-4738-945C-80290101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0" y="18526125"/>
            <a:ext cx="62865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0"/>
          </a:solidFill>
          <a:ln xmlns:a="http://schemas.openxmlformats.org/drawingml/2006/main" w="19050">
            <a:solidFill>
              <a:srgbClr val="D8E0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9EC9C03D-8B0C-4268-B616-09743612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0" y="18526125"/>
            <a:ext cx="952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321"/>
          </a:solidFill>
          <a:ln xmlns:a="http://schemas.openxmlformats.org/drawingml/2006/main" w="0">
            <a:solidFill>
              <a:srgbClr val="F4B3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5E056DD8-7121-407A-BAD8-0E8EE47D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3850" y="18792825"/>
            <a:ext cx="569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69F401E-6B79-4F09-B161-9463C1B2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3850" y="19307175"/>
            <a:ext cx="56959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D8DE79E-2DF0-4C40-845B-33D982E9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9150" y="21269325"/>
            <a:ext cx="62865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1"/>
          </a:solidFill>
          <a:ln xmlns:a="http://schemas.openxmlformats.org/drawingml/2006/main" w="19050">
            <a:solidFill>
              <a:srgbClr val="D8E0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FFD24A83-3183-4CCD-83FC-C3E396F5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9150" y="21269325"/>
            <a:ext cx="952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A58"/>
          </a:solidFill>
          <a:ln xmlns:a="http://schemas.openxmlformats.org/drawingml/2006/main" w="0">
            <a:solidFill>
              <a:srgbClr val="4B9A5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5A4317E4-647F-4BC4-B702-1135903B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21536025"/>
            <a:ext cx="569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C0F47818-A975-4E34-ACDC-FD6CED5D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22050375"/>
            <a:ext cx="56959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D3FFC3A6-4454-42F9-8AA7-8A5CFAE8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0" y="21269325"/>
            <a:ext cx="62865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19050">
            <a:solidFill>
              <a:srgbClr val="D8E0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BCEDE319-1849-41B1-8131-7CED7048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0" y="21269325"/>
            <a:ext cx="952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C49960ED-139C-4039-A912-028B853B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3850" y="21536025"/>
            <a:ext cx="569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881CBE05-EEC1-4B71-8CCD-1D2E896C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3850" y="22050375"/>
            <a:ext cx="56959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3AB1284E-4542-42AB-AC85-2B1AE15B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9150" y="24012525"/>
            <a:ext cx="62865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0"/>
          </a:solidFill>
          <a:ln xmlns:a="http://schemas.openxmlformats.org/drawingml/2006/main" w="19050">
            <a:solidFill>
              <a:srgbClr val="D8E0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68E5C3A-C447-4315-A08A-0E9B4492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9150" y="24012525"/>
            <a:ext cx="952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321"/>
          </a:solidFill>
          <a:ln xmlns:a="http://schemas.openxmlformats.org/drawingml/2006/main" w="0">
            <a:solidFill>
              <a:srgbClr val="F4B3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833F49F0-F165-46E5-ACCB-68592DD9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24279225"/>
            <a:ext cx="569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422EFC7D-C30A-4A68-A950-1AE30F23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24793575"/>
            <a:ext cx="56959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963725C1-C075-492D-AB3D-3B377E5F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0" y="24012525"/>
            <a:ext cx="62865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1"/>
          </a:solidFill>
          <a:ln xmlns:a="http://schemas.openxmlformats.org/drawingml/2006/main" w="19050">
            <a:solidFill>
              <a:srgbClr val="D8E0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D2A509F9-7F7F-4E0A-840E-31190051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0" y="24012525"/>
            <a:ext cx="952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A58"/>
          </a:solidFill>
          <a:ln xmlns:a="http://schemas.openxmlformats.org/drawingml/2006/main" w="0">
            <a:solidFill>
              <a:srgbClr val="4B9A5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E35D75B7-2AEA-4EB3-AF86-8B6EC6E3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3850" y="24279225"/>
            <a:ext cx="569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D5B27989-948E-4E45-93AC-C4131BFC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3850" y="24793575"/>
            <a:ext cx="56959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17D1EC08-9A73-44C0-A989-A3B41898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17875"/>
            <a:ext cx="285750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6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F9F3BD8F-00E2-4B63-B2A2-FA8C89F8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17875"/>
            <a:ext cx="1143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B31637E0-E1F3-49AC-8A00-435EEF84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965525"/>
            <a:ext cx="2790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48CAF723-F980-457B-935D-82389002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146625"/>
            <a:ext cx="86677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DED"/>
          </a:solidFill>
          <a:ln xmlns:a="http://schemas.openxmlformats.org/drawingml/2006/main" w="19050">
            <a:solidFill>
              <a:srgbClr val="D6DC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3EE36932-D648-43FF-B8FD-F87C950E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413325"/>
            <a:ext cx="781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9141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EF06E418-A8B7-4AE5-BF71-A2143B36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432375"/>
            <a:ext cx="714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86A690BF-0B19-4A54-B5E6-78EECC4D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242000"/>
            <a:ext cx="695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414"/>
          </a:solidFill>
          <a:ln xmlns:a="http://schemas.openxmlformats.org/drawingml/2006/main" w="0">
            <a:solidFill>
              <a:srgbClr val="C9141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CE23A357-D98B-4A09-B443-B7FEB5F7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575375"/>
            <a:ext cx="704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1A43AA41-0E64-49E7-88E2-35F5B14C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0146625"/>
            <a:ext cx="86677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0"/>
          </a:solidFill>
          <a:ln xmlns:a="http://schemas.openxmlformats.org/drawingml/2006/main" w="19050">
            <a:solidFill>
              <a:srgbClr val="D6DC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54BACC08-AD86-4649-9650-F20846BC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13325"/>
            <a:ext cx="781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B321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A82384B8-BF39-40D0-B0CD-690EC1EA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0432375"/>
            <a:ext cx="714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CF1E46F4-2EB7-45F8-8CE9-DFE4742D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1242000"/>
            <a:ext cx="695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321"/>
          </a:solidFill>
          <a:ln xmlns:a="http://schemas.openxmlformats.org/drawingml/2006/main" w="0">
            <a:solidFill>
              <a:srgbClr val="F4B3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17D5DE6C-FA13-4731-92FD-3C2019A4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1575375"/>
            <a:ext cx="704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8B19091B-7EA8-413F-A866-62CD73E2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0" y="30146625"/>
            <a:ext cx="86677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19050">
            <a:solidFill>
              <a:srgbClr val="D6DC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D9794D4F-7215-47EF-A921-29C98BEB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9700" y="30413325"/>
            <a:ext cx="781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4472C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2895BC32-5FCB-4778-9EE8-FBCB8128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0" y="30432375"/>
            <a:ext cx="714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2075FC37-1B2A-4B72-8B9F-0D19FFB5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0" y="31242000"/>
            <a:ext cx="695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1B5E20B2-467F-49EC-A601-D9731E8F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0" y="31575375"/>
            <a:ext cx="704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231F445B-79FC-4CF7-B12C-76B9FA4B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0"/>
            <a:ext cx="28575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4B"/>
          </a:solidFill>
          <a:ln xmlns:a="http://schemas.openxmlformats.org/drawingml/2006/main" w="0">
            <a:solidFill>
              <a:srgbClr val="1F23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A3E37B51-4AB5-4203-BECA-B4F5BDA4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480750"/>
            <a:ext cx="27527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7B107D70-12EA-4E5F-A58F-5827A86F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861875"/>
            <a:ext cx="2752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CE5FF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D431E86A-891F-4838-A78A-674F33F9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30480000" cy="3729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CFD6247B-439B-42DB-B8F2-555EB66F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38800"/>
            <a:ext cx="2914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4B"/>
          </a:solidFill>
          <a:ln xmlns:a="http://schemas.openxmlformats.org/drawingml/2006/main" w="0">
            <a:solidFill>
              <a:srgbClr val="1F234B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05EB7D28-849F-4C41-BE3D-B5B4E2E9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95250"/>
            <a:ext cx="30289500" cy="4291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1F234B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544A18BA-7541-4334-ABDB-8AA36C6B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28575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19050">
            <a:solidFill>
              <a:srgbClr val="DAE3F1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6B6B293B-BE35-488D-B239-21FFB6C2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714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414"/>
          </a:solidFill>
          <a:ln xmlns:a="http://schemas.openxmlformats.org/drawingml/2006/main" w="0">
            <a:solidFill>
              <a:srgbClr val="C91414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566FAB97-B800-43FF-8691-C30DC139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57225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91414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C91414"/>
                </a:solidFill>
                <a:latin typeface="Segoe UI"/>
                <a:ea typeface="Segoe UI"/>
                <a:cs typeface="Segoe UI"/>
              </a:rPr>
              <a:t>Research Summary</a:t>
            </a: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4668FFB8-96B5-4E12-B09A-BBC05970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143750"/>
            <a:ext cx="19526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This system is a dynamic Zero Trust access-control prototype for police investigation data. Even after a successful login, each sensitive request is re-evaluated using identity, registered device, location, assigned case, data sensitivity, and behavior history. Instead of relying only on role-based permission, the policy engine returns view-only, masking, re-authentication, admin approval, or block based on risk and confidence.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4C194ED8-4FA0-42B6-A27A-6BE9BF40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8715375"/>
            <a:ext cx="19526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472C4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4472C4"/>
                </a:solidFill>
                <a:latin typeface="Segoe UI"/>
                <a:ea typeface="Segoe UI"/>
                <a:cs typeface="Segoe UI"/>
              </a:rPr>
              <a:t>Its novelty is translating general Zero Trust principles into a police-specific policy engine built around case assignment, jurisdiction, data grade, and repeated access behavior.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47AA9338-8061-461F-B311-30FB554A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125" y="6934200"/>
            <a:ext cx="333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414"/>
          </a:solidFill>
          <a:ln xmlns:a="http://schemas.openxmlformats.org/drawingml/2006/main" w="0">
            <a:solidFill>
              <a:srgbClr val="C91414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5E48707F-1706-4ED1-865E-258E54B5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125" y="708660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Insider Threat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FCE98558-8960-4228-A65B-030414CE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8875" y="6934200"/>
            <a:ext cx="333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DFA1B00C-AD26-4F24-A244-24A79BCB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8875" y="708660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Police Context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9A2529A5-5DBA-4D13-9A18-EC367918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125" y="7839075"/>
            <a:ext cx="333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321"/>
          </a:solidFill>
          <a:ln xmlns:a="http://schemas.openxmlformats.org/drawingml/2006/main" w="0">
            <a:solidFill>
              <a:srgbClr val="F4B321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B2189053-FF2E-4A91-9AC1-84B14857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125" y="7991475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Risk-Adaptive Access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2100EEDC-43D9-4DF2-AEBE-EB94B81B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8875" y="7839075"/>
            <a:ext cx="333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A7"/>
          </a:solidFill>
          <a:ln xmlns:a="http://schemas.openxmlformats.org/drawingml/2006/main" w="0">
            <a:solidFill>
              <a:srgbClr val="6F5AA7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FB725BE5-C22C-4758-BC69-D1550E9E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8875" y="7991475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Auditability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D841DDD9-F84D-4EF9-BBCB-12511354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715625"/>
            <a:ext cx="1143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Per-Request Policy Decision Structure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561E7D2A-66A6-4809-A498-0BF20EEC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382375"/>
            <a:ext cx="54673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C91414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8D5E338B-3688-4782-A883-B8036FF7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382375"/>
            <a:ext cx="742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414"/>
          </a:solidFill>
          <a:ln xmlns:a="http://schemas.openxmlformats.org/drawingml/2006/main" w="0">
            <a:solidFill>
              <a:srgbClr val="C91414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3F65FDE9-E36C-40C6-8BA3-8366AEF5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877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ED0A7463-9E9A-4263-84CB-EE928989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1610975"/>
            <a:ext cx="4324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Request Context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5572DCCE-7761-4414-8AF5-F23CDE00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2068175"/>
            <a:ext cx="4324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F7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4B4F73"/>
                </a:solidFill>
                <a:latin typeface="Segoe UI"/>
                <a:ea typeface="Segoe UI"/>
                <a:cs typeface="Segoe UI"/>
              </a:rPr>
              <a:t>Collect account, device, location, action, case ID, and data grade.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8B57F76D-9649-4F0A-99AF-6AAE3FAE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22015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4B"/>
          </a:solidFill>
          <a:ln xmlns:a="http://schemas.openxmlformats.org/drawingml/2006/main" w="0">
            <a:solidFill>
              <a:srgbClr val="1F234B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0DB2E2D0-50E2-4953-BF2C-2CDEB501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1382375"/>
            <a:ext cx="54673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11111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47895F7B-74AF-4278-A7C7-9C80E777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1382375"/>
            <a:ext cx="742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6D29C030-45AD-41E5-BBFF-8DD55D4B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1877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6451AABA-D447-472F-AB33-96CA4B46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1610975"/>
            <a:ext cx="4324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Immediate Blocks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361D8950-F6EC-4211-873C-7BB5BB99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2068175"/>
            <a:ext cx="4324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F7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4B4F73"/>
                </a:solidFill>
                <a:latin typeface="Segoe UI"/>
                <a:ea typeface="Segoe UI"/>
                <a:cs typeface="Segoe UI"/>
              </a:rPr>
              <a:t>Block concurrent-auth failure, impossible travel, disallowed location, and risky download before scoring.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81C071B3-9A5D-490C-ADFD-0203EBA5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122015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4B"/>
          </a:solidFill>
          <a:ln xmlns:a="http://schemas.openxmlformats.org/drawingml/2006/main" w="0">
            <a:solidFill>
              <a:srgbClr val="1F234B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22BCA2D1-2728-4D16-A28D-88269C4C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11382375"/>
            <a:ext cx="54673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F4B321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D1C44FA6-985C-4F34-BEFD-27285067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11382375"/>
            <a:ext cx="742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321"/>
          </a:solidFill>
          <a:ln xmlns:a="http://schemas.openxmlformats.org/drawingml/2006/main" w="0">
            <a:solidFill>
              <a:srgbClr val="F4B321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D3A7612F-DC84-411F-B2BB-BF055D63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11877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A0045D59-0594-4F4E-8296-BD49E6C0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11610975"/>
            <a:ext cx="4324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4-Axis Score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931B1C1F-3CCD-43EF-BDF1-CC50D5D9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12068175"/>
            <a:ext cx="4324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F7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4B4F73"/>
                </a:solidFill>
                <a:latin typeface="Segoe UI"/>
                <a:ea typeface="Segoe UI"/>
                <a:cs typeface="Segoe UI"/>
              </a:rPr>
              <a:t>Compute risk from object sensitivity + environment risk + behavior risk - job fitness.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13B5A5A7-EA55-4ED1-AAAE-46DDCDA5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0" y="122015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4B"/>
          </a:solidFill>
          <a:ln xmlns:a="http://schemas.openxmlformats.org/drawingml/2006/main" w="0">
            <a:solidFill>
              <a:srgbClr val="1F234B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742B3726-9E91-416A-9470-54CC3635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6100" y="11382375"/>
            <a:ext cx="54673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4472C4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193958B9-B6B2-4683-8E11-F55B9123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6100" y="11382375"/>
            <a:ext cx="742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D1D4B308-E944-43CB-B4BB-F00EB5D2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6100" y="11877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688DD781-959D-4ADB-A5B2-3DA04876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8600" y="11610975"/>
            <a:ext cx="4324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5-Level Decision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B870A8B0-DE77-4093-9B07-7EEFFFF4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8600" y="12068175"/>
            <a:ext cx="4324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F7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4B4F73"/>
                </a:solidFill>
                <a:latin typeface="Segoe UI"/>
                <a:ea typeface="Segoe UI"/>
                <a:cs typeface="Segoe UI"/>
              </a:rPr>
              <a:t>Return L1 allow, L2 view-only, L3 re-auth, L4 admin approval, or L5 block.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EA9F5B9D-0833-4139-8200-513741C5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3450" y="122015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4B"/>
          </a:solidFill>
          <a:ln xmlns:a="http://schemas.openxmlformats.org/drawingml/2006/main" w="0">
            <a:solidFill>
              <a:srgbClr val="1F234B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16173D81-DF10-4960-B730-C1EF98FC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7300" y="11382375"/>
            <a:ext cx="54673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6F5AA7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D724D883-6E05-44F1-B7BE-CC1165C9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7300" y="11382375"/>
            <a:ext cx="742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A7"/>
          </a:solidFill>
          <a:ln xmlns:a="http://schemas.openxmlformats.org/drawingml/2006/main" w="0">
            <a:solidFill>
              <a:srgbClr val="6F5AA7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6B50714E-1CAE-45BF-A841-2AA8C8FC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7300" y="11877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E5270F39-830A-494A-8E3A-8D3D5CB9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9800" y="11610975"/>
            <a:ext cx="4324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Audit &amp; Review</a:t>
            </a: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6704378E-059E-47E6-B522-24F1647E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9800" y="12068175"/>
            <a:ext cx="4324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F7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4B4F73"/>
                </a:solidFill>
                <a:latin typeface="Segoe UI"/>
                <a:ea typeface="Segoe UI"/>
                <a:cs typeface="Segoe UI"/>
              </a:rPr>
              <a:t>Separate operation, audit, and sensitive logs; review break-glass access after use.</a:t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D4D967A8-F6CF-4225-B3F2-F03494E2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0"/>
            <a:ext cx="7239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19050">
            <a:solidFill>
              <a:srgbClr val="DCE3F0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38741466-7B4A-45AD-843D-FD121E61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0"/>
            <a:ext cx="857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76644551-68A6-4C7D-853E-AB4E267A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4001750"/>
            <a:ext cx="6743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State Store</a:t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8E4FAE39-BFCD-4EF4-8796-84E50919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4458950"/>
            <a:ext cx="67246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4F7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B4F73"/>
                </a:solidFill>
                <a:latin typeface="Segoe UI"/>
                <a:ea typeface="Segoe UI"/>
                <a:cs typeface="Segoe UI"/>
              </a:rPr>
              <a:t>Stores MFA state, prior approval, behavior accumulation, and session risk for the next request.</a:t>
            </a: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A69D3F08-AD4D-45B4-AFFF-33A47348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13811250"/>
            <a:ext cx="7239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F"/>
          </a:solidFill>
          <a:ln xmlns:a="http://schemas.openxmlformats.org/drawingml/2006/main" w="19050">
            <a:solidFill>
              <a:srgbClr val="DCE3F0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3A7FA335-27AD-4FE7-B2D0-5A3F3014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13811250"/>
            <a:ext cx="857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A7"/>
          </a:solidFill>
          <a:ln xmlns:a="http://schemas.openxmlformats.org/drawingml/2006/main" w="0">
            <a:solidFill>
              <a:srgbClr val="6F5AA7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A1B6E3CB-AF79-4E63-9D99-FE959F7B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4450" y="14001750"/>
            <a:ext cx="6743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Admin Control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E3734639-BA31-4702-BE29-439B4CB3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4450" y="14458950"/>
            <a:ext cx="67246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4F7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B4F73"/>
                </a:solidFill>
                <a:latin typeface="Segoe UI"/>
                <a:ea typeface="Segoe UI"/>
                <a:cs typeface="Segoe UI"/>
              </a:rPr>
              <a:t>L4 approval requires admin review; self-approval and self-review are blocked to reduce privileged bypass.</a:t>
            </a:r>
          </a:p>
        </p:txBody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8FD46874-7968-40A7-AB7A-EB639623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335375"/>
            <a:ext cx="13906500" cy="895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DDEA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D059C562-AA8C-44A5-93D1-26BA2397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335375"/>
            <a:ext cx="114300" cy="895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E8CF8B11-516F-4220-97FB-3B55366D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544925"/>
            <a:ext cx="1323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Differentiation: What Changes From Static Access Control</a:t>
            </a:r>
          </a:p>
        </p:txBody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FF50FA7B-F17B-4857-BC82-CE302C41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240250"/>
            <a:ext cx="12954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E"/>
          </a:solidFill>
          <a:ln xmlns:a="http://schemas.openxmlformats.org/drawingml/2006/main" w="19050">
            <a:solidFill>
              <a:srgbClr val="DCE3F0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A405A0D3-EC76-4B4E-8A3A-80E212C6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240250"/>
            <a:ext cx="857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414"/>
          </a:solidFill>
          <a:ln xmlns:a="http://schemas.openxmlformats.org/drawingml/2006/main" w="0">
            <a:solidFill>
              <a:srgbClr val="C91414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0AE963CD-0F5C-4DC7-AC3F-5FBF6C8E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430750"/>
            <a:ext cx="12458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Static RBAC/ABAC gap</a:t>
            </a:r>
          </a:p>
        </p:txBody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A643B031-92FD-455A-A375-B7BC68FD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887950"/>
            <a:ext cx="124396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4F7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B4F73"/>
                </a:solidFill>
                <a:latin typeface="Segoe UI"/>
                <a:ea typeface="Segoe UI"/>
                <a:cs typeface="Segoe UI"/>
              </a:rPr>
              <a:t>Conventional access control checks role or department at login. It rarely reacts to device changes, location anomalies, assigned-case mismatch, or repeated viewing after login.</a:t>
            </a: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CFA82726-2439-4D27-93C2-44DFE071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145250"/>
            <a:ext cx="12954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E3F0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DBD98637-62D5-4690-8811-C48D834F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145250"/>
            <a:ext cx="857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D20AC369-32B5-40B2-A928-09B1D972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335750"/>
            <a:ext cx="12458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Dynamic risk control</a:t>
            </a:r>
          </a:p>
        </p:txBody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373A40E3-3EF8-4176-9019-2A832F5A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792950"/>
            <a:ext cx="124396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4F7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B4F73"/>
                </a:solidFill>
                <a:latin typeface="Segoe UI"/>
                <a:ea typeface="Segoe UI"/>
                <a:cs typeface="Segoe UI"/>
              </a:rPr>
              <a:t>The system re-scores every request and chooses view-only, masking, re-authentication, approval, or block according to risk and decision confidence.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4078B6E3-B68D-41D3-A84C-74E2D247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0"/>
            <a:ext cx="12954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E"/>
          </a:solidFill>
          <a:ln xmlns:a="http://schemas.openxmlformats.org/drawingml/2006/main" w="19050">
            <a:solidFill>
              <a:srgbClr val="DCE3F0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012DAC11-9061-4E18-8ECE-3D7B1E5F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0"/>
            <a:ext cx="857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321"/>
          </a:solidFill>
          <a:ln xmlns:a="http://schemas.openxmlformats.org/drawingml/2006/main" w="0">
            <a:solidFill>
              <a:srgbClr val="F4B321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ACCB8240-E83D-4FB8-A39A-40EEDCE7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240750"/>
            <a:ext cx="12458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Prevention before leakage</a:t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843493CC-DEAD-408B-90E8-4C1B2E53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697950"/>
            <a:ext cx="124396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4F7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B4F73"/>
                </a:solidFill>
                <a:latin typeface="Segoe UI"/>
                <a:ea typeface="Segoe UI"/>
                <a:cs typeface="Segoe UI"/>
              </a:rPr>
              <a:t>Authorized insiders can be controlled before data exposure, especially for non-assigned case access, disallowed locations, and risky downloads.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6FD5A7AA-B566-430B-A732-E1EC9F44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955250"/>
            <a:ext cx="12954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E3F0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E5A024AD-CFF2-44CC-836E-952C63C4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955250"/>
            <a:ext cx="857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A58"/>
          </a:solidFill>
          <a:ln xmlns:a="http://schemas.openxmlformats.org/drawingml/2006/main" w="0">
            <a:solidFill>
              <a:srgbClr val="4B9A58"/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9DAEAD48-C7EB-4010-A9F1-C31436F3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3145750"/>
            <a:ext cx="12458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Police-domain context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2F3F54EB-549C-4233-80A0-2A9F1885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3602950"/>
            <a:ext cx="124396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4F7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B4F73"/>
                </a:solidFill>
                <a:latin typeface="Segoe UI"/>
                <a:ea typeface="Segoe UI"/>
                <a:cs typeface="Segoe UI"/>
              </a:rPr>
              <a:t>The policy model uses data grade, case assignment, jurisdiction, and duty tags, making it more specific than a generic enterprise Zero Trust model.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FB079C6E-B83B-4147-98DC-7E8D912A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6335375"/>
            <a:ext cx="13906500" cy="895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DDEA"/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35527739-507F-4CB7-8CBD-BDB88F21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6335375"/>
            <a:ext cx="114300" cy="895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A7"/>
          </a:solidFill>
          <a:ln xmlns:a="http://schemas.openxmlformats.org/drawingml/2006/main" w="0">
            <a:solidFill>
              <a:srgbClr val="6F5AA7"/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F4C4532D-4CA0-4C94-838A-DF5F84DB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4850" y="16544925"/>
            <a:ext cx="1323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Core Functions: Turning Risk Into Access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D8503BA8-3A83-4056-956D-B4984BD8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17240250"/>
            <a:ext cx="6286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F"/>
          </a:solidFill>
          <a:ln xmlns:a="http://schemas.openxmlformats.org/drawingml/2006/main" w="19050">
            <a:solidFill>
              <a:srgbClr val="DCE3F0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E10D5CF3-09FD-4CB8-A0E1-D2D54768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17240250"/>
            <a:ext cx="857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7E16FA01-5992-4818-A8DC-7D230BDD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17430750"/>
            <a:ext cx="5791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4-axis risk score</a:t>
            </a:r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D739EA9B-853D-46FC-8F9B-C24C9D43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17887950"/>
            <a:ext cx="57721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4F7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B4F73"/>
                </a:solidFill>
                <a:latin typeface="Segoe UI"/>
                <a:ea typeface="Segoe UI"/>
                <a:cs typeface="Segoe UI"/>
              </a:rPr>
              <a:t>Combines object sensitivity, environment risk, behavior risk, and job fitness. Job fitness lowers risk when the case and duty context match the user's work.</a:t>
            </a:r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1D5462F5-8D3F-49C3-B8AE-15CE29BA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0" y="17240250"/>
            <a:ext cx="6286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8"/>
          </a:solidFill>
          <a:ln xmlns:a="http://schemas.openxmlformats.org/drawingml/2006/main" w="19050">
            <a:solidFill>
              <a:srgbClr val="DCE3F0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C8379BFC-F4DE-434A-8716-DB166DDC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0" y="17240250"/>
            <a:ext cx="857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321"/>
          </a:solidFill>
          <a:ln xmlns:a="http://schemas.openxmlformats.org/drawingml/2006/main" w="0">
            <a:solidFill>
              <a:srgbClr val="F4B321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173A0F36-8231-4432-AB57-37F57DBB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1450" y="17430750"/>
            <a:ext cx="5791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5-level access control</a:t>
            </a:r>
          </a:p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2E9F9AB3-BB7F-4687-9088-5BA97D6B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1450" y="17887950"/>
            <a:ext cx="57721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4F7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B4F73"/>
                </a:solidFill>
                <a:latin typeface="Segoe UI"/>
                <a:ea typeface="Segoe UI"/>
                <a:cs typeface="Segoe UI"/>
              </a:rPr>
              <a:t>Moves beyond allow/block. The same data can be fully allowed, view-only, re-authenticated, admin-approved, masked, or blocked depending on context.</a:t>
            </a:r>
          </a:p>
        </p:txBody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692F4F73-FB15-4B95-8C01-258062BF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20669250"/>
            <a:ext cx="6286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F"/>
          </a:solidFill>
          <a:ln xmlns:a="http://schemas.openxmlformats.org/drawingml/2006/main" w="19050">
            <a:solidFill>
              <a:srgbClr val="DCE3F0"/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395F805A-571A-42BB-BE45-E322A401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20669250"/>
            <a:ext cx="857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A58"/>
          </a:solidFill>
          <a:ln xmlns:a="http://schemas.openxmlformats.org/drawingml/2006/main" w="0">
            <a:solidFill>
              <a:srgbClr val="4B9A58"/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CEB6218D-3DFB-47EF-838F-C2932B01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20859750"/>
            <a:ext cx="5791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Confidence guardrail</a:t>
            </a:r>
          </a:p>
        </p:txBody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2689E094-5FCE-4FD2-B0A4-E39D0B16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21316950"/>
            <a:ext cx="57721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4F7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B4F73"/>
                </a:solidFill>
                <a:latin typeface="Segoe UI"/>
                <a:ea typeface="Segoe UI"/>
                <a:cs typeface="Segoe UI"/>
              </a:rPr>
              <a:t>When decision confidence is low, the system avoids risky allow/deny outcomes and converges to admin approval or view-only access.</a:t>
            </a:r>
          </a:p>
        </p:txBody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12361BF3-A465-4A06-907B-384432C2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0" y="20669250"/>
            <a:ext cx="6286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8"/>
          </a:solidFill>
          <a:ln xmlns:a="http://schemas.openxmlformats.org/drawingml/2006/main" w="19050">
            <a:solidFill>
              <a:srgbClr val="DCE3F0"/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D6082834-923E-42EE-891C-01DCDE4A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0" y="20669250"/>
            <a:ext cx="857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A7"/>
          </a:solidFill>
          <a:ln xmlns:a="http://schemas.openxmlformats.org/drawingml/2006/main" w="0">
            <a:solidFill>
              <a:srgbClr val="6F5AA7"/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F6EDAC3B-48D4-4318-A999-90D6B52E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1450" y="20859750"/>
            <a:ext cx="5791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Break-glass control</a:t>
            </a:r>
          </a:p>
        </p:txBody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19B7543D-77B7-49F7-BF20-38AFBC7B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1450" y="21316950"/>
            <a:ext cx="57721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4F7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B4F73"/>
                </a:solidFill>
                <a:latin typeface="Segoe UI"/>
                <a:ea typeface="Segoe UI"/>
                <a:cs typeface="Segoe UI"/>
              </a:rPr>
              <a:t>Emergency access is allowed only with MFA, scope, TTL, justification, and post-review, preserving both operational continuity and accountability.</a:t>
            </a:r>
          </a:p>
        </p:txBody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2CFD87C4-1136-4A45-A16D-B90DED77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50875"/>
            <a:ext cx="139065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DDEA"/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D05F2C24-C5C1-4DE6-B065-E58F4AB2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50875"/>
            <a:ext cx="1143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321"/>
          </a:solidFill>
          <a:ln xmlns:a="http://schemas.openxmlformats.org/drawingml/2006/main" w="0">
            <a:solidFill>
              <a:srgbClr val="F4B321"/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2CA4DDA0-7DCE-4C43-B847-9AD73835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260425"/>
            <a:ext cx="1323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Novelty and Technical Contributions</a:t>
            </a:r>
          </a:p>
        </p:txBody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627EE1BA-CC68-4E85-9DE0-86FC2FF8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955750"/>
            <a:ext cx="590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E3F0"/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5CE7AF44-EA4F-4BB4-B691-DF64A689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955750"/>
            <a:ext cx="857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414"/>
          </a:solidFill>
          <a:ln xmlns:a="http://schemas.openxmlformats.org/drawingml/2006/main" w="0">
            <a:solidFill>
              <a:srgbClr val="C91414"/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C79CD570-8057-499A-9093-A494C27E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146250"/>
            <a:ext cx="5410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Domain-specific policy</a:t>
            </a:r>
          </a:p>
        </p:txBody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77A0C4D5-94C8-4F36-8E89-DEDA2C46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603450"/>
            <a:ext cx="5391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4F7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B4F73"/>
                </a:solidFill>
                <a:latin typeface="Segoe UI"/>
                <a:ea typeface="Segoe UI"/>
                <a:cs typeface="Segoe UI"/>
              </a:rPr>
              <a:t>Uses case assignment, jurisdiction, and data grade as first-class policy variables</a:t>
            </a:r>
          </a:p>
        </p:txBody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709AD614-737A-4FFC-9CED-6363F7A1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955750"/>
            <a:ext cx="590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E3F0"/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BEFEFEB4-6D26-4C57-84BC-E8875CD5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955750"/>
            <a:ext cx="857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767E2003-2F2E-4D36-BBAC-A6D125A8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146250"/>
            <a:ext cx="5410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Pre-score blocking</a:t>
            </a:r>
          </a:p>
        </p:txBody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2DD0F0E6-E366-42F6-8C85-94AAE0B3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603450"/>
            <a:ext cx="5391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4F7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B4F73"/>
                </a:solidFill>
                <a:latin typeface="Segoe UI"/>
                <a:ea typeface="Segoe UI"/>
                <a:cs typeface="Segoe UI"/>
              </a:rPr>
              <a:t>Separates immediate block conditions before risk scoring to reduce sensitive exposure</a:t>
            </a:r>
          </a:p>
        </p:txBody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4818B32A-ECB4-491A-8D84-64399798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384625"/>
            <a:ext cx="590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E3F0"/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4E132E82-2C08-4F5D-A9D0-E4F8F49C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384625"/>
            <a:ext cx="857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321"/>
          </a:solidFill>
          <a:ln xmlns:a="http://schemas.openxmlformats.org/drawingml/2006/main" w="0">
            <a:solidFill>
              <a:srgbClr val="F4B321"/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76833095-C6C2-455A-A65A-E3A64373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575125"/>
            <a:ext cx="5410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Operational continuity</a:t>
            </a:r>
          </a:p>
        </p:txBody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EAF65232-CF2B-4C63-8A7E-C4CFB008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032325"/>
            <a:ext cx="5391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4F7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B4F73"/>
                </a:solidFill>
                <a:latin typeface="Segoe UI"/>
                <a:ea typeface="Segoe UI"/>
                <a:cs typeface="Segoe UI"/>
              </a:rPr>
              <a:t>Uses re-auth, view-only, and approval instead of binary deny when risk is ambiguous</a:t>
            </a:r>
          </a:p>
        </p:txBody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034EABA3-C85D-461E-A4B8-6B144034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384625"/>
            <a:ext cx="590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E3F0"/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95DBAAFD-A229-461A-A4BD-23098A7D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384625"/>
            <a:ext cx="857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A58"/>
          </a:solidFill>
          <a:ln xmlns:a="http://schemas.openxmlformats.org/drawingml/2006/main" w="0">
            <a:solidFill>
              <a:srgbClr val="4B9A58"/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A47A32B9-F606-4749-84C0-4E4C794A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575125"/>
            <a:ext cx="5410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Audit-first design</a:t>
            </a:r>
          </a:p>
        </p:txBody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47AE176A-24CB-47BA-BD93-CEB7D074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32325"/>
            <a:ext cx="5391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4F7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B4F73"/>
                </a:solidFill>
                <a:latin typeface="Segoe UI"/>
                <a:ea typeface="Segoe UI"/>
                <a:cs typeface="Segoe UI"/>
              </a:rPr>
              <a:t>Keeps every allow, deny, approval, and break-glass action reviewable after the fact</a:t>
            </a:r>
          </a:p>
        </p:txBody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CE59BA11-4C2B-495F-8A12-78E66C5C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26050875"/>
            <a:ext cx="139065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DDEA"/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4ECCE1C4-DA76-466D-9E40-68F34F77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26050875"/>
            <a:ext cx="1143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A58"/>
          </a:solidFill>
          <a:ln xmlns:a="http://schemas.openxmlformats.org/drawingml/2006/main" w="0">
            <a:solidFill>
              <a:srgbClr val="4B9A58"/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A89909BC-7576-4B3F-B968-6ACEBF38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4850" y="26260425"/>
            <a:ext cx="1323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Strengths, Limitations, and Next Steps</a:t>
            </a:r>
          </a:p>
        </p:txBody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2F984DF1-9567-4063-B8CF-49A13724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26955750"/>
            <a:ext cx="12954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E3F0"/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19265B27-E3F4-423E-97FC-F4F7017A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26955750"/>
            <a:ext cx="857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A58"/>
          </a:solidFill>
          <a:ln xmlns:a="http://schemas.openxmlformats.org/drawingml/2006/main" w="0">
            <a:solidFill>
              <a:srgbClr val="4B9A58"/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D93CF7B1-AF82-47F1-8454-45294BD3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27146250"/>
            <a:ext cx="12458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Strengths</a:t>
            </a:r>
          </a:p>
        </p:txBody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A960E1B6-31F2-4A14-BADD-4D8A9377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27603450"/>
            <a:ext cx="12439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4F7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B4F73"/>
                </a:solidFill>
                <a:latin typeface="Segoe UI"/>
                <a:ea typeface="Segoe UI"/>
                <a:cs typeface="Segoe UI"/>
              </a:rPr>
              <a:t>Reduces insider misuse at access time, minimizes exposure, and makes admin approval and emergency access auditable.</a:t>
            </a:r>
          </a:p>
        </p:txBody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E8FD89FD-228C-44CA-AB47-FB5B6AB3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28651200"/>
            <a:ext cx="12954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F4"/>
          </a:solidFill>
          <a:ln xmlns:a="http://schemas.openxmlformats.org/drawingml/2006/main" w="19050">
            <a:solidFill>
              <a:srgbClr val="DCE3F0"/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4F3207C9-179B-4DF8-941E-201BC060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28651200"/>
            <a:ext cx="857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414"/>
          </a:solidFill>
          <a:ln xmlns:a="http://schemas.openxmlformats.org/drawingml/2006/main" w="0">
            <a:solidFill>
              <a:srgbClr val="C91414"/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90395BAA-3020-4529-A67F-D2FC45FC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28841700"/>
            <a:ext cx="12458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Limitations</a:t>
            </a:r>
          </a:p>
        </p:txBody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6BE22154-BA61-408C-9E2D-A6E62845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29298900"/>
            <a:ext cx="12439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4F7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B4F73"/>
                </a:solidFill>
                <a:latin typeface="Segoe UI"/>
                <a:ea typeface="Segoe UI"/>
                <a:cs typeface="Segoe UI"/>
              </a:rPr>
              <a:t>The current prototype is scenario-driven. Production deployment would require organization-specific thresholds, endpoint telemetry, and SIEM/EDR integration.</a:t>
            </a:r>
          </a:p>
        </p:txBody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533A1C1B-5D58-4C40-88CA-E15C30CA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30346650"/>
            <a:ext cx="12954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E3F0"/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44E298C0-332B-41F7-914D-57CAF2A2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30346650"/>
            <a:ext cx="857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1E46FDB9-A08C-447B-BEB6-87832211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30537150"/>
            <a:ext cx="12458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Next steps</a:t>
            </a:r>
          </a:p>
        </p:txBody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291AFA70-BED8-4495-A7F1-FEC598C0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30994350"/>
            <a:ext cx="12439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4F7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B4F73"/>
                </a:solidFill>
                <a:latin typeface="Segoe UI"/>
                <a:ea typeface="Segoe UI"/>
                <a:cs typeface="Segoe UI"/>
              </a:rPr>
              <a:t>Learn long-term behavior baselines, tune risk policies per organization, and validate performance and availability in real police-network conditions.</a:t>
            </a:r>
          </a:p>
        </p:txBody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D652E2C4-EAFD-4B88-BFD5-200D5E64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47000"/>
            <a:ext cx="28575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DDEA"/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2517C80C-926B-4D12-A72C-5BF6285E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47000"/>
            <a:ext cx="1143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809F50AB-99E6-495F-99E1-84AD0882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356550"/>
            <a:ext cx="2790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Expected Impact</a:t>
            </a:r>
          </a:p>
        </p:txBody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D01927AF-9B53-4394-ACDB-E4608F72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147125"/>
            <a:ext cx="6429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E3F0"/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66B55E28-BF26-4AAE-992C-05BD83B0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147125"/>
            <a:ext cx="857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414"/>
          </a:solidFill>
          <a:ln xmlns:a="http://schemas.openxmlformats.org/drawingml/2006/main" w="0">
            <a:solidFill>
              <a:srgbClr val="C91414"/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2774F705-72BE-484B-8D2E-23A5347A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4337625"/>
            <a:ext cx="59340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Preempt insider misuse</a:t>
            </a:r>
          </a:p>
        </p:txBody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BCD64175-AD54-411C-A294-E5973D42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4794825"/>
            <a:ext cx="591502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4F7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B4F73"/>
                </a:solidFill>
                <a:latin typeface="Segoe UI"/>
                <a:ea typeface="Segoe UI"/>
                <a:cs typeface="Segoe UI"/>
              </a:rPr>
              <a:t>Detect and restrict non-assigned access and repeated viewing by authorized users.</a:t>
            </a:r>
          </a:p>
        </p:txBody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13C21DFB-18D2-460A-A364-138F03DD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4147125"/>
            <a:ext cx="6429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F"/>
          </a:solidFill>
          <a:ln xmlns:a="http://schemas.openxmlformats.org/drawingml/2006/main" w="19050">
            <a:solidFill>
              <a:srgbClr val="DCE3F0"/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77FFEAD4-DCC5-4438-8EE9-6B12E750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4147125"/>
            <a:ext cx="857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92DC4D59-A220-4D6D-A8D0-8FAC8E56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4337625"/>
            <a:ext cx="59340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Minimize exposure</a:t>
            </a:r>
          </a:p>
        </p:txBody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3A88A289-C5A3-47DE-809F-B059C475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4794825"/>
            <a:ext cx="591502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4F7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B4F73"/>
                </a:solidFill>
                <a:latin typeface="Segoe UI"/>
                <a:ea typeface="Segoe UI"/>
                <a:cs typeface="Segoe UI"/>
              </a:rPr>
              <a:t>Switch to masking or view-only access under high-risk context to reduce leakage impact.</a:t>
            </a:r>
          </a:p>
        </p:txBody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70D93C16-654F-4841-8A6D-2B466216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34147125"/>
            <a:ext cx="6429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E3F0"/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BB500528-339A-47BE-8A0A-B3942E5F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34147125"/>
            <a:ext cx="857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321"/>
          </a:solidFill>
          <a:ln xmlns:a="http://schemas.openxmlformats.org/drawingml/2006/main" w="0">
            <a:solidFill>
              <a:srgbClr val="F4B321"/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5AA4DE7A-F6B0-4A50-ABE2-248F969F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9575" y="34337625"/>
            <a:ext cx="59340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Maintain operations</a:t>
            </a:r>
          </a:p>
        </p:txBody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FE556828-7B4D-4F50-B4AC-067CBC9D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9575" y="34794825"/>
            <a:ext cx="591502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4F7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B4F73"/>
                </a:solidFill>
                <a:latin typeface="Segoe UI"/>
                <a:ea typeface="Segoe UI"/>
                <a:cs typeface="Segoe UI"/>
              </a:rPr>
              <a:t>Use re-authentication, approval, and break-glass flows so investigations can continue.</a:t>
            </a:r>
          </a:p>
        </p:txBody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A56211F2-D03D-4C42-A602-B89F2767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25" y="34147125"/>
            <a:ext cx="6429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F"/>
          </a:solidFill>
          <a:ln xmlns:a="http://schemas.openxmlformats.org/drawingml/2006/main" w="19050">
            <a:solidFill>
              <a:srgbClr val="DCE3F0"/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B5BD747E-CFC2-48CA-89E8-45D8A03C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25" y="34147125"/>
            <a:ext cx="857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A58"/>
          </a:solidFill>
          <a:ln xmlns:a="http://schemas.openxmlformats.org/drawingml/2006/main" w="0">
            <a:solidFill>
              <a:srgbClr val="4B9A58"/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1E54BB03-E281-4E47-BE85-5C61ADB1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02825" y="34337625"/>
            <a:ext cx="59340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Strengthen accountability</a:t>
            </a:r>
          </a:p>
        </p:txBody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AA23FFBB-BB63-41FA-B450-EBA11FAC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02825" y="34794825"/>
            <a:ext cx="591502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4F7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B4F73"/>
                </a:solidFill>
                <a:latin typeface="Segoe UI"/>
                <a:ea typeface="Segoe UI"/>
                <a:cs typeface="Segoe UI"/>
              </a:rPr>
              <a:t>Preserve decision reasons and access history for audit, review, and responsibility tracking.</a:t>
            </a:r>
          </a:p>
        </p:txBody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89391020-58A9-43B8-A752-4DBEAF2D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385875"/>
            <a:ext cx="28575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4B"/>
          </a:solidFill>
          <a:ln xmlns:a="http://schemas.openxmlformats.org/drawingml/2006/main" w="0">
            <a:solidFill>
              <a:srgbClr val="1F234B"/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CD90421A-2386-4B6F-8DC4-FD9A217E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909750"/>
            <a:ext cx="2752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Conclusion: this work implements Zero Trust not as one-time authentication, but as a police-specific policy engine that continuously adapts access to investigation-data risk.</a:t>
            </a:r>
          </a:p>
        </p:txBody>
      </p:sp>
    </p:spTree>
    <p:extLst>
      <p:ext uri="{BB962C8B-B14F-4D97-AF65-F5344CB8AC3E}">
        <p14:creationId xmlns:p14="http://schemas.microsoft.com/office/powerpoint/2010/main" val="256106343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2026-06-12T12:37:27.1540000Z</dcterms:created>
  <dcterms:modified xsi:type="dcterms:W3CDTF">2026-06-12T12:37:27.1540000Z</dcterms:modified>
</coreProperties>
</file>