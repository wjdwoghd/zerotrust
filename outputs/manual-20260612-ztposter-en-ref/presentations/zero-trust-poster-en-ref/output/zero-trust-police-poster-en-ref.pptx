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c4f3f043aa42b6" /><Relationship Type="http://schemas.openxmlformats.org/officeDocument/2006/relationships/extended-properties" Target="/docProps/app.xml" Id="R5f20d5dbde064534" /><Relationship Type="http://schemas.openxmlformats.org/officeDocument/2006/relationships/officeDocument" Target="/ppt/presentation.xml" Id="Rdb18bade48be4f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b7d8566617450b"/>
  </p:sldMasterIdLst>
  <p:notesMasterIdLst>
    <p:notesMasterId xmlns:r="http://schemas.openxmlformats.org/officeDocument/2006/relationships" r:id="Rd5e22335fbb643d4"/>
  </p:notesMasterIdLst>
  <p:sldIdLst>
    <p:sldId xmlns:r="http://schemas.openxmlformats.org/officeDocument/2006/relationships" id="256" r:id="Rb9f7334f400644b4"/>
  </p:sldIdLst>
  <p:sldSz cx="30275213" cy="4280376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5770bf2aa24cf9" /><Relationship Type="http://schemas.openxmlformats.org/officeDocument/2006/relationships/slideMaster" Target="/ppt/slideMasters/slideMaster1.xml" Id="Rc7b7d8566617450b" /><Relationship Type="http://schemas.openxmlformats.org/officeDocument/2006/relationships/notesMaster" Target="/ppt/notesMasters/notesMaster1.xml" Id="Rd5e22335fbb643d4" /><Relationship Type="http://schemas.openxmlformats.org/officeDocument/2006/relationships/presProps" Target="/ppt/presProps.xml" Id="Ra8def8c61d564cfb" /><Relationship Type="http://schemas.openxmlformats.org/officeDocument/2006/relationships/viewProps" Target="/ppt/viewProps.xml" Id="R044c6b3ca7444950" /><Relationship Type="http://schemas.openxmlformats.org/officeDocument/2006/relationships/tableStyles" Target="/ppt/tableStyles.xml" Id="Rf9444a46fdcf42a0" /><Relationship Type="http://schemas.openxmlformats.org/officeDocument/2006/relationships/slide" Target="/ppt/slides/slide1.xml" Id="Rb9f7334f400644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cbb2d5c1854e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0555fbea244e32" /><Relationship Type="http://schemas.openxmlformats.org/officeDocument/2006/relationships/notesMaster" Target="/ppt/notesMasters/notesMaster1.xml" Id="R2828dc41785140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83232f68447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bb5e1d9514f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73627f0af44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6e9a8b73746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077e5f88148a6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2BE2E78-5EE5-4EBE-8E42-90BD2B9CA8E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2546" y="13269164"/>
            <a:ext cx="25755554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625D93C-D487-4420-83BF-B3E54E571D9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545098" y="23970113"/>
            <a:ext cx="2121045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F3D5D55-EE4E-491A-AD2F-3D8DE35C8E6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D6466F7-6ECA-4ED1-9F9E-8ED8B55DA27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4DBFADC-31EA-4E96-A4B6-89DD141CCA7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794A862-76D8-44F5-81BC-B2D041908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05DA6BB-5DAD-47D6-9956-2B8BDE8B2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90B3E69-BC2C-4732-A34F-A4E4754FF09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E1815C1-2116-4B09-B86B-8D5EF69510D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005B063-4225-493C-879B-9BD01920D38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75D737A-E972-4014-817D-6F24566D9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A93BD1D-1E64-430B-9191-127E3ABE4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5037" y="9844870"/>
            <a:ext cx="13180782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E192FA5-1607-406D-A2E6-787FC399A6F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6153871" y="11536227"/>
            <a:ext cx="11270520" cy="6156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000" b="1" i="0">
                <a:solidFill>
                  <a:schemeClr val="tx1"/>
                </a:solidFill>
                <a:latin typeface="Book Antiqua"/>
                <a:ea typeface="Book Antiqua"/>
                <a:cs typeface="Book Antiqua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23F4882-0D01-4A77-82C2-BC2D592A57B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58BA99A5-DBDF-4570-ACA9-9F392E2B12F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B08E87B8-898C-4D19-B7A2-DFC092A1C7C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EF36C51-AFFF-4F25-964C-B1FCE3DF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D06B33E-7CB0-48A0-BD43-497EF5E6AF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C524AF8-4E72-4216-A5D1-3A5518666F4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DC2D0D1-5819-4E01-B36A-AAAB23B2A4C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CCEA099-3361-478D-9FDB-D34627E4A18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D4F5A11-CBF8-401B-AB2E-F0117BE356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D41FCB3-0967-4DBD-B56D-A4647416FFA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0544bea17df4d32" /><Relationship Type="http://schemas.openxmlformats.org/officeDocument/2006/relationships/theme" Target="/ppt/slideMasters/theme/theme2.xml" Id="R45274bb33c92425f" /><Relationship Type="http://schemas.openxmlformats.org/officeDocument/2006/relationships/slideLayout" Target="/ppt/slideLayouts/slideLayout1.xml" Id="Rd4c99f652bf44274" /><Relationship Type="http://schemas.openxmlformats.org/officeDocument/2006/relationships/slideLayout" Target="/ppt/slideLayouts/slideLayout2.xml" Id="Re8e266d60f6a4cb3" /><Relationship Type="http://schemas.openxmlformats.org/officeDocument/2006/relationships/slideLayout" Target="/ppt/slideLayouts/slideLayout3.xml" Id="Re667a6d7305c43eb" /><Relationship Type="http://schemas.openxmlformats.org/officeDocument/2006/relationships/slideLayout" Target="/ppt/slideLayouts/slideLayout4.xml" Id="R65455acf2f4b4a74" /><Relationship Type="http://schemas.openxmlformats.org/officeDocument/2006/relationships/slideLayout" Target="/ppt/slideLayouts/slideLayout5.xml" Id="R4e964ea560cc456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44bea17df4d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81056"/>
            <a:ext cx="30300654" cy="41910001"/>
          </a:xfrm>
          <a:prstGeom xmlns:a="http://schemas.openxmlformats.org/drawingml/2006/main" prst="rect">
            <a:avLst/>
          </a:prstGeom>
        </p:spPr>
      </p:pic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96EC0D05-044A-4545-91CB-29257AD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300654" cy="42791112"/>
          </a:xfrm>
          <a:custGeom xmlns:a="http://schemas.openxmlformats.org/drawingml/2006/main"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 xmlns:a="http://schemas.openxmlformats.org/drawingml/2006/main">
            <a:srgbClr val="37336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7D781E56-AB8D-4920-BEFA-B654A5BB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4481"/>
            <a:ext cx="30300654" cy="42214800"/>
          </a:xfrm>
          <a:custGeom xmlns:a="http://schemas.openxmlformats.org/drawingml/2006/main"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6481A61-817C-4D23-8F54-4F0CA6818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300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8DA4E9E-E7DD-4812-9C67-BB8D7ACF2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5037" y="9844870"/>
            <a:ext cx="2727058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D86D43A-8AE8-4AAB-8FF1-D06C06A4B9D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10302223" y="39807506"/>
            <a:ext cx="9696209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BB78B4B-A837-40FD-88FC-15D834E60D2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1515037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ADA1F0A-5847-41D6-BCEF-4A1C33FFB89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21816473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c99f652bf44274"/>
    <p:sldLayoutId xmlns:r="http://schemas.openxmlformats.org/officeDocument/2006/relationships" id="2147483650" r:id="Re8e266d60f6a4cb3"/>
    <p:sldLayoutId xmlns:r="http://schemas.openxmlformats.org/officeDocument/2006/relationships" id="2147483651" r:id="Re667a6d7305c43eb"/>
    <p:sldLayoutId xmlns:r="http://schemas.openxmlformats.org/officeDocument/2006/relationships" id="2147483652" r:id="R65455acf2f4b4a74"/>
    <p:sldLayoutId xmlns:r="http://schemas.openxmlformats.org/officeDocument/2006/relationships" id="2147483653" r:id="R4e964ea560cc4567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4c61e79e2d4642" /><Relationship Type="http://schemas.openxmlformats.org/officeDocument/2006/relationships/image" Target="/ppt/media/image2.png" Id="Ra6499a9e7bb5424b" /><Relationship Type="http://schemas.openxmlformats.org/officeDocument/2006/relationships/image" Target="/ppt/media/image.svg" Id="R967a453314af4b5c" /><Relationship Type="http://schemas.openxmlformats.org/officeDocument/2006/relationships/image" Target="/ppt/media/image.png" Id="R98a4226290784fc3" /><Relationship Type="http://schemas.openxmlformats.org/officeDocument/2006/relationships/notesSlide" Target="/ppt/notesSlides/notesSlide1.xml" Id="R88bd62c6090e4a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99a9e7bb542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10206" y="2141178"/>
            <a:ext cx="5181573" cy="3470677"/>
          </a:xfrm>
          <a:prstGeom xmlns:a="http://schemas.openxmlformats.org/drawingml/2006/main" prst="rect">
            <a:avLst/>
          </a:prstGeom>
        </p:spPr>
      </p:pic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7203565-1505-47A6-A9A4-2D0DC5CCF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4896" y="-110897"/>
            <a:ext cx="28039656" cy="4129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97649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Norwester"/>
                <a:ea typeface="Norwester"/>
                <a:cs typeface="Norwester"/>
              </a:rPr>
              <a:t>Police-Specific Dynamic</a:t>
            </a:r>
          </a:p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Norwester"/>
                <a:ea typeface="Norwester"/>
                <a:cs typeface="Norwester"/>
              </a:rPr>
              <a:t>Zero Trust Access Control System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10" y="5663119"/>
            <a:ext cx="28865591" cy="1228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362"/>
          </a:solidFill>
          <a:ln xmlns:a="http://schemas.openxmlformats.org/drawingml/2006/main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E67EAB6-6A4A-44D2-BDB9-D4DA9A55D4A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35974" y="36413281"/>
            <a:ext cx="28798577" cy="5654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35317" rIns="0" bIns="0">
            <a:spAutoFit/>
          </a:bodyPr>
          <a:lstStyle xmlns:a="http://schemas.openxmlformats.org/drawingml/2006/main"/>
          <a:p xmlns:a="http://schemas.openxmlformats.org/drawingml/2006/main">
            <a:pPr marL="360000">
              <a:buNone/>
            </a:pPr>
            <a:r>
              <a:rPr sz="5400" b="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4. Discussion &amp; Conclusion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This system turns login from the end of trust into the beginning of per-request verification and immediate blocking when risk rises.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Lora"/>
                <a:ea typeface="Lora"/>
                <a:cs typeface="Lora"/>
              </a:rPr>
              <a:t>For police investigation data, it operationalizes least privilege, continuous verification, assume breach, explicit verification, and complete auditability.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Lora"/>
                <a:ea typeface="Lora"/>
                <a:cs typeface="Lora"/>
              </a:rPr>
              <a:t>Expected impact: preempt insider misuse, minimize information exposure, re-evaluate sessions continuously, and preserve audit integrity through 3-layer append-only logs.</a:t>
            </a:r>
          </a:p>
        </p:txBody>
      </p:sp>
      <p:sp>
        <p:nvSpPr>
          <p:cNvPr id="3" name="object 6">
            <a:extLst xmlns:a="http://schemas.openxmlformats.org/drawingml/2006/main"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3476" y="6191564"/>
            <a:ext cx="14174289" cy="228139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8423" rIns="0" bIns="0">
            <a:spAutoFit/>
          </a:bodyPr>
          <a:lstStyle xmlns:a="http://schemas.openxmlformats.org/drawingml/2006/main"/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4-Axis Risk Score: risk_score = object sensitivity + environment risk + behavior risk - job fitness.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5-Level Access &amp; Masking: L1 full allow, L2 view-only, L3 re-authentication, L4 admin approval, and L5 block.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Immediate Blocks: concurrent-device auth failure, high-risk download, impossible travel, and disallowed location are blocked before scoring.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Confidence-Aware + Break-Glass: low-confidence decisions move to approval/view-only; emergency access requires MFA, scope, TTL, and post-review.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3-Layer Audit: operation, audit, and sensitive logs are append-only to preserve integrity.</a:t>
            </a:r>
          </a:p>
          <a:p xmlns:a="http://schemas.openxmlformats.org/drawingml/2006/main">
            <a:pPr marL="360000">
              <a:buNone/>
            </a:pPr>
            <a:r>
              <a:t/>
            </a:r>
          </a:p>
          <a:p xmlns:a="http://schemas.openxmlformats.org/drawingml/2006/main">
            <a:pPr marL="360000">
              <a:buNone/>
            </a:pPr>
            <a:r>
              <a:rPr sz="54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3. Scenario-Based Validation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Scenarios: non-assigned case leakage, disallowed location, and repeated non-assigned access.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Per-Request Checks: police account, registered device, allowed location, assigned case, and accumulated behavior risk.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Results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Non-assigned Grade 4/5 access escalates to approval, masking, and download blocking instead of silent allow.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Location or device violations are blocked at login or download time.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Repeated unauthorized viewing raises behavior risk and downgrades permissions in real time.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All allow, re-auth, block, and Break-Glass paths remain traceable through audit logs and post-review.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74" y="6276912"/>
            <a:ext cx="14096503" cy="15983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4400" indent="-914400">
              <a:buAutoNum type="arabicPeriod"/>
            </a:pPr>
            <a:r>
              <a:rPr sz="5400" spc="3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Motivation &amp; Research Goals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Ransomware poses an escalating threat to critical infrastructure, supply chains, and individuals, leading to significant disruptions.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Current anti-ransomware solutions face challenges such as operating system dependencies, reliance on kernel modifications, and susceptibility to advanced evasion techniques.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This poster introduces an OS-independent, user-space filesystem designed to detect ransomware and recover corrupted files.</a:t>
            </a:r>
          </a:p>
          <a:p xmlns:a="http://schemas.openxmlformats.org/drawingml/2006/main">
            <a:pPr marL="1274400" indent="-914400">
              <a:buNone/>
            </a:pPr>
            <a:r>
              <a:t/>
            </a:r>
          </a:p>
          <a:p xmlns:a="http://schemas.openxmlformats.org/drawingml/2006/main">
            <a:pPr marL="1274400" indent="-914400">
              <a:buAutoNum type="arabicPeriod" startAt="2"/>
            </a:pPr>
            <a:r>
              <a:rPr sz="5400" spc="3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Proposed Method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We propose </a:t>
            </a: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R-Hunt, 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a FUSE-based filesystem for detecting ransomware and restoring attacked files</a:t>
            </a: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,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 which operates entirely in the user space, avoiding kernel modifications and ensuring cross-platform compatibility.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Fig. 1 shows the overall structure of R-Hunt.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Main features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Process Whitelist: 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Allows legitimate encryption without performance degradation.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None/>
            </a:pPr>
            <a:r>
              <a:t/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35F0D2-FCAB-562F-E5DD-37681C6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89" y="34228687"/>
            <a:ext cx="27892869" cy="191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Fig. 2. Reference-aligned summary of the 4-axis risk score, 5-level access result, and core security mechanisms. Score, permissions, and audit logs connect per request.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855" y="3502285"/>
            <a:ext cx="22167596" cy="1821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Lora"/>
                <a:ea typeface="Lora"/>
                <a:cs typeface="Lora"/>
              </a:rPr>
              <a:t>Zero Trust Security Team  |  Jae-Hong Jung · Jun Huh · Jun-Won Hong</a:t>
            </a:r>
          </a:p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Lora"/>
                <a:ea typeface="Lora"/>
                <a:cs typeface="Lora"/>
              </a:rPr>
              <a:t>Advisor: Prof. Taekyoung Yoon · Dept. of Cyber Security, Dankook Univ.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" y="294481"/>
            <a:ext cx="30022800" cy="422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그림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4226290784fc3">
            <a:extLst>
              <a:ext uri="{96DAC541-7B7A-43D3-8B79-37D633B846F1}">
                <asvg:svgBlip xmlns:asvg="http://schemas.microsoft.com/office/drawing/2016/SVG/main" r:embed="R967a453314af4b5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4895" y="29326681"/>
            <a:ext cx="27892869" cy="4993218"/>
          </a:xfrm>
          <a:prstGeom xmlns:a="http://schemas.openxmlformats.org/drawingml/2006/main" prst="rect">
            <a:avLst/>
          </a:prstGeom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69" y="27867326"/>
            <a:ext cx="14701628" cy="1133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Fig. 1. Police-specific dynamic ZTA request-to-decision pipeline.</a:t>
            </a:r>
          </a:p>
        </p:txBody>
      </p:sp>
      <p:sp>
        <p:nvSpPr>
          <p:cNvPr id="8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AC33F30-6F74-4E68-B787-8797D72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623" y="23344618"/>
            <a:ext cx="301532" cy="196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cxnSp>
        <p:nvCxnSpPr>
          <p:cNvPr id="28" name="직선 연결선 8"/>
          <p:cNvCxnSpPr/>
          <p:nvPr/>
        </p:nvCxnSpPr>
        <p:spPr>
          <a:xfrm xmlns:a="http://schemas.openxmlformats.org/drawingml/2006/main" rot="0">
            <a:off x="1155167" y="25871818"/>
            <a:ext cx="1398244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prstDash val="sysDash"/>
            <a:miter/>
          </a:ln>
        </p:spPr>
      </p:cxnSp>
      <p:sp>
        <p:nvSpPr>
          <p:cNvPr id="36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607776B1-1921-47C0-B575-41F9237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298" y="24310739"/>
            <a:ext cx="9828191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함초롬바탕"/>
                <a:ea typeface="함초롬바탕"/>
                <a:cs typeface="함초롬바탕"/>
              </a:rPr>
              <a:t>Request context</a:t>
            </a:r>
          </a:p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함초롬바탕"/>
                <a:ea typeface="함초롬바탕"/>
                <a:cs typeface="함초롬바탕"/>
              </a:rPr>
              <a:t>identity / device / location / action</a:t>
            </a:r>
          </a:p>
        </p:txBody>
      </p:sp>
      <p:sp>
        <p:nvSpPr>
          <p:cNvPr id="37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62D808AE-BD80-40FE-98EF-C55B72D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068269"/>
            <a:ext cx="13982444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Policy &amp; Risk Engine</a:t>
            </a:r>
          </a:p>
        </p:txBody>
      </p:sp>
      <p:sp>
        <p:nvSpPr>
          <p:cNvPr id="38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74362D0B-CDBC-45E2-9413-F24E006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915309"/>
            <a:ext cx="11542347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Audit DB + MFA State</a:t>
            </a:r>
          </a:p>
        </p:txBody>
      </p:sp>
      <p:sp>
        <p:nvSpPr>
          <p:cNvPr id="39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D71D34B9-417A-4F62-9CF5-FD80DAC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6679" y="26916937"/>
            <a:ext cx="2110928" cy="752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Admin</a:t>
            </a:r>
          </a:p>
        </p:txBody>
      </p:sp>
      <p:sp>
        <p:nvSpPr>
          <p:cNvPr id="40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F217A805-5DF0-4D0C-8EEC-7FF12F82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4280718"/>
            <a:ext cx="3705536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함초롬바탕"/>
                <a:ea typeface="함초롬바탕"/>
                <a:cs typeface="함초롬바탕"/>
              </a:rPr>
              <a:t>Dynamic ZTA</a:t>
            </a:r>
          </a:p>
        </p:txBody>
      </p:sp>
      <p:cxnSp>
        <p:nvCxnSpPr>
          <p:cNvPr id="41" name="직선 연결선 17"/>
          <p:cNvCxnSpPr/>
          <p:nvPr/>
        </p:nvCxnSpPr>
        <p:spPr>
          <a:xfrm xmlns:a="http://schemas.openxmlformats.org/drawingml/2006/main" rot="0">
            <a:off x="3952861" y="25594534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2" name="직선 연결선 17"/>
          <p:cNvCxnSpPr/>
          <p:nvPr/>
        </p:nvCxnSpPr>
        <p:spPr>
          <a:xfrm xmlns:a="http://schemas.openxmlformats.org/drawingml/2006/main" rot="0">
            <a:off x="12018403" y="25591956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3" name="연결선: 구부러짐 136"/>
          <p:cNvCxnSpPr/>
          <p:nvPr/>
        </p:nvCxnSpPr>
        <p:spPr>
          <a:xfrm xmlns:a="http://schemas.openxmlformats.org/drawingml/2006/main" rot="21600000" flipH="1">
            <a:off x="1073440" y="23006791"/>
            <a:ext cx="2499" cy="1922902"/>
          </a:xfrm>
          <a:prstGeom xmlns:a="http://schemas.openxmlformats.org/drawingml/2006/main" prst="curvedConnector3">
            <a:avLst>
              <a:gd name="adj1" fmla="val 28244044"/>
            </a:avLst>
          </a:prstGeom>
          <a:ln xmlns:a="http://schemas.openxmlformats.org/drawingml/2006/main" w="76200">
            <a:headEnd type="triangle"/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0634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2026-06-12T05:18:41.8140000Z</dcterms:created>
  <dcterms:modified xsi:type="dcterms:W3CDTF">2026-06-12T05:18:41.8140000Z</dcterms:modified>
</coreProperties>
</file>