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9" r:id="rId2"/>
  </p:sldIdLst>
  <p:sldSz cx="30275213" cy="42803763"/>
  <p:notesSz cx="6797675" cy="9926638"/>
  <p:embeddedFontLst>
    <p:embeddedFont>
      <p:font typeface="Book Antiqua" panose="02040602050305030304" pitchFamily="18" charset="0"/>
      <p:regular r:id="rId4"/>
      <p:bold r:id="rId5"/>
      <p:italic r:id="rId6"/>
      <p:boldItalic r:id="rId7"/>
    </p:embeddedFont>
    <p:embeddedFont>
      <p:font typeface="Tahoma" panose="020B0604030504040204" pitchFamily="34" charset="0"/>
      <p:regular r:id="rId8"/>
      <p:bold r:id="rId9"/>
    </p:embeddedFont>
    <p:embeddedFont>
      <p:font typeface="맑은 고딕" panose="020B0503020000020004" pitchFamily="50" charset="-127"/>
      <p:regular r:id="rId10"/>
      <p:bold r:id="rId11"/>
    </p:embeddedFont>
  </p:embeddedFontLst>
  <p:defaultTextStyle>
    <a:defPPr>
      <a:defRPr lang="ko-KR"/>
    </a:defPPr>
    <a:lvl1pPr marL="0" algn="l" defTabSz="3659976" rtl="0" eaLnBrk="1" latinLnBrk="1" hangingPunct="1">
      <a:defRPr sz="7205" kern="1200">
        <a:solidFill>
          <a:schemeClr val="tx1"/>
        </a:solidFill>
        <a:latin typeface="+mn-lt"/>
        <a:ea typeface="+mn-ea"/>
        <a:cs typeface="+mn-cs"/>
      </a:defRPr>
    </a:lvl1pPr>
    <a:lvl2pPr marL="1829986" algn="l" defTabSz="3659976" rtl="0" eaLnBrk="1" latinLnBrk="1" hangingPunct="1">
      <a:defRPr sz="7205" kern="1200">
        <a:solidFill>
          <a:schemeClr val="tx1"/>
        </a:solidFill>
        <a:latin typeface="+mn-lt"/>
        <a:ea typeface="+mn-ea"/>
        <a:cs typeface="+mn-cs"/>
      </a:defRPr>
    </a:lvl2pPr>
    <a:lvl3pPr marL="3659976" algn="l" defTabSz="3659976" rtl="0" eaLnBrk="1" latinLnBrk="1" hangingPunct="1">
      <a:defRPr sz="7205" kern="1200">
        <a:solidFill>
          <a:schemeClr val="tx1"/>
        </a:solidFill>
        <a:latin typeface="+mn-lt"/>
        <a:ea typeface="+mn-ea"/>
        <a:cs typeface="+mn-cs"/>
      </a:defRPr>
    </a:lvl3pPr>
    <a:lvl4pPr marL="5489961" algn="l" defTabSz="3659976" rtl="0" eaLnBrk="1" latinLnBrk="1" hangingPunct="1">
      <a:defRPr sz="7205" kern="1200">
        <a:solidFill>
          <a:schemeClr val="tx1"/>
        </a:solidFill>
        <a:latin typeface="+mn-lt"/>
        <a:ea typeface="+mn-ea"/>
        <a:cs typeface="+mn-cs"/>
      </a:defRPr>
    </a:lvl4pPr>
    <a:lvl5pPr marL="7319951" algn="l" defTabSz="3659976" rtl="0" eaLnBrk="1" latinLnBrk="1" hangingPunct="1">
      <a:defRPr sz="7205" kern="1200">
        <a:solidFill>
          <a:schemeClr val="tx1"/>
        </a:solidFill>
        <a:latin typeface="+mn-lt"/>
        <a:ea typeface="+mn-ea"/>
        <a:cs typeface="+mn-cs"/>
      </a:defRPr>
    </a:lvl5pPr>
    <a:lvl6pPr marL="9149937" algn="l" defTabSz="3659976" rtl="0" eaLnBrk="1" latinLnBrk="1" hangingPunct="1">
      <a:defRPr sz="7205" kern="1200">
        <a:solidFill>
          <a:schemeClr val="tx1"/>
        </a:solidFill>
        <a:latin typeface="+mn-lt"/>
        <a:ea typeface="+mn-ea"/>
        <a:cs typeface="+mn-cs"/>
      </a:defRPr>
    </a:lvl6pPr>
    <a:lvl7pPr marL="10979927" algn="l" defTabSz="3659976" rtl="0" eaLnBrk="1" latinLnBrk="1" hangingPunct="1">
      <a:defRPr sz="7205" kern="1200">
        <a:solidFill>
          <a:schemeClr val="tx1"/>
        </a:solidFill>
        <a:latin typeface="+mn-lt"/>
        <a:ea typeface="+mn-ea"/>
        <a:cs typeface="+mn-cs"/>
      </a:defRPr>
    </a:lvl7pPr>
    <a:lvl8pPr marL="12809912" algn="l" defTabSz="3659976" rtl="0" eaLnBrk="1" latinLnBrk="1" hangingPunct="1">
      <a:defRPr sz="7205" kern="1200">
        <a:solidFill>
          <a:schemeClr val="tx1"/>
        </a:solidFill>
        <a:latin typeface="+mn-lt"/>
        <a:ea typeface="+mn-ea"/>
        <a:cs typeface="+mn-cs"/>
      </a:defRPr>
    </a:lvl8pPr>
    <a:lvl9pPr marL="14639902" algn="l" defTabSz="3659976" rtl="0" eaLnBrk="1" latinLnBrk="1" hangingPunct="1">
      <a:defRPr sz="7205"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521" userDrawn="1">
          <p15:clr>
            <a:srgbClr val="A4A3A4"/>
          </p15:clr>
        </p15:guide>
        <p15:guide id="2" pos="865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3362"/>
    <a:srgbClr val="9A95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A7735B-96E0-4A54-986C-AABF5F5E7DF0}" v="294" dt="2023-06-11T09:39:50.08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66" autoAdjust="0"/>
    <p:restoredTop sz="94714" autoAdjust="0"/>
  </p:normalViewPr>
  <p:slideViewPr>
    <p:cSldViewPr>
      <p:cViewPr>
        <p:scale>
          <a:sx n="33" d="100"/>
          <a:sy n="33" d="100"/>
        </p:scale>
        <p:origin x="1157" y="-3672"/>
      </p:cViewPr>
      <p:guideLst>
        <p:guide orient="horz" pos="11521"/>
        <p:guide pos="8654"/>
      </p:guideLst>
    </p:cSldViewPr>
  </p:slideViewPr>
  <p:notesTextViewPr>
    <p:cViewPr>
      <p:scale>
        <a:sx n="100" d="100"/>
        <a:sy n="100" d="100"/>
      </p:scale>
      <p:origin x="0" y="0"/>
    </p:cViewPr>
  </p:notesTextViewPr>
  <p:notesViewPr>
    <p:cSldViewPr>
      <p:cViewPr varScale="1">
        <p:scale>
          <a:sx n="61" d="100"/>
          <a:sy n="61" d="100"/>
        </p:scale>
        <p:origin x="159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6136" cy="497805"/>
          </a:xfrm>
          <a:prstGeom prst="rect">
            <a:avLst/>
          </a:prstGeom>
        </p:spPr>
        <p:txBody>
          <a:bodyPr vert="horz" lIns="83752" tIns="41876" rIns="83752" bIns="41876" rtlCol="0"/>
          <a:lstStyle>
            <a:lvl1pPr algn="l">
              <a:defRPr sz="1100"/>
            </a:lvl1pPr>
          </a:lstStyle>
          <a:p>
            <a:endParaRPr lang="ko-KR" altLang="en-US"/>
          </a:p>
        </p:txBody>
      </p:sp>
      <p:sp>
        <p:nvSpPr>
          <p:cNvPr id="3" name="날짜 개체 틀 2"/>
          <p:cNvSpPr>
            <a:spLocks noGrp="1"/>
          </p:cNvSpPr>
          <p:nvPr>
            <p:ph type="dt" idx="1"/>
          </p:nvPr>
        </p:nvSpPr>
        <p:spPr>
          <a:xfrm>
            <a:off x="3850113" y="1"/>
            <a:ext cx="2946136" cy="497805"/>
          </a:xfrm>
          <a:prstGeom prst="rect">
            <a:avLst/>
          </a:prstGeom>
        </p:spPr>
        <p:txBody>
          <a:bodyPr vert="horz" lIns="83752" tIns="41876" rIns="83752" bIns="41876" rtlCol="0"/>
          <a:lstStyle>
            <a:lvl1pPr algn="r">
              <a:defRPr sz="1100"/>
            </a:lvl1pPr>
          </a:lstStyle>
          <a:p>
            <a:fld id="{BF0B7669-FAF0-4F0A-B994-0A988D29AE6D}" type="datetimeFigureOut">
              <a:rPr lang="ko-KR" altLang="en-US" smtClean="0"/>
              <a:t>2026-06-13</a:t>
            </a:fld>
            <a:endParaRPr lang="ko-KR" altLang="en-US"/>
          </a:p>
        </p:txBody>
      </p:sp>
      <p:sp>
        <p:nvSpPr>
          <p:cNvPr id="4" name="슬라이드 이미지 개체 틀 3"/>
          <p:cNvSpPr>
            <a:spLocks noGrp="1" noRot="1" noChangeAspect="1"/>
          </p:cNvSpPr>
          <p:nvPr>
            <p:ph type="sldImg" idx="2"/>
          </p:nvPr>
        </p:nvSpPr>
        <p:spPr>
          <a:xfrm>
            <a:off x="2214563" y="1241425"/>
            <a:ext cx="2368550" cy="3349625"/>
          </a:xfrm>
          <a:prstGeom prst="rect">
            <a:avLst/>
          </a:prstGeom>
          <a:noFill/>
          <a:ln w="12700">
            <a:solidFill>
              <a:prstClr val="black"/>
            </a:solidFill>
          </a:ln>
        </p:spPr>
        <p:txBody>
          <a:bodyPr vert="horz" lIns="83752" tIns="41876" rIns="83752" bIns="41876" rtlCol="0" anchor="ctr"/>
          <a:lstStyle/>
          <a:p>
            <a:endParaRPr lang="ko-KR" altLang="en-US"/>
          </a:p>
        </p:txBody>
      </p:sp>
      <p:sp>
        <p:nvSpPr>
          <p:cNvPr id="5" name="슬라이드 노트 개체 틀 4"/>
          <p:cNvSpPr>
            <a:spLocks noGrp="1"/>
          </p:cNvSpPr>
          <p:nvPr>
            <p:ph type="body" sz="quarter" idx="3"/>
          </p:nvPr>
        </p:nvSpPr>
        <p:spPr>
          <a:xfrm>
            <a:off x="679768" y="4777747"/>
            <a:ext cx="5438140" cy="3908798"/>
          </a:xfrm>
          <a:prstGeom prst="rect">
            <a:avLst/>
          </a:prstGeom>
        </p:spPr>
        <p:txBody>
          <a:bodyPr vert="horz" lIns="83752" tIns="41876" rIns="83752" bIns="41876"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9428835"/>
            <a:ext cx="2946136" cy="497805"/>
          </a:xfrm>
          <a:prstGeom prst="rect">
            <a:avLst/>
          </a:prstGeom>
        </p:spPr>
        <p:txBody>
          <a:bodyPr vert="horz" lIns="83752" tIns="41876" rIns="83752" bIns="41876" rtlCol="0" anchor="b"/>
          <a:lstStyle>
            <a:lvl1pPr algn="l">
              <a:defRPr sz="1100"/>
            </a:lvl1pPr>
          </a:lstStyle>
          <a:p>
            <a:endParaRPr lang="ko-KR" altLang="en-US"/>
          </a:p>
        </p:txBody>
      </p:sp>
      <p:sp>
        <p:nvSpPr>
          <p:cNvPr id="7" name="슬라이드 번호 개체 틀 6"/>
          <p:cNvSpPr>
            <a:spLocks noGrp="1"/>
          </p:cNvSpPr>
          <p:nvPr>
            <p:ph type="sldNum" sz="quarter" idx="5"/>
          </p:nvPr>
        </p:nvSpPr>
        <p:spPr>
          <a:xfrm>
            <a:off x="3850113" y="9428835"/>
            <a:ext cx="2946136" cy="497805"/>
          </a:xfrm>
          <a:prstGeom prst="rect">
            <a:avLst/>
          </a:prstGeom>
        </p:spPr>
        <p:txBody>
          <a:bodyPr vert="horz" lIns="83752" tIns="41876" rIns="83752" bIns="41876" rtlCol="0" anchor="b"/>
          <a:lstStyle>
            <a:lvl1pPr algn="r">
              <a:defRPr sz="1100"/>
            </a:lvl1pPr>
          </a:lstStyle>
          <a:p>
            <a:fld id="{19EF15D3-AD89-4442-8A9E-54CF4E4F17CB}" type="slidenum">
              <a:rPr lang="ko-KR" altLang="en-US" smtClean="0"/>
              <a:t>‹#›</a:t>
            </a:fld>
            <a:endParaRPr lang="ko-KR" altLang="en-US"/>
          </a:p>
        </p:txBody>
      </p:sp>
    </p:spTree>
    <p:extLst>
      <p:ext uri="{BB962C8B-B14F-4D97-AF65-F5344CB8AC3E}">
        <p14:creationId xmlns:p14="http://schemas.microsoft.com/office/powerpoint/2010/main" val="2261392233"/>
      </p:ext>
    </p:extLst>
  </p:cSld>
  <p:clrMap bg1="lt1" tx1="dk1" bg2="lt2" tx2="dk2" accent1="accent1" accent2="accent2" accent3="accent3" accent4="accent4" accent5="accent5" accent6="accent6" hlink="hlink" folHlink="folHlink"/>
  <p:notesStyle>
    <a:lvl1pPr marL="0" algn="l" defTabSz="3659976" rtl="0" eaLnBrk="1" latinLnBrk="1" hangingPunct="1">
      <a:defRPr sz="4803" kern="1200">
        <a:solidFill>
          <a:schemeClr val="tx1"/>
        </a:solidFill>
        <a:latin typeface="+mn-lt"/>
        <a:ea typeface="+mn-ea"/>
        <a:cs typeface="+mn-cs"/>
      </a:defRPr>
    </a:lvl1pPr>
    <a:lvl2pPr marL="1829986" algn="l" defTabSz="3659976" rtl="0" eaLnBrk="1" latinLnBrk="1" hangingPunct="1">
      <a:defRPr sz="4803" kern="1200">
        <a:solidFill>
          <a:schemeClr val="tx1"/>
        </a:solidFill>
        <a:latin typeface="+mn-lt"/>
        <a:ea typeface="+mn-ea"/>
        <a:cs typeface="+mn-cs"/>
      </a:defRPr>
    </a:lvl2pPr>
    <a:lvl3pPr marL="3659976" algn="l" defTabSz="3659976" rtl="0" eaLnBrk="1" latinLnBrk="1" hangingPunct="1">
      <a:defRPr sz="4803" kern="1200">
        <a:solidFill>
          <a:schemeClr val="tx1"/>
        </a:solidFill>
        <a:latin typeface="+mn-lt"/>
        <a:ea typeface="+mn-ea"/>
        <a:cs typeface="+mn-cs"/>
      </a:defRPr>
    </a:lvl3pPr>
    <a:lvl4pPr marL="5489961" algn="l" defTabSz="3659976" rtl="0" eaLnBrk="1" latinLnBrk="1" hangingPunct="1">
      <a:defRPr sz="4803" kern="1200">
        <a:solidFill>
          <a:schemeClr val="tx1"/>
        </a:solidFill>
        <a:latin typeface="+mn-lt"/>
        <a:ea typeface="+mn-ea"/>
        <a:cs typeface="+mn-cs"/>
      </a:defRPr>
    </a:lvl4pPr>
    <a:lvl5pPr marL="7319951" algn="l" defTabSz="3659976" rtl="0" eaLnBrk="1" latinLnBrk="1" hangingPunct="1">
      <a:defRPr sz="4803" kern="1200">
        <a:solidFill>
          <a:schemeClr val="tx1"/>
        </a:solidFill>
        <a:latin typeface="+mn-lt"/>
        <a:ea typeface="+mn-ea"/>
        <a:cs typeface="+mn-cs"/>
      </a:defRPr>
    </a:lvl5pPr>
    <a:lvl6pPr marL="9149937" algn="l" defTabSz="3659976" rtl="0" eaLnBrk="1" latinLnBrk="1" hangingPunct="1">
      <a:defRPr sz="4803" kern="1200">
        <a:solidFill>
          <a:schemeClr val="tx1"/>
        </a:solidFill>
        <a:latin typeface="+mn-lt"/>
        <a:ea typeface="+mn-ea"/>
        <a:cs typeface="+mn-cs"/>
      </a:defRPr>
    </a:lvl6pPr>
    <a:lvl7pPr marL="10979927" algn="l" defTabSz="3659976" rtl="0" eaLnBrk="1" latinLnBrk="1" hangingPunct="1">
      <a:defRPr sz="4803" kern="1200">
        <a:solidFill>
          <a:schemeClr val="tx1"/>
        </a:solidFill>
        <a:latin typeface="+mn-lt"/>
        <a:ea typeface="+mn-ea"/>
        <a:cs typeface="+mn-cs"/>
      </a:defRPr>
    </a:lvl7pPr>
    <a:lvl8pPr marL="12809912" algn="l" defTabSz="3659976" rtl="0" eaLnBrk="1" latinLnBrk="1" hangingPunct="1">
      <a:defRPr sz="4803" kern="1200">
        <a:solidFill>
          <a:schemeClr val="tx1"/>
        </a:solidFill>
        <a:latin typeface="+mn-lt"/>
        <a:ea typeface="+mn-ea"/>
        <a:cs typeface="+mn-cs"/>
      </a:defRPr>
    </a:lvl8pPr>
    <a:lvl9pPr marL="14639902" algn="l" defTabSz="3659976" rtl="0" eaLnBrk="1" latinLnBrk="1" hangingPunct="1">
      <a:defRPr sz="4803"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272546" y="13269164"/>
            <a:ext cx="25755554" cy="66172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4545098" y="23970113"/>
            <a:ext cx="21210458"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332416" y="1330512"/>
            <a:ext cx="27635831" cy="2647200"/>
          </a:xfrm>
        </p:spPr>
        <p:txBody>
          <a:bodyPr lIns="0" tIns="0" rIns="0" bIns="0"/>
          <a:lstStyle>
            <a:lvl1pPr>
              <a:defRPr sz="17202" b="0" i="0">
                <a:solidFill>
                  <a:srgbClr val="373362"/>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332416" y="1330512"/>
            <a:ext cx="27635831" cy="2647200"/>
          </a:xfrm>
        </p:spPr>
        <p:txBody>
          <a:bodyPr lIns="0" tIns="0" rIns="0" bIns="0"/>
          <a:lstStyle>
            <a:lvl1pPr>
              <a:defRPr sz="17202" b="0" i="0">
                <a:solidFill>
                  <a:srgbClr val="373362"/>
                </a:solidFill>
                <a:latin typeface="Tahoma"/>
                <a:cs typeface="Tahoma"/>
              </a:defRPr>
            </a:lvl1pPr>
          </a:lstStyle>
          <a:p>
            <a:endParaRPr/>
          </a:p>
        </p:txBody>
      </p:sp>
      <p:sp>
        <p:nvSpPr>
          <p:cNvPr id="3" name="Holder 3"/>
          <p:cNvSpPr>
            <a:spLocks noGrp="1"/>
          </p:cNvSpPr>
          <p:nvPr>
            <p:ph sz="half" idx="2"/>
          </p:nvPr>
        </p:nvSpPr>
        <p:spPr>
          <a:xfrm>
            <a:off x="1515037" y="9844870"/>
            <a:ext cx="13180782"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6153871" y="11536227"/>
            <a:ext cx="11270520" cy="615621"/>
          </a:xfrm>
          <a:prstGeom prst="rect">
            <a:avLst/>
          </a:prstGeom>
        </p:spPr>
        <p:txBody>
          <a:bodyPr wrap="square" lIns="0" tIns="0" rIns="0" bIns="0">
            <a:spAutoFit/>
          </a:bodyPr>
          <a:lstStyle>
            <a:lvl1pPr>
              <a:defRPr sz="4000" b="1" i="0">
                <a:solidFill>
                  <a:schemeClr val="tx1"/>
                </a:solidFill>
                <a:latin typeface="Book Antiqua"/>
                <a:cs typeface="Book Antiqua"/>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332416" y="1330512"/>
            <a:ext cx="27635831" cy="2647200"/>
          </a:xfrm>
        </p:spPr>
        <p:txBody>
          <a:bodyPr lIns="0" tIns="0" rIns="0" bIns="0"/>
          <a:lstStyle>
            <a:lvl1pPr>
              <a:defRPr sz="17202" b="0" i="0">
                <a:solidFill>
                  <a:srgbClr val="373362"/>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userDrawn="1"/>
        </p:nvPicPr>
        <p:blipFill>
          <a:blip r:embed="rId7" cstate="print"/>
          <a:stretch>
            <a:fillRect/>
          </a:stretch>
        </p:blipFill>
        <p:spPr>
          <a:xfrm>
            <a:off x="0" y="881056"/>
            <a:ext cx="30300654" cy="41910001"/>
          </a:xfrm>
          <a:prstGeom prst="rect">
            <a:avLst/>
          </a:prstGeom>
        </p:spPr>
      </p:pic>
      <p:sp>
        <p:nvSpPr>
          <p:cNvPr id="17" name="bg object 17"/>
          <p:cNvSpPr/>
          <p:nvPr/>
        </p:nvSpPr>
        <p:spPr>
          <a:xfrm>
            <a:off x="0" y="0"/>
            <a:ext cx="30300654" cy="42791112"/>
          </a:xfrm>
          <a:custGeom>
            <a:avLst/>
            <a:gdLst/>
            <a:ahLst/>
            <a:cxnLst/>
            <a:rect l="l" t="t" r="r" b="b"/>
            <a:pathLst>
              <a:path w="7562850" h="10696575">
                <a:moveTo>
                  <a:pt x="507479" y="0"/>
                </a:moveTo>
                <a:lnTo>
                  <a:pt x="408584" y="0"/>
                </a:lnTo>
                <a:lnTo>
                  <a:pt x="0" y="408584"/>
                </a:lnTo>
                <a:lnTo>
                  <a:pt x="0" y="507479"/>
                </a:lnTo>
                <a:lnTo>
                  <a:pt x="507479" y="0"/>
                </a:lnTo>
                <a:close/>
              </a:path>
              <a:path w="7562850" h="10696575">
                <a:moveTo>
                  <a:pt x="537692" y="10696575"/>
                </a:moveTo>
                <a:lnTo>
                  <a:pt x="0" y="10158908"/>
                </a:lnTo>
                <a:lnTo>
                  <a:pt x="0" y="10257803"/>
                </a:lnTo>
                <a:lnTo>
                  <a:pt x="438759" y="10696575"/>
                </a:lnTo>
                <a:lnTo>
                  <a:pt x="537692" y="10696575"/>
                </a:lnTo>
                <a:close/>
              </a:path>
              <a:path w="7562850" h="10696575">
                <a:moveTo>
                  <a:pt x="1534642" y="757351"/>
                </a:moveTo>
                <a:lnTo>
                  <a:pt x="1435658" y="658418"/>
                </a:lnTo>
                <a:lnTo>
                  <a:pt x="1435658" y="757351"/>
                </a:lnTo>
                <a:lnTo>
                  <a:pt x="1294447" y="898575"/>
                </a:lnTo>
                <a:lnTo>
                  <a:pt x="1153236" y="757351"/>
                </a:lnTo>
                <a:lnTo>
                  <a:pt x="1294447" y="616140"/>
                </a:lnTo>
                <a:lnTo>
                  <a:pt x="1435658" y="757351"/>
                </a:lnTo>
                <a:lnTo>
                  <a:pt x="1435658" y="658418"/>
                </a:lnTo>
                <a:lnTo>
                  <a:pt x="1393367" y="616140"/>
                </a:lnTo>
                <a:lnTo>
                  <a:pt x="1294447" y="517258"/>
                </a:lnTo>
                <a:lnTo>
                  <a:pt x="1054341" y="757351"/>
                </a:lnTo>
                <a:lnTo>
                  <a:pt x="1294447" y="997458"/>
                </a:lnTo>
                <a:lnTo>
                  <a:pt x="1319187" y="972718"/>
                </a:lnTo>
                <a:lnTo>
                  <a:pt x="1534642" y="757351"/>
                </a:lnTo>
                <a:close/>
              </a:path>
              <a:path w="7562850" h="10696575">
                <a:moveTo>
                  <a:pt x="1570672" y="9945065"/>
                </a:moveTo>
                <a:lnTo>
                  <a:pt x="1471688" y="9846132"/>
                </a:lnTo>
                <a:lnTo>
                  <a:pt x="1471688" y="9945065"/>
                </a:lnTo>
                <a:lnTo>
                  <a:pt x="1330477" y="10086276"/>
                </a:lnTo>
                <a:lnTo>
                  <a:pt x="1189266" y="9945065"/>
                </a:lnTo>
                <a:lnTo>
                  <a:pt x="1330477" y="9803854"/>
                </a:lnTo>
                <a:lnTo>
                  <a:pt x="1471688" y="9945065"/>
                </a:lnTo>
                <a:lnTo>
                  <a:pt x="1471688" y="9846132"/>
                </a:lnTo>
                <a:lnTo>
                  <a:pt x="1429397" y="9803854"/>
                </a:lnTo>
                <a:lnTo>
                  <a:pt x="1330477" y="9704959"/>
                </a:lnTo>
                <a:lnTo>
                  <a:pt x="1090371" y="9945065"/>
                </a:lnTo>
                <a:lnTo>
                  <a:pt x="1330477" y="10185171"/>
                </a:lnTo>
                <a:lnTo>
                  <a:pt x="1355217" y="10160419"/>
                </a:lnTo>
                <a:lnTo>
                  <a:pt x="1570672" y="9945065"/>
                </a:lnTo>
                <a:close/>
              </a:path>
              <a:path w="7562850" h="10696575">
                <a:moveTo>
                  <a:pt x="1781644" y="757351"/>
                </a:moveTo>
                <a:lnTo>
                  <a:pt x="1682762" y="658495"/>
                </a:lnTo>
                <a:lnTo>
                  <a:pt x="1682762" y="757351"/>
                </a:lnTo>
                <a:lnTo>
                  <a:pt x="1294447" y="1145590"/>
                </a:lnTo>
                <a:lnTo>
                  <a:pt x="906221" y="757351"/>
                </a:lnTo>
                <a:lnTo>
                  <a:pt x="1294447" y="369138"/>
                </a:lnTo>
                <a:lnTo>
                  <a:pt x="1682762" y="757351"/>
                </a:lnTo>
                <a:lnTo>
                  <a:pt x="1682762" y="658495"/>
                </a:lnTo>
                <a:lnTo>
                  <a:pt x="1393355" y="369138"/>
                </a:lnTo>
                <a:lnTo>
                  <a:pt x="1294447" y="270243"/>
                </a:lnTo>
                <a:lnTo>
                  <a:pt x="807326" y="757351"/>
                </a:lnTo>
                <a:lnTo>
                  <a:pt x="1294447" y="1244561"/>
                </a:lnTo>
                <a:lnTo>
                  <a:pt x="1319187" y="1219822"/>
                </a:lnTo>
                <a:lnTo>
                  <a:pt x="1269695" y="1170330"/>
                </a:lnTo>
                <a:lnTo>
                  <a:pt x="1294536" y="1195070"/>
                </a:lnTo>
                <a:lnTo>
                  <a:pt x="1319187" y="1219822"/>
                </a:lnTo>
                <a:lnTo>
                  <a:pt x="1781644" y="757351"/>
                </a:lnTo>
                <a:close/>
              </a:path>
              <a:path w="7562850" h="10696575">
                <a:moveTo>
                  <a:pt x="1817674" y="9945065"/>
                </a:moveTo>
                <a:lnTo>
                  <a:pt x="1718792" y="9846208"/>
                </a:lnTo>
                <a:lnTo>
                  <a:pt x="1718792" y="9945065"/>
                </a:lnTo>
                <a:lnTo>
                  <a:pt x="1330477" y="10333291"/>
                </a:lnTo>
                <a:lnTo>
                  <a:pt x="942251" y="9945065"/>
                </a:lnTo>
                <a:lnTo>
                  <a:pt x="1330477" y="9556839"/>
                </a:lnTo>
                <a:lnTo>
                  <a:pt x="1718792" y="9945065"/>
                </a:lnTo>
                <a:lnTo>
                  <a:pt x="1718792" y="9846208"/>
                </a:lnTo>
                <a:lnTo>
                  <a:pt x="1429385" y="9556839"/>
                </a:lnTo>
                <a:lnTo>
                  <a:pt x="1330477" y="9457944"/>
                </a:lnTo>
                <a:lnTo>
                  <a:pt x="843356" y="9945065"/>
                </a:lnTo>
                <a:lnTo>
                  <a:pt x="1330477" y="10432275"/>
                </a:lnTo>
                <a:lnTo>
                  <a:pt x="1355217" y="10407523"/>
                </a:lnTo>
                <a:lnTo>
                  <a:pt x="1305725" y="10358031"/>
                </a:lnTo>
                <a:lnTo>
                  <a:pt x="1330566" y="10382783"/>
                </a:lnTo>
                <a:lnTo>
                  <a:pt x="1355217" y="10407523"/>
                </a:lnTo>
                <a:lnTo>
                  <a:pt x="1817674" y="9945065"/>
                </a:lnTo>
                <a:close/>
              </a:path>
              <a:path w="7562850" h="10696575">
                <a:moveTo>
                  <a:pt x="2037232" y="757351"/>
                </a:moveTo>
                <a:lnTo>
                  <a:pt x="1938248" y="658393"/>
                </a:lnTo>
                <a:lnTo>
                  <a:pt x="1938248" y="757351"/>
                </a:lnTo>
                <a:lnTo>
                  <a:pt x="1294447" y="1401165"/>
                </a:lnTo>
                <a:lnTo>
                  <a:pt x="650722" y="757351"/>
                </a:lnTo>
                <a:lnTo>
                  <a:pt x="1294447" y="113550"/>
                </a:lnTo>
                <a:lnTo>
                  <a:pt x="1938248" y="757351"/>
                </a:lnTo>
                <a:lnTo>
                  <a:pt x="1938248" y="658393"/>
                </a:lnTo>
                <a:lnTo>
                  <a:pt x="1393342" y="113550"/>
                </a:lnTo>
                <a:lnTo>
                  <a:pt x="1294447" y="14655"/>
                </a:lnTo>
                <a:lnTo>
                  <a:pt x="551738" y="757351"/>
                </a:lnTo>
                <a:lnTo>
                  <a:pt x="1294447" y="1500060"/>
                </a:lnTo>
                <a:lnTo>
                  <a:pt x="1319187" y="1475308"/>
                </a:lnTo>
                <a:lnTo>
                  <a:pt x="2037232" y="757351"/>
                </a:lnTo>
                <a:close/>
              </a:path>
              <a:path w="7562850" h="10696575">
                <a:moveTo>
                  <a:pt x="2073262" y="9945065"/>
                </a:moveTo>
                <a:lnTo>
                  <a:pt x="1974278" y="9846094"/>
                </a:lnTo>
                <a:lnTo>
                  <a:pt x="1974278" y="9945065"/>
                </a:lnTo>
                <a:lnTo>
                  <a:pt x="1330477" y="10588866"/>
                </a:lnTo>
                <a:lnTo>
                  <a:pt x="686752" y="9945065"/>
                </a:lnTo>
                <a:lnTo>
                  <a:pt x="1330477" y="9301264"/>
                </a:lnTo>
                <a:lnTo>
                  <a:pt x="1974278" y="9945065"/>
                </a:lnTo>
                <a:lnTo>
                  <a:pt x="1974278" y="9846094"/>
                </a:lnTo>
                <a:lnTo>
                  <a:pt x="1429385" y="9301264"/>
                </a:lnTo>
                <a:lnTo>
                  <a:pt x="1330477" y="9202369"/>
                </a:lnTo>
                <a:lnTo>
                  <a:pt x="587781" y="9945065"/>
                </a:lnTo>
                <a:lnTo>
                  <a:pt x="1330477" y="10687761"/>
                </a:lnTo>
                <a:lnTo>
                  <a:pt x="1355217" y="10663022"/>
                </a:lnTo>
                <a:lnTo>
                  <a:pt x="2073262" y="9945065"/>
                </a:lnTo>
                <a:close/>
              </a:path>
              <a:path w="7562850" h="10696575">
                <a:moveTo>
                  <a:pt x="4024084" y="757351"/>
                </a:moveTo>
                <a:lnTo>
                  <a:pt x="3925112" y="658418"/>
                </a:lnTo>
                <a:lnTo>
                  <a:pt x="3925112" y="757351"/>
                </a:lnTo>
                <a:lnTo>
                  <a:pt x="3783901" y="898575"/>
                </a:lnTo>
                <a:lnTo>
                  <a:pt x="3642677" y="757351"/>
                </a:lnTo>
                <a:lnTo>
                  <a:pt x="3783901" y="616140"/>
                </a:lnTo>
                <a:lnTo>
                  <a:pt x="3925112" y="757351"/>
                </a:lnTo>
                <a:lnTo>
                  <a:pt x="3925112" y="658418"/>
                </a:lnTo>
                <a:lnTo>
                  <a:pt x="3882821" y="616140"/>
                </a:lnTo>
                <a:lnTo>
                  <a:pt x="3783901" y="517258"/>
                </a:lnTo>
                <a:lnTo>
                  <a:pt x="3543795" y="757351"/>
                </a:lnTo>
                <a:lnTo>
                  <a:pt x="3783901" y="997458"/>
                </a:lnTo>
                <a:lnTo>
                  <a:pt x="3808641" y="972718"/>
                </a:lnTo>
                <a:lnTo>
                  <a:pt x="4024084" y="757351"/>
                </a:lnTo>
                <a:close/>
              </a:path>
              <a:path w="7562850" h="10696575">
                <a:moveTo>
                  <a:pt x="4052392" y="9945065"/>
                </a:moveTo>
                <a:lnTo>
                  <a:pt x="3953408" y="9846119"/>
                </a:lnTo>
                <a:lnTo>
                  <a:pt x="3953408" y="9945065"/>
                </a:lnTo>
                <a:lnTo>
                  <a:pt x="3812197" y="10086276"/>
                </a:lnTo>
                <a:lnTo>
                  <a:pt x="3670985" y="9945065"/>
                </a:lnTo>
                <a:lnTo>
                  <a:pt x="3812197" y="9803854"/>
                </a:lnTo>
                <a:lnTo>
                  <a:pt x="3953408" y="9945065"/>
                </a:lnTo>
                <a:lnTo>
                  <a:pt x="3953408" y="9846119"/>
                </a:lnTo>
                <a:lnTo>
                  <a:pt x="3911130" y="9803854"/>
                </a:lnTo>
                <a:lnTo>
                  <a:pt x="3812197" y="9704959"/>
                </a:lnTo>
                <a:lnTo>
                  <a:pt x="3572091" y="9945065"/>
                </a:lnTo>
                <a:lnTo>
                  <a:pt x="3812197" y="10185171"/>
                </a:lnTo>
                <a:lnTo>
                  <a:pt x="3836936" y="10160419"/>
                </a:lnTo>
                <a:lnTo>
                  <a:pt x="4052392" y="9945065"/>
                </a:lnTo>
                <a:close/>
              </a:path>
              <a:path w="7562850" h="10696575">
                <a:moveTo>
                  <a:pt x="4271099" y="757351"/>
                </a:moveTo>
                <a:lnTo>
                  <a:pt x="4172204" y="658482"/>
                </a:lnTo>
                <a:lnTo>
                  <a:pt x="4172204" y="757351"/>
                </a:lnTo>
                <a:lnTo>
                  <a:pt x="3783901" y="1145590"/>
                </a:lnTo>
                <a:lnTo>
                  <a:pt x="3395675" y="757351"/>
                </a:lnTo>
                <a:lnTo>
                  <a:pt x="3783901" y="369138"/>
                </a:lnTo>
                <a:lnTo>
                  <a:pt x="4172204" y="757351"/>
                </a:lnTo>
                <a:lnTo>
                  <a:pt x="4172204" y="658482"/>
                </a:lnTo>
                <a:lnTo>
                  <a:pt x="3882809" y="369138"/>
                </a:lnTo>
                <a:lnTo>
                  <a:pt x="3783901" y="270243"/>
                </a:lnTo>
                <a:lnTo>
                  <a:pt x="3296780" y="757351"/>
                </a:lnTo>
                <a:lnTo>
                  <a:pt x="3783901" y="1244561"/>
                </a:lnTo>
                <a:lnTo>
                  <a:pt x="3808641" y="1219822"/>
                </a:lnTo>
                <a:lnTo>
                  <a:pt x="3759149" y="1170330"/>
                </a:lnTo>
                <a:lnTo>
                  <a:pt x="3783977" y="1195070"/>
                </a:lnTo>
                <a:lnTo>
                  <a:pt x="3808641" y="1219822"/>
                </a:lnTo>
                <a:lnTo>
                  <a:pt x="4271099" y="757351"/>
                </a:lnTo>
                <a:close/>
              </a:path>
              <a:path w="7562850" h="10696575">
                <a:moveTo>
                  <a:pt x="4299407" y="9945065"/>
                </a:moveTo>
                <a:lnTo>
                  <a:pt x="4200512" y="9846196"/>
                </a:lnTo>
                <a:lnTo>
                  <a:pt x="4200512" y="9945065"/>
                </a:lnTo>
                <a:lnTo>
                  <a:pt x="3812197" y="10333291"/>
                </a:lnTo>
                <a:lnTo>
                  <a:pt x="3423970" y="9945065"/>
                </a:lnTo>
                <a:lnTo>
                  <a:pt x="3812197" y="9556839"/>
                </a:lnTo>
                <a:lnTo>
                  <a:pt x="4200512" y="9945065"/>
                </a:lnTo>
                <a:lnTo>
                  <a:pt x="4200512" y="9846196"/>
                </a:lnTo>
                <a:lnTo>
                  <a:pt x="3911104" y="9556839"/>
                </a:lnTo>
                <a:lnTo>
                  <a:pt x="3812197" y="9457944"/>
                </a:lnTo>
                <a:lnTo>
                  <a:pt x="3325076" y="9945065"/>
                </a:lnTo>
                <a:lnTo>
                  <a:pt x="3812197" y="10432275"/>
                </a:lnTo>
                <a:lnTo>
                  <a:pt x="3836936" y="10407523"/>
                </a:lnTo>
                <a:lnTo>
                  <a:pt x="3787457" y="10358031"/>
                </a:lnTo>
                <a:lnTo>
                  <a:pt x="3812286" y="10382783"/>
                </a:lnTo>
                <a:lnTo>
                  <a:pt x="3836936" y="10407523"/>
                </a:lnTo>
                <a:lnTo>
                  <a:pt x="4299407" y="9945065"/>
                </a:lnTo>
                <a:close/>
              </a:path>
              <a:path w="7562850" h="10696575">
                <a:moveTo>
                  <a:pt x="4526686" y="757351"/>
                </a:moveTo>
                <a:lnTo>
                  <a:pt x="4427702" y="658393"/>
                </a:lnTo>
                <a:lnTo>
                  <a:pt x="4427702" y="757351"/>
                </a:lnTo>
                <a:lnTo>
                  <a:pt x="3783901" y="1401165"/>
                </a:lnTo>
                <a:lnTo>
                  <a:pt x="3140176" y="757351"/>
                </a:lnTo>
                <a:lnTo>
                  <a:pt x="3783901" y="113550"/>
                </a:lnTo>
                <a:lnTo>
                  <a:pt x="4427702" y="757351"/>
                </a:lnTo>
                <a:lnTo>
                  <a:pt x="4427702" y="658393"/>
                </a:lnTo>
                <a:lnTo>
                  <a:pt x="3882796" y="113550"/>
                </a:lnTo>
                <a:lnTo>
                  <a:pt x="3783901" y="14655"/>
                </a:lnTo>
                <a:lnTo>
                  <a:pt x="3041192" y="757351"/>
                </a:lnTo>
                <a:lnTo>
                  <a:pt x="3783901" y="1500060"/>
                </a:lnTo>
                <a:lnTo>
                  <a:pt x="3808641" y="1475308"/>
                </a:lnTo>
                <a:lnTo>
                  <a:pt x="4526686" y="757351"/>
                </a:lnTo>
                <a:close/>
              </a:path>
              <a:path w="7562850" h="10696575">
                <a:moveTo>
                  <a:pt x="4554982" y="9945065"/>
                </a:moveTo>
                <a:lnTo>
                  <a:pt x="4455998" y="9846094"/>
                </a:lnTo>
                <a:lnTo>
                  <a:pt x="4455998" y="9945065"/>
                </a:lnTo>
                <a:lnTo>
                  <a:pt x="3812197" y="10588866"/>
                </a:lnTo>
                <a:lnTo>
                  <a:pt x="3168472" y="9945065"/>
                </a:lnTo>
                <a:lnTo>
                  <a:pt x="3812197" y="9301264"/>
                </a:lnTo>
                <a:lnTo>
                  <a:pt x="4455998" y="9945065"/>
                </a:lnTo>
                <a:lnTo>
                  <a:pt x="4455998" y="9846094"/>
                </a:lnTo>
                <a:lnTo>
                  <a:pt x="3911104" y="9301264"/>
                </a:lnTo>
                <a:lnTo>
                  <a:pt x="3812197" y="9202369"/>
                </a:lnTo>
                <a:lnTo>
                  <a:pt x="3069501" y="9945065"/>
                </a:lnTo>
                <a:lnTo>
                  <a:pt x="3812197" y="10687761"/>
                </a:lnTo>
                <a:lnTo>
                  <a:pt x="3836936" y="10663022"/>
                </a:lnTo>
                <a:lnTo>
                  <a:pt x="4554982" y="9945065"/>
                </a:lnTo>
                <a:close/>
              </a:path>
              <a:path w="7562850" h="10696575">
                <a:moveTo>
                  <a:pt x="6497523" y="757351"/>
                </a:moveTo>
                <a:lnTo>
                  <a:pt x="6398539" y="658418"/>
                </a:lnTo>
                <a:lnTo>
                  <a:pt x="6398539" y="757351"/>
                </a:lnTo>
                <a:lnTo>
                  <a:pt x="6257328" y="898575"/>
                </a:lnTo>
                <a:lnTo>
                  <a:pt x="6116117" y="757351"/>
                </a:lnTo>
                <a:lnTo>
                  <a:pt x="6257328" y="616140"/>
                </a:lnTo>
                <a:lnTo>
                  <a:pt x="6398539" y="757351"/>
                </a:lnTo>
                <a:lnTo>
                  <a:pt x="6398539" y="658418"/>
                </a:lnTo>
                <a:lnTo>
                  <a:pt x="6356248" y="616140"/>
                </a:lnTo>
                <a:lnTo>
                  <a:pt x="6257328" y="517258"/>
                </a:lnTo>
                <a:lnTo>
                  <a:pt x="6017222" y="757351"/>
                </a:lnTo>
                <a:lnTo>
                  <a:pt x="6257328" y="997458"/>
                </a:lnTo>
                <a:lnTo>
                  <a:pt x="6282067" y="972718"/>
                </a:lnTo>
                <a:lnTo>
                  <a:pt x="6497523" y="757351"/>
                </a:lnTo>
                <a:close/>
              </a:path>
              <a:path w="7562850" h="10696575">
                <a:moveTo>
                  <a:pt x="6744525" y="757351"/>
                </a:moveTo>
                <a:lnTo>
                  <a:pt x="6645643" y="658495"/>
                </a:lnTo>
                <a:lnTo>
                  <a:pt x="6645643" y="757351"/>
                </a:lnTo>
                <a:lnTo>
                  <a:pt x="6257328" y="1145590"/>
                </a:lnTo>
                <a:lnTo>
                  <a:pt x="5869102" y="757351"/>
                </a:lnTo>
                <a:lnTo>
                  <a:pt x="6257328" y="369138"/>
                </a:lnTo>
                <a:lnTo>
                  <a:pt x="6645643" y="757351"/>
                </a:lnTo>
                <a:lnTo>
                  <a:pt x="6645643" y="658495"/>
                </a:lnTo>
                <a:lnTo>
                  <a:pt x="6356236" y="369138"/>
                </a:lnTo>
                <a:lnTo>
                  <a:pt x="6257328" y="270243"/>
                </a:lnTo>
                <a:lnTo>
                  <a:pt x="5770207" y="757351"/>
                </a:lnTo>
                <a:lnTo>
                  <a:pt x="6257328" y="1244561"/>
                </a:lnTo>
                <a:lnTo>
                  <a:pt x="6282067" y="1219822"/>
                </a:lnTo>
                <a:lnTo>
                  <a:pt x="6232576" y="1170330"/>
                </a:lnTo>
                <a:lnTo>
                  <a:pt x="6257417" y="1195070"/>
                </a:lnTo>
                <a:lnTo>
                  <a:pt x="6282067" y="1219822"/>
                </a:lnTo>
                <a:lnTo>
                  <a:pt x="6744525" y="757351"/>
                </a:lnTo>
                <a:close/>
              </a:path>
              <a:path w="7562850" h="10696575">
                <a:moveTo>
                  <a:pt x="7000113" y="757351"/>
                </a:moveTo>
                <a:lnTo>
                  <a:pt x="6901129" y="658393"/>
                </a:lnTo>
                <a:lnTo>
                  <a:pt x="6901129" y="757351"/>
                </a:lnTo>
                <a:lnTo>
                  <a:pt x="6257328" y="1401165"/>
                </a:lnTo>
                <a:lnTo>
                  <a:pt x="5613603" y="757351"/>
                </a:lnTo>
                <a:lnTo>
                  <a:pt x="6257328" y="113550"/>
                </a:lnTo>
                <a:lnTo>
                  <a:pt x="6901129" y="757351"/>
                </a:lnTo>
                <a:lnTo>
                  <a:pt x="6901129" y="658393"/>
                </a:lnTo>
                <a:lnTo>
                  <a:pt x="6356223" y="113550"/>
                </a:lnTo>
                <a:lnTo>
                  <a:pt x="6257328" y="14655"/>
                </a:lnTo>
                <a:lnTo>
                  <a:pt x="5514619" y="757351"/>
                </a:lnTo>
                <a:lnTo>
                  <a:pt x="6257328" y="1500060"/>
                </a:lnTo>
                <a:lnTo>
                  <a:pt x="6282067" y="1475308"/>
                </a:lnTo>
                <a:lnTo>
                  <a:pt x="7000113" y="757351"/>
                </a:lnTo>
                <a:close/>
              </a:path>
              <a:path w="7562850" h="10696575">
                <a:moveTo>
                  <a:pt x="7036143" y="9945065"/>
                </a:moveTo>
                <a:lnTo>
                  <a:pt x="6937159" y="9846094"/>
                </a:lnTo>
                <a:lnTo>
                  <a:pt x="6937159" y="9945065"/>
                </a:lnTo>
                <a:lnTo>
                  <a:pt x="6293358" y="10588866"/>
                </a:lnTo>
                <a:lnTo>
                  <a:pt x="5649633" y="9945065"/>
                </a:lnTo>
                <a:lnTo>
                  <a:pt x="6293358" y="9301264"/>
                </a:lnTo>
                <a:lnTo>
                  <a:pt x="6937159" y="9945065"/>
                </a:lnTo>
                <a:lnTo>
                  <a:pt x="6937159" y="9846094"/>
                </a:lnTo>
                <a:lnTo>
                  <a:pt x="6392265" y="9301264"/>
                </a:lnTo>
                <a:lnTo>
                  <a:pt x="6293358" y="9202369"/>
                </a:lnTo>
                <a:lnTo>
                  <a:pt x="5550662" y="9945065"/>
                </a:lnTo>
                <a:lnTo>
                  <a:pt x="6293358" y="10687761"/>
                </a:lnTo>
                <a:lnTo>
                  <a:pt x="6318097" y="10663022"/>
                </a:lnTo>
                <a:lnTo>
                  <a:pt x="7036143" y="9945065"/>
                </a:lnTo>
                <a:close/>
              </a:path>
              <a:path w="7562850" h="10696575">
                <a:moveTo>
                  <a:pt x="7562850" y="10219817"/>
                </a:moveTo>
                <a:lnTo>
                  <a:pt x="7086092" y="10696575"/>
                </a:lnTo>
                <a:lnTo>
                  <a:pt x="7185076" y="10696575"/>
                </a:lnTo>
                <a:lnTo>
                  <a:pt x="7562850" y="10318801"/>
                </a:lnTo>
                <a:lnTo>
                  <a:pt x="7562850" y="10219817"/>
                </a:lnTo>
                <a:close/>
              </a:path>
              <a:path w="7562850" h="10696575">
                <a:moveTo>
                  <a:pt x="7562850" y="9571330"/>
                </a:moveTo>
                <a:lnTo>
                  <a:pt x="6392253" y="8400732"/>
                </a:lnTo>
                <a:lnTo>
                  <a:pt x="6293358" y="8301837"/>
                </a:lnTo>
                <a:lnTo>
                  <a:pt x="5052771" y="9542424"/>
                </a:lnTo>
                <a:lnTo>
                  <a:pt x="5003292" y="9492945"/>
                </a:lnTo>
                <a:lnTo>
                  <a:pt x="5003292" y="9591904"/>
                </a:lnTo>
                <a:lnTo>
                  <a:pt x="4890173" y="9705022"/>
                </a:lnTo>
                <a:lnTo>
                  <a:pt x="4840694" y="9655556"/>
                </a:lnTo>
                <a:lnTo>
                  <a:pt x="4840694" y="9754502"/>
                </a:lnTo>
                <a:lnTo>
                  <a:pt x="4741405" y="9853790"/>
                </a:lnTo>
                <a:lnTo>
                  <a:pt x="3911092" y="9023464"/>
                </a:lnTo>
                <a:lnTo>
                  <a:pt x="3812197" y="8924569"/>
                </a:lnTo>
                <a:lnTo>
                  <a:pt x="2882696" y="9854070"/>
                </a:lnTo>
                <a:lnTo>
                  <a:pt x="2833205" y="9804578"/>
                </a:lnTo>
                <a:lnTo>
                  <a:pt x="2833205" y="9903562"/>
                </a:lnTo>
                <a:lnTo>
                  <a:pt x="2791701" y="9945065"/>
                </a:lnTo>
                <a:lnTo>
                  <a:pt x="2833205" y="9986581"/>
                </a:lnTo>
                <a:lnTo>
                  <a:pt x="2733916" y="10085870"/>
                </a:lnTo>
                <a:lnTo>
                  <a:pt x="2684437" y="10036391"/>
                </a:lnTo>
                <a:lnTo>
                  <a:pt x="2684437" y="10135349"/>
                </a:lnTo>
                <a:lnTo>
                  <a:pt x="2571292" y="10248494"/>
                </a:lnTo>
                <a:lnTo>
                  <a:pt x="2458174" y="10135387"/>
                </a:lnTo>
                <a:lnTo>
                  <a:pt x="2571331" y="10022256"/>
                </a:lnTo>
                <a:lnTo>
                  <a:pt x="2684437" y="10135349"/>
                </a:lnTo>
                <a:lnTo>
                  <a:pt x="2684437" y="10036391"/>
                </a:lnTo>
                <a:lnTo>
                  <a:pt x="2620822" y="9972764"/>
                </a:lnTo>
                <a:lnTo>
                  <a:pt x="2648521" y="9945065"/>
                </a:lnTo>
                <a:lnTo>
                  <a:pt x="2620822" y="9917379"/>
                </a:lnTo>
                <a:lnTo>
                  <a:pt x="2733929" y="9804273"/>
                </a:lnTo>
                <a:lnTo>
                  <a:pt x="2833205" y="9903562"/>
                </a:lnTo>
                <a:lnTo>
                  <a:pt x="2833205" y="9804578"/>
                </a:lnTo>
                <a:lnTo>
                  <a:pt x="2783421" y="9754781"/>
                </a:lnTo>
                <a:lnTo>
                  <a:pt x="3812197" y="8726005"/>
                </a:lnTo>
                <a:lnTo>
                  <a:pt x="4840694" y="9754502"/>
                </a:lnTo>
                <a:lnTo>
                  <a:pt x="4840694" y="9655556"/>
                </a:lnTo>
                <a:lnTo>
                  <a:pt x="3911092" y="8726005"/>
                </a:lnTo>
                <a:lnTo>
                  <a:pt x="3812197" y="8627110"/>
                </a:lnTo>
                <a:lnTo>
                  <a:pt x="2733929" y="9705302"/>
                </a:lnTo>
                <a:lnTo>
                  <a:pt x="2684437" y="9655810"/>
                </a:lnTo>
                <a:lnTo>
                  <a:pt x="2684437" y="9754794"/>
                </a:lnTo>
                <a:lnTo>
                  <a:pt x="2571331" y="9867887"/>
                </a:lnTo>
                <a:lnTo>
                  <a:pt x="2521839" y="9818408"/>
                </a:lnTo>
                <a:lnTo>
                  <a:pt x="2521839" y="9917379"/>
                </a:lnTo>
                <a:lnTo>
                  <a:pt x="2494153" y="9945065"/>
                </a:lnTo>
                <a:lnTo>
                  <a:pt x="2521839" y="9972764"/>
                </a:lnTo>
                <a:lnTo>
                  <a:pt x="2408694" y="10085908"/>
                </a:lnTo>
                <a:lnTo>
                  <a:pt x="2309406" y="9986620"/>
                </a:lnTo>
                <a:lnTo>
                  <a:pt x="2350960" y="9945065"/>
                </a:lnTo>
                <a:lnTo>
                  <a:pt x="2309406" y="9903523"/>
                </a:lnTo>
                <a:lnTo>
                  <a:pt x="2408694" y="9804235"/>
                </a:lnTo>
                <a:lnTo>
                  <a:pt x="2521839" y="9917379"/>
                </a:lnTo>
                <a:lnTo>
                  <a:pt x="2521839" y="9818408"/>
                </a:lnTo>
                <a:lnTo>
                  <a:pt x="2458174" y="9754756"/>
                </a:lnTo>
                <a:lnTo>
                  <a:pt x="2571292" y="9641637"/>
                </a:lnTo>
                <a:lnTo>
                  <a:pt x="2684437" y="9754794"/>
                </a:lnTo>
                <a:lnTo>
                  <a:pt x="2684437" y="9655810"/>
                </a:lnTo>
                <a:lnTo>
                  <a:pt x="2620784" y="9592145"/>
                </a:lnTo>
                <a:lnTo>
                  <a:pt x="3812197" y="8400732"/>
                </a:lnTo>
                <a:lnTo>
                  <a:pt x="5003292" y="9591904"/>
                </a:lnTo>
                <a:lnTo>
                  <a:pt x="5003292" y="9492945"/>
                </a:lnTo>
                <a:lnTo>
                  <a:pt x="3911092" y="8400732"/>
                </a:lnTo>
                <a:lnTo>
                  <a:pt x="3812197" y="8301837"/>
                </a:lnTo>
                <a:lnTo>
                  <a:pt x="2571331" y="9542704"/>
                </a:lnTo>
                <a:lnTo>
                  <a:pt x="1429372" y="8400732"/>
                </a:lnTo>
                <a:lnTo>
                  <a:pt x="1330477" y="8301837"/>
                </a:lnTo>
                <a:lnTo>
                  <a:pt x="0" y="9632315"/>
                </a:lnTo>
                <a:lnTo>
                  <a:pt x="0" y="9731210"/>
                </a:lnTo>
                <a:lnTo>
                  <a:pt x="1330477" y="8400732"/>
                </a:lnTo>
                <a:lnTo>
                  <a:pt x="2521851" y="9592183"/>
                </a:lnTo>
                <a:lnTo>
                  <a:pt x="2408732" y="9705302"/>
                </a:lnTo>
                <a:lnTo>
                  <a:pt x="1429372" y="8726005"/>
                </a:lnTo>
                <a:lnTo>
                  <a:pt x="1330477" y="8627110"/>
                </a:lnTo>
                <a:lnTo>
                  <a:pt x="12433" y="9945065"/>
                </a:lnTo>
                <a:lnTo>
                  <a:pt x="763981" y="10696575"/>
                </a:lnTo>
                <a:lnTo>
                  <a:pt x="862914" y="10696575"/>
                </a:lnTo>
                <a:lnTo>
                  <a:pt x="111417" y="9945065"/>
                </a:lnTo>
                <a:lnTo>
                  <a:pt x="1330477" y="8726005"/>
                </a:lnTo>
                <a:lnTo>
                  <a:pt x="2359253" y="9754781"/>
                </a:lnTo>
                <a:lnTo>
                  <a:pt x="2259965" y="9854070"/>
                </a:lnTo>
                <a:lnTo>
                  <a:pt x="1429372" y="9023464"/>
                </a:lnTo>
                <a:lnTo>
                  <a:pt x="1330477" y="8924569"/>
                </a:lnTo>
                <a:lnTo>
                  <a:pt x="309981" y="9945065"/>
                </a:lnTo>
                <a:lnTo>
                  <a:pt x="1061491" y="10696575"/>
                </a:lnTo>
                <a:lnTo>
                  <a:pt x="1160449" y="10696575"/>
                </a:lnTo>
                <a:lnTo>
                  <a:pt x="408876" y="9945065"/>
                </a:lnTo>
                <a:lnTo>
                  <a:pt x="1330477" y="9023464"/>
                </a:lnTo>
                <a:lnTo>
                  <a:pt x="2210524" y="9903511"/>
                </a:lnTo>
                <a:lnTo>
                  <a:pt x="2168969" y="9945065"/>
                </a:lnTo>
                <a:lnTo>
                  <a:pt x="2210511" y="9986632"/>
                </a:lnTo>
                <a:lnTo>
                  <a:pt x="1500492" y="10696575"/>
                </a:lnTo>
                <a:lnTo>
                  <a:pt x="1599463" y="10696575"/>
                </a:lnTo>
                <a:lnTo>
                  <a:pt x="2259952" y="10036073"/>
                </a:lnTo>
                <a:lnTo>
                  <a:pt x="2359241" y="10135362"/>
                </a:lnTo>
                <a:lnTo>
                  <a:pt x="1798027" y="10696575"/>
                </a:lnTo>
                <a:lnTo>
                  <a:pt x="1896960" y="10696575"/>
                </a:lnTo>
                <a:lnTo>
                  <a:pt x="2408732" y="10184841"/>
                </a:lnTo>
                <a:lnTo>
                  <a:pt x="2521839" y="10297947"/>
                </a:lnTo>
                <a:lnTo>
                  <a:pt x="2123211" y="10696575"/>
                </a:lnTo>
                <a:lnTo>
                  <a:pt x="2222195" y="10696575"/>
                </a:lnTo>
                <a:lnTo>
                  <a:pt x="2571331" y="10347439"/>
                </a:lnTo>
                <a:lnTo>
                  <a:pt x="2920479" y="10696575"/>
                </a:lnTo>
                <a:lnTo>
                  <a:pt x="3019412" y="10696575"/>
                </a:lnTo>
                <a:lnTo>
                  <a:pt x="2620784" y="10297985"/>
                </a:lnTo>
                <a:lnTo>
                  <a:pt x="2733929" y="10184841"/>
                </a:lnTo>
                <a:lnTo>
                  <a:pt x="3245713" y="10696575"/>
                </a:lnTo>
                <a:lnTo>
                  <a:pt x="3344634" y="10696575"/>
                </a:lnTo>
                <a:lnTo>
                  <a:pt x="2783408" y="10135362"/>
                </a:lnTo>
                <a:lnTo>
                  <a:pt x="2882696" y="10036073"/>
                </a:lnTo>
                <a:lnTo>
                  <a:pt x="3543211" y="10696575"/>
                </a:lnTo>
                <a:lnTo>
                  <a:pt x="3642169" y="10696575"/>
                </a:lnTo>
                <a:lnTo>
                  <a:pt x="2932150" y="9986620"/>
                </a:lnTo>
                <a:lnTo>
                  <a:pt x="2973705" y="9945065"/>
                </a:lnTo>
                <a:lnTo>
                  <a:pt x="2932150" y="9903511"/>
                </a:lnTo>
                <a:lnTo>
                  <a:pt x="3812197" y="9023464"/>
                </a:lnTo>
                <a:lnTo>
                  <a:pt x="4691964" y="9903231"/>
                </a:lnTo>
                <a:lnTo>
                  <a:pt x="4650130" y="9945065"/>
                </a:lnTo>
                <a:lnTo>
                  <a:pt x="4691951" y="9986899"/>
                </a:lnTo>
                <a:lnTo>
                  <a:pt x="3982224" y="10696575"/>
                </a:lnTo>
                <a:lnTo>
                  <a:pt x="4081183" y="10696575"/>
                </a:lnTo>
                <a:lnTo>
                  <a:pt x="4741405" y="10036353"/>
                </a:lnTo>
                <a:lnTo>
                  <a:pt x="4840694" y="10135641"/>
                </a:lnTo>
                <a:lnTo>
                  <a:pt x="4279760" y="10696575"/>
                </a:lnTo>
                <a:lnTo>
                  <a:pt x="4378680" y="10696575"/>
                </a:lnTo>
                <a:lnTo>
                  <a:pt x="4890173" y="10185121"/>
                </a:lnTo>
                <a:lnTo>
                  <a:pt x="5003279" y="10298227"/>
                </a:lnTo>
                <a:lnTo>
                  <a:pt x="4604944" y="10696575"/>
                </a:lnTo>
                <a:lnTo>
                  <a:pt x="4703915" y="10696575"/>
                </a:lnTo>
                <a:lnTo>
                  <a:pt x="5052771" y="10347719"/>
                </a:lnTo>
                <a:lnTo>
                  <a:pt x="5401640" y="10696575"/>
                </a:lnTo>
                <a:lnTo>
                  <a:pt x="5500573" y="10696575"/>
                </a:lnTo>
                <a:lnTo>
                  <a:pt x="5102225" y="10298265"/>
                </a:lnTo>
                <a:lnTo>
                  <a:pt x="5215369" y="10185121"/>
                </a:lnTo>
                <a:lnTo>
                  <a:pt x="5726862" y="10696575"/>
                </a:lnTo>
                <a:lnTo>
                  <a:pt x="5825795" y="10696575"/>
                </a:lnTo>
                <a:lnTo>
                  <a:pt x="5264848" y="10135641"/>
                </a:lnTo>
                <a:lnTo>
                  <a:pt x="5364137" y="10036353"/>
                </a:lnTo>
                <a:lnTo>
                  <a:pt x="6024372" y="10696575"/>
                </a:lnTo>
                <a:lnTo>
                  <a:pt x="6123330" y="10696575"/>
                </a:lnTo>
                <a:lnTo>
                  <a:pt x="5413591" y="9986899"/>
                </a:lnTo>
                <a:lnTo>
                  <a:pt x="5455424" y="9945065"/>
                </a:lnTo>
                <a:lnTo>
                  <a:pt x="5413591" y="9903231"/>
                </a:lnTo>
                <a:lnTo>
                  <a:pt x="6293358" y="9023464"/>
                </a:lnTo>
                <a:lnTo>
                  <a:pt x="7214959" y="9945065"/>
                </a:lnTo>
                <a:lnTo>
                  <a:pt x="6463385" y="10696575"/>
                </a:lnTo>
                <a:lnTo>
                  <a:pt x="6562344" y="10696575"/>
                </a:lnTo>
                <a:lnTo>
                  <a:pt x="7313841" y="9945065"/>
                </a:lnTo>
                <a:lnTo>
                  <a:pt x="6392253" y="9023464"/>
                </a:lnTo>
                <a:lnTo>
                  <a:pt x="6293358" y="8924569"/>
                </a:lnTo>
                <a:lnTo>
                  <a:pt x="5364137" y="9853790"/>
                </a:lnTo>
                <a:lnTo>
                  <a:pt x="5314645" y="9804298"/>
                </a:lnTo>
                <a:lnTo>
                  <a:pt x="5314645" y="9903282"/>
                </a:lnTo>
                <a:lnTo>
                  <a:pt x="5272862" y="9945065"/>
                </a:lnTo>
                <a:lnTo>
                  <a:pt x="5314645" y="9986861"/>
                </a:lnTo>
                <a:lnTo>
                  <a:pt x="5215356" y="10086149"/>
                </a:lnTo>
                <a:lnTo>
                  <a:pt x="5165877" y="10036670"/>
                </a:lnTo>
                <a:lnTo>
                  <a:pt x="5165877" y="10135629"/>
                </a:lnTo>
                <a:lnTo>
                  <a:pt x="5052733" y="10248773"/>
                </a:lnTo>
                <a:lnTo>
                  <a:pt x="4939627" y="10135667"/>
                </a:lnTo>
                <a:lnTo>
                  <a:pt x="5052771" y="10022535"/>
                </a:lnTo>
                <a:lnTo>
                  <a:pt x="5165877" y="10135629"/>
                </a:lnTo>
                <a:lnTo>
                  <a:pt x="5165877" y="10036670"/>
                </a:lnTo>
                <a:lnTo>
                  <a:pt x="5102263" y="9973043"/>
                </a:lnTo>
                <a:lnTo>
                  <a:pt x="5130241" y="9945065"/>
                </a:lnTo>
                <a:lnTo>
                  <a:pt x="5102263" y="9917100"/>
                </a:lnTo>
                <a:lnTo>
                  <a:pt x="5215369" y="9803994"/>
                </a:lnTo>
                <a:lnTo>
                  <a:pt x="5314645" y="9903282"/>
                </a:lnTo>
                <a:lnTo>
                  <a:pt x="5314645" y="9804298"/>
                </a:lnTo>
                <a:lnTo>
                  <a:pt x="5264861" y="9754502"/>
                </a:lnTo>
                <a:lnTo>
                  <a:pt x="6293358" y="8726005"/>
                </a:lnTo>
                <a:lnTo>
                  <a:pt x="7512418" y="9945065"/>
                </a:lnTo>
                <a:lnTo>
                  <a:pt x="6760908" y="10696575"/>
                </a:lnTo>
                <a:lnTo>
                  <a:pt x="6859841" y="10696575"/>
                </a:lnTo>
                <a:lnTo>
                  <a:pt x="7562850" y="9993617"/>
                </a:lnTo>
                <a:lnTo>
                  <a:pt x="7562850" y="9896513"/>
                </a:lnTo>
                <a:lnTo>
                  <a:pt x="6392253" y="8726005"/>
                </a:lnTo>
                <a:lnTo>
                  <a:pt x="6293358" y="8627110"/>
                </a:lnTo>
                <a:lnTo>
                  <a:pt x="5215369" y="9705022"/>
                </a:lnTo>
                <a:lnTo>
                  <a:pt x="5165877" y="9655531"/>
                </a:lnTo>
                <a:lnTo>
                  <a:pt x="5165877" y="9754514"/>
                </a:lnTo>
                <a:lnTo>
                  <a:pt x="5052771" y="9867621"/>
                </a:lnTo>
                <a:lnTo>
                  <a:pt x="5003279" y="9818141"/>
                </a:lnTo>
                <a:lnTo>
                  <a:pt x="5003279" y="9917100"/>
                </a:lnTo>
                <a:lnTo>
                  <a:pt x="4975314" y="9945065"/>
                </a:lnTo>
                <a:lnTo>
                  <a:pt x="5003279" y="9973043"/>
                </a:lnTo>
                <a:lnTo>
                  <a:pt x="4890135" y="10086188"/>
                </a:lnTo>
                <a:lnTo>
                  <a:pt x="4790859" y="9986899"/>
                </a:lnTo>
                <a:lnTo>
                  <a:pt x="4832693" y="9945065"/>
                </a:lnTo>
                <a:lnTo>
                  <a:pt x="4790859" y="9903231"/>
                </a:lnTo>
                <a:lnTo>
                  <a:pt x="4890135" y="9803955"/>
                </a:lnTo>
                <a:lnTo>
                  <a:pt x="5003279" y="9917100"/>
                </a:lnTo>
                <a:lnTo>
                  <a:pt x="5003279" y="9818141"/>
                </a:lnTo>
                <a:lnTo>
                  <a:pt x="4939614" y="9754476"/>
                </a:lnTo>
                <a:lnTo>
                  <a:pt x="5052733" y="9641357"/>
                </a:lnTo>
                <a:lnTo>
                  <a:pt x="5165877" y="9754514"/>
                </a:lnTo>
                <a:lnTo>
                  <a:pt x="5165877" y="9655531"/>
                </a:lnTo>
                <a:lnTo>
                  <a:pt x="5102225" y="9591865"/>
                </a:lnTo>
                <a:lnTo>
                  <a:pt x="6293358" y="8400732"/>
                </a:lnTo>
                <a:lnTo>
                  <a:pt x="7562850" y="9670288"/>
                </a:lnTo>
                <a:lnTo>
                  <a:pt x="7562850" y="9571330"/>
                </a:lnTo>
                <a:close/>
              </a:path>
              <a:path w="7562850" h="10696575">
                <a:moveTo>
                  <a:pt x="7562850" y="744829"/>
                </a:moveTo>
                <a:lnTo>
                  <a:pt x="6817957" y="0"/>
                </a:lnTo>
                <a:lnTo>
                  <a:pt x="6719024" y="0"/>
                </a:lnTo>
                <a:lnTo>
                  <a:pt x="7476388" y="757351"/>
                </a:lnTo>
                <a:lnTo>
                  <a:pt x="6257328" y="1976424"/>
                </a:lnTo>
                <a:lnTo>
                  <a:pt x="5232679" y="951788"/>
                </a:lnTo>
                <a:lnTo>
                  <a:pt x="5331968" y="852500"/>
                </a:lnTo>
                <a:lnTo>
                  <a:pt x="6257328" y="1777847"/>
                </a:lnTo>
                <a:lnTo>
                  <a:pt x="6282067" y="1753108"/>
                </a:lnTo>
                <a:lnTo>
                  <a:pt x="6232576" y="1703616"/>
                </a:lnTo>
                <a:lnTo>
                  <a:pt x="6257417" y="1728355"/>
                </a:lnTo>
                <a:lnTo>
                  <a:pt x="6282067" y="1753108"/>
                </a:lnTo>
                <a:lnTo>
                  <a:pt x="7277811" y="757351"/>
                </a:lnTo>
                <a:lnTo>
                  <a:pt x="6520447" y="0"/>
                </a:lnTo>
                <a:lnTo>
                  <a:pt x="6421564" y="0"/>
                </a:lnTo>
                <a:lnTo>
                  <a:pt x="7178916" y="757351"/>
                </a:lnTo>
                <a:lnTo>
                  <a:pt x="6257328" y="1678863"/>
                </a:lnTo>
                <a:lnTo>
                  <a:pt x="5381422" y="803046"/>
                </a:lnTo>
                <a:lnTo>
                  <a:pt x="5427116" y="757351"/>
                </a:lnTo>
                <a:lnTo>
                  <a:pt x="5381422" y="711669"/>
                </a:lnTo>
                <a:lnTo>
                  <a:pt x="6093091" y="0"/>
                </a:lnTo>
                <a:lnTo>
                  <a:pt x="5994197" y="0"/>
                </a:lnTo>
                <a:lnTo>
                  <a:pt x="5331968" y="662216"/>
                </a:lnTo>
                <a:lnTo>
                  <a:pt x="5282489" y="612736"/>
                </a:lnTo>
                <a:lnTo>
                  <a:pt x="5282489" y="711695"/>
                </a:lnTo>
                <a:lnTo>
                  <a:pt x="5236832" y="757351"/>
                </a:lnTo>
                <a:lnTo>
                  <a:pt x="5282489" y="803021"/>
                </a:lnTo>
                <a:lnTo>
                  <a:pt x="5183200" y="902296"/>
                </a:lnTo>
                <a:lnTo>
                  <a:pt x="5133721" y="852817"/>
                </a:lnTo>
                <a:lnTo>
                  <a:pt x="5133721" y="951788"/>
                </a:lnTo>
                <a:lnTo>
                  <a:pt x="5020576" y="1064933"/>
                </a:lnTo>
                <a:lnTo>
                  <a:pt x="4971123" y="1015492"/>
                </a:lnTo>
                <a:lnTo>
                  <a:pt x="4971123" y="1114386"/>
                </a:lnTo>
                <a:lnTo>
                  <a:pt x="3783901" y="2301608"/>
                </a:lnTo>
                <a:lnTo>
                  <a:pt x="2588628" y="1106398"/>
                </a:lnTo>
                <a:lnTo>
                  <a:pt x="2701772" y="993254"/>
                </a:lnTo>
                <a:lnTo>
                  <a:pt x="3783901" y="2075307"/>
                </a:lnTo>
                <a:lnTo>
                  <a:pt x="3808641" y="2050567"/>
                </a:lnTo>
                <a:lnTo>
                  <a:pt x="4858004" y="1001268"/>
                </a:lnTo>
                <a:lnTo>
                  <a:pt x="4971123" y="1114386"/>
                </a:lnTo>
                <a:lnTo>
                  <a:pt x="4971123" y="1015492"/>
                </a:lnTo>
                <a:lnTo>
                  <a:pt x="4907458" y="951826"/>
                </a:lnTo>
                <a:lnTo>
                  <a:pt x="5020602" y="838682"/>
                </a:lnTo>
                <a:lnTo>
                  <a:pt x="5133721" y="951788"/>
                </a:lnTo>
                <a:lnTo>
                  <a:pt x="5133721" y="852817"/>
                </a:lnTo>
                <a:lnTo>
                  <a:pt x="5070094" y="789190"/>
                </a:lnTo>
                <a:lnTo>
                  <a:pt x="5101933" y="757351"/>
                </a:lnTo>
                <a:lnTo>
                  <a:pt x="5070094" y="725525"/>
                </a:lnTo>
                <a:lnTo>
                  <a:pt x="5183200" y="612419"/>
                </a:lnTo>
                <a:lnTo>
                  <a:pt x="5282489" y="711695"/>
                </a:lnTo>
                <a:lnTo>
                  <a:pt x="5282489" y="612736"/>
                </a:lnTo>
                <a:lnTo>
                  <a:pt x="5232692" y="562927"/>
                </a:lnTo>
                <a:lnTo>
                  <a:pt x="5795619" y="0"/>
                </a:lnTo>
                <a:lnTo>
                  <a:pt x="5696699" y="0"/>
                </a:lnTo>
                <a:lnTo>
                  <a:pt x="5183200" y="513448"/>
                </a:lnTo>
                <a:lnTo>
                  <a:pt x="5133721" y="463969"/>
                </a:lnTo>
                <a:lnTo>
                  <a:pt x="5133721" y="562927"/>
                </a:lnTo>
                <a:lnTo>
                  <a:pt x="5020602" y="676033"/>
                </a:lnTo>
                <a:lnTo>
                  <a:pt x="4971123" y="626567"/>
                </a:lnTo>
                <a:lnTo>
                  <a:pt x="4971123" y="725525"/>
                </a:lnTo>
                <a:lnTo>
                  <a:pt x="4939284" y="757351"/>
                </a:lnTo>
                <a:lnTo>
                  <a:pt x="4971123" y="789203"/>
                </a:lnTo>
                <a:lnTo>
                  <a:pt x="4857978" y="902347"/>
                </a:lnTo>
                <a:lnTo>
                  <a:pt x="4808525" y="852906"/>
                </a:lnTo>
                <a:lnTo>
                  <a:pt x="4808525" y="951788"/>
                </a:lnTo>
                <a:lnTo>
                  <a:pt x="3783901" y="1976424"/>
                </a:lnTo>
                <a:lnTo>
                  <a:pt x="2751251" y="943775"/>
                </a:lnTo>
                <a:lnTo>
                  <a:pt x="2850540" y="844486"/>
                </a:lnTo>
                <a:lnTo>
                  <a:pt x="3783901" y="1777847"/>
                </a:lnTo>
                <a:lnTo>
                  <a:pt x="3808641" y="1753108"/>
                </a:lnTo>
                <a:lnTo>
                  <a:pt x="3759149" y="1703616"/>
                </a:lnTo>
                <a:lnTo>
                  <a:pt x="3783977" y="1728355"/>
                </a:lnTo>
                <a:lnTo>
                  <a:pt x="3808641" y="1753108"/>
                </a:lnTo>
                <a:lnTo>
                  <a:pt x="4709236" y="852500"/>
                </a:lnTo>
                <a:lnTo>
                  <a:pt x="4808525" y="951788"/>
                </a:lnTo>
                <a:lnTo>
                  <a:pt x="4808525" y="852906"/>
                </a:lnTo>
                <a:lnTo>
                  <a:pt x="4758677" y="803059"/>
                </a:lnTo>
                <a:lnTo>
                  <a:pt x="4804384" y="757351"/>
                </a:lnTo>
                <a:lnTo>
                  <a:pt x="4758690" y="711669"/>
                </a:lnTo>
                <a:lnTo>
                  <a:pt x="4857978" y="612381"/>
                </a:lnTo>
                <a:lnTo>
                  <a:pt x="4971123" y="725525"/>
                </a:lnTo>
                <a:lnTo>
                  <a:pt x="4971123" y="626567"/>
                </a:lnTo>
                <a:lnTo>
                  <a:pt x="4907458" y="562902"/>
                </a:lnTo>
                <a:lnTo>
                  <a:pt x="5020576" y="449783"/>
                </a:lnTo>
                <a:lnTo>
                  <a:pt x="5133721" y="562927"/>
                </a:lnTo>
                <a:lnTo>
                  <a:pt x="5133721" y="463969"/>
                </a:lnTo>
                <a:lnTo>
                  <a:pt x="5070056" y="400304"/>
                </a:lnTo>
                <a:lnTo>
                  <a:pt x="5470360" y="0"/>
                </a:lnTo>
                <a:lnTo>
                  <a:pt x="5371465" y="0"/>
                </a:lnTo>
                <a:lnTo>
                  <a:pt x="5020602" y="350850"/>
                </a:lnTo>
                <a:lnTo>
                  <a:pt x="4669764" y="0"/>
                </a:lnTo>
                <a:lnTo>
                  <a:pt x="4570819" y="0"/>
                </a:lnTo>
                <a:lnTo>
                  <a:pt x="4971123" y="400329"/>
                </a:lnTo>
                <a:lnTo>
                  <a:pt x="4858004" y="513448"/>
                </a:lnTo>
                <a:lnTo>
                  <a:pt x="4344530" y="0"/>
                </a:lnTo>
                <a:lnTo>
                  <a:pt x="4245597" y="0"/>
                </a:lnTo>
                <a:lnTo>
                  <a:pt x="4808525" y="562927"/>
                </a:lnTo>
                <a:lnTo>
                  <a:pt x="4709236" y="662216"/>
                </a:lnTo>
                <a:lnTo>
                  <a:pt x="4047020" y="0"/>
                </a:lnTo>
                <a:lnTo>
                  <a:pt x="3948125" y="0"/>
                </a:lnTo>
                <a:lnTo>
                  <a:pt x="4659782" y="711669"/>
                </a:lnTo>
                <a:lnTo>
                  <a:pt x="4614100" y="757351"/>
                </a:lnTo>
                <a:lnTo>
                  <a:pt x="4659782" y="803046"/>
                </a:lnTo>
                <a:lnTo>
                  <a:pt x="3783901" y="1678863"/>
                </a:lnTo>
                <a:lnTo>
                  <a:pt x="2899981" y="795045"/>
                </a:lnTo>
                <a:lnTo>
                  <a:pt x="2937675" y="757351"/>
                </a:lnTo>
                <a:lnTo>
                  <a:pt x="2899981" y="719670"/>
                </a:lnTo>
                <a:lnTo>
                  <a:pt x="3619665" y="0"/>
                </a:lnTo>
                <a:lnTo>
                  <a:pt x="3520770" y="0"/>
                </a:lnTo>
                <a:lnTo>
                  <a:pt x="2850540" y="670229"/>
                </a:lnTo>
                <a:lnTo>
                  <a:pt x="2801048" y="620737"/>
                </a:lnTo>
                <a:lnTo>
                  <a:pt x="2801048" y="719709"/>
                </a:lnTo>
                <a:lnTo>
                  <a:pt x="2763405" y="757351"/>
                </a:lnTo>
                <a:lnTo>
                  <a:pt x="2801048" y="795007"/>
                </a:lnTo>
                <a:lnTo>
                  <a:pt x="2701760" y="894295"/>
                </a:lnTo>
                <a:lnTo>
                  <a:pt x="2652280" y="844816"/>
                </a:lnTo>
                <a:lnTo>
                  <a:pt x="2652280" y="943775"/>
                </a:lnTo>
                <a:lnTo>
                  <a:pt x="2539136" y="1056919"/>
                </a:lnTo>
                <a:lnTo>
                  <a:pt x="2426017" y="943813"/>
                </a:lnTo>
                <a:lnTo>
                  <a:pt x="2539161" y="830668"/>
                </a:lnTo>
                <a:lnTo>
                  <a:pt x="2652280" y="943775"/>
                </a:lnTo>
                <a:lnTo>
                  <a:pt x="2652280" y="844816"/>
                </a:lnTo>
                <a:lnTo>
                  <a:pt x="2588653" y="781189"/>
                </a:lnTo>
                <a:lnTo>
                  <a:pt x="2612491" y="757351"/>
                </a:lnTo>
                <a:lnTo>
                  <a:pt x="2588653" y="733526"/>
                </a:lnTo>
                <a:lnTo>
                  <a:pt x="2701760" y="620420"/>
                </a:lnTo>
                <a:lnTo>
                  <a:pt x="2801048" y="719709"/>
                </a:lnTo>
                <a:lnTo>
                  <a:pt x="2801048" y="620737"/>
                </a:lnTo>
                <a:lnTo>
                  <a:pt x="2751251" y="570941"/>
                </a:lnTo>
                <a:lnTo>
                  <a:pt x="3322193" y="0"/>
                </a:lnTo>
                <a:lnTo>
                  <a:pt x="3223272" y="0"/>
                </a:lnTo>
                <a:lnTo>
                  <a:pt x="2701772" y="521462"/>
                </a:lnTo>
                <a:lnTo>
                  <a:pt x="2652280" y="471970"/>
                </a:lnTo>
                <a:lnTo>
                  <a:pt x="2652280" y="570941"/>
                </a:lnTo>
                <a:lnTo>
                  <a:pt x="2539161" y="684047"/>
                </a:lnTo>
                <a:lnTo>
                  <a:pt x="2489682" y="634568"/>
                </a:lnTo>
                <a:lnTo>
                  <a:pt x="2489682" y="733539"/>
                </a:lnTo>
                <a:lnTo>
                  <a:pt x="2465857" y="757351"/>
                </a:lnTo>
                <a:lnTo>
                  <a:pt x="2489682" y="781189"/>
                </a:lnTo>
                <a:lnTo>
                  <a:pt x="2376538" y="894334"/>
                </a:lnTo>
                <a:lnTo>
                  <a:pt x="2277237" y="795045"/>
                </a:lnTo>
                <a:lnTo>
                  <a:pt x="2314930" y="757351"/>
                </a:lnTo>
                <a:lnTo>
                  <a:pt x="2277237" y="719683"/>
                </a:lnTo>
                <a:lnTo>
                  <a:pt x="2376525" y="620395"/>
                </a:lnTo>
                <a:lnTo>
                  <a:pt x="2489682" y="733539"/>
                </a:lnTo>
                <a:lnTo>
                  <a:pt x="2489682" y="634568"/>
                </a:lnTo>
                <a:lnTo>
                  <a:pt x="2426017" y="570903"/>
                </a:lnTo>
                <a:lnTo>
                  <a:pt x="2539123" y="457796"/>
                </a:lnTo>
                <a:lnTo>
                  <a:pt x="2652280" y="570941"/>
                </a:lnTo>
                <a:lnTo>
                  <a:pt x="2652280" y="471970"/>
                </a:lnTo>
                <a:lnTo>
                  <a:pt x="2588615" y="408305"/>
                </a:lnTo>
                <a:lnTo>
                  <a:pt x="2996920" y="0"/>
                </a:lnTo>
                <a:lnTo>
                  <a:pt x="2898038" y="0"/>
                </a:lnTo>
                <a:lnTo>
                  <a:pt x="2539174" y="358863"/>
                </a:lnTo>
                <a:lnTo>
                  <a:pt x="2180310" y="0"/>
                </a:lnTo>
                <a:lnTo>
                  <a:pt x="2081364" y="0"/>
                </a:lnTo>
                <a:lnTo>
                  <a:pt x="2489682" y="408343"/>
                </a:lnTo>
                <a:lnTo>
                  <a:pt x="2376563" y="521462"/>
                </a:lnTo>
                <a:lnTo>
                  <a:pt x="1855076" y="0"/>
                </a:lnTo>
                <a:lnTo>
                  <a:pt x="1756143" y="0"/>
                </a:lnTo>
                <a:lnTo>
                  <a:pt x="2327084" y="570941"/>
                </a:lnTo>
                <a:lnTo>
                  <a:pt x="2227796" y="670229"/>
                </a:lnTo>
                <a:lnTo>
                  <a:pt x="1557566" y="0"/>
                </a:lnTo>
                <a:lnTo>
                  <a:pt x="1458683" y="0"/>
                </a:lnTo>
                <a:lnTo>
                  <a:pt x="2178354" y="719670"/>
                </a:lnTo>
                <a:lnTo>
                  <a:pt x="2140674" y="757351"/>
                </a:lnTo>
                <a:lnTo>
                  <a:pt x="2178354" y="795045"/>
                </a:lnTo>
                <a:lnTo>
                  <a:pt x="1294447" y="1678863"/>
                </a:lnTo>
                <a:lnTo>
                  <a:pt x="372846" y="757351"/>
                </a:lnTo>
                <a:lnTo>
                  <a:pt x="1130211" y="0"/>
                </a:lnTo>
                <a:lnTo>
                  <a:pt x="1031316" y="0"/>
                </a:lnTo>
                <a:lnTo>
                  <a:pt x="273951" y="757351"/>
                </a:lnTo>
                <a:lnTo>
                  <a:pt x="1294447" y="1777847"/>
                </a:lnTo>
                <a:lnTo>
                  <a:pt x="1319187" y="1753108"/>
                </a:lnTo>
                <a:lnTo>
                  <a:pt x="1269695" y="1703616"/>
                </a:lnTo>
                <a:lnTo>
                  <a:pt x="1294536" y="1728355"/>
                </a:lnTo>
                <a:lnTo>
                  <a:pt x="1319187" y="1753108"/>
                </a:lnTo>
                <a:lnTo>
                  <a:pt x="2227796" y="844486"/>
                </a:lnTo>
                <a:lnTo>
                  <a:pt x="2327084" y="943775"/>
                </a:lnTo>
                <a:lnTo>
                  <a:pt x="1294447" y="1976424"/>
                </a:lnTo>
                <a:lnTo>
                  <a:pt x="75387" y="757351"/>
                </a:lnTo>
                <a:lnTo>
                  <a:pt x="832739" y="0"/>
                </a:lnTo>
                <a:lnTo>
                  <a:pt x="733818" y="0"/>
                </a:lnTo>
                <a:lnTo>
                  <a:pt x="0" y="733767"/>
                </a:lnTo>
                <a:lnTo>
                  <a:pt x="0" y="780948"/>
                </a:lnTo>
                <a:lnTo>
                  <a:pt x="1294447" y="2075307"/>
                </a:lnTo>
                <a:lnTo>
                  <a:pt x="1319187" y="2050567"/>
                </a:lnTo>
                <a:lnTo>
                  <a:pt x="2376563" y="993267"/>
                </a:lnTo>
                <a:lnTo>
                  <a:pt x="2489682" y="1106373"/>
                </a:lnTo>
                <a:lnTo>
                  <a:pt x="1294447" y="2301608"/>
                </a:lnTo>
                <a:lnTo>
                  <a:pt x="0" y="1007224"/>
                </a:lnTo>
                <a:lnTo>
                  <a:pt x="0" y="1106131"/>
                </a:lnTo>
                <a:lnTo>
                  <a:pt x="1294447" y="2400579"/>
                </a:lnTo>
                <a:lnTo>
                  <a:pt x="1319187" y="2375839"/>
                </a:lnTo>
                <a:lnTo>
                  <a:pt x="2539174" y="1155852"/>
                </a:lnTo>
                <a:lnTo>
                  <a:pt x="3783901" y="2400579"/>
                </a:lnTo>
                <a:lnTo>
                  <a:pt x="3808641" y="2375839"/>
                </a:lnTo>
                <a:lnTo>
                  <a:pt x="5020602" y="1163866"/>
                </a:lnTo>
                <a:lnTo>
                  <a:pt x="6257328" y="2400579"/>
                </a:lnTo>
                <a:lnTo>
                  <a:pt x="6282067" y="2375839"/>
                </a:lnTo>
                <a:lnTo>
                  <a:pt x="7562850" y="1095057"/>
                </a:lnTo>
                <a:lnTo>
                  <a:pt x="7562850" y="996086"/>
                </a:lnTo>
                <a:lnTo>
                  <a:pt x="6257328" y="2301608"/>
                </a:lnTo>
                <a:lnTo>
                  <a:pt x="5070056" y="1114412"/>
                </a:lnTo>
                <a:lnTo>
                  <a:pt x="5183200" y="1001268"/>
                </a:lnTo>
                <a:lnTo>
                  <a:pt x="6257328" y="2075307"/>
                </a:lnTo>
                <a:lnTo>
                  <a:pt x="6282067" y="2050567"/>
                </a:lnTo>
                <a:lnTo>
                  <a:pt x="7562850" y="769874"/>
                </a:lnTo>
                <a:lnTo>
                  <a:pt x="7562850" y="744829"/>
                </a:lnTo>
                <a:close/>
              </a:path>
              <a:path w="7562850" h="10696575">
                <a:moveTo>
                  <a:pt x="7562850" y="419646"/>
                </a:moveTo>
                <a:lnTo>
                  <a:pt x="7143191" y="0"/>
                </a:lnTo>
                <a:lnTo>
                  <a:pt x="7044245" y="0"/>
                </a:lnTo>
                <a:lnTo>
                  <a:pt x="7562850" y="518617"/>
                </a:lnTo>
                <a:lnTo>
                  <a:pt x="7562850" y="419646"/>
                </a:lnTo>
                <a:close/>
              </a:path>
            </a:pathLst>
          </a:custGeom>
          <a:solidFill>
            <a:srgbClr val="373362"/>
          </a:solidFill>
        </p:spPr>
        <p:txBody>
          <a:bodyPr wrap="square" lIns="0" tIns="0" rIns="0" bIns="0" rtlCol="0"/>
          <a:lstStyle/>
          <a:p>
            <a:endParaRPr sz="28823" dirty="0"/>
          </a:p>
        </p:txBody>
      </p:sp>
      <p:sp>
        <p:nvSpPr>
          <p:cNvPr id="18" name="bg object 18"/>
          <p:cNvSpPr/>
          <p:nvPr/>
        </p:nvSpPr>
        <p:spPr>
          <a:xfrm>
            <a:off x="0" y="294481"/>
            <a:ext cx="30300654" cy="42214800"/>
          </a:xfrm>
          <a:custGeom>
            <a:avLst/>
            <a:gdLst/>
            <a:ahLst/>
            <a:cxnLst/>
            <a:rect l="l" t="t" r="r" b="b"/>
            <a:pathLst>
              <a:path w="7562850" h="10191115">
                <a:moveTo>
                  <a:pt x="7562850" y="10190774"/>
                </a:moveTo>
                <a:lnTo>
                  <a:pt x="0" y="10190774"/>
                </a:lnTo>
                <a:lnTo>
                  <a:pt x="0" y="0"/>
                </a:lnTo>
                <a:lnTo>
                  <a:pt x="7562850" y="0"/>
                </a:lnTo>
                <a:lnTo>
                  <a:pt x="7562850" y="10190774"/>
                </a:lnTo>
                <a:close/>
              </a:path>
            </a:pathLst>
          </a:custGeom>
          <a:solidFill>
            <a:srgbClr val="FFFFFF"/>
          </a:solidFill>
        </p:spPr>
        <p:txBody>
          <a:bodyPr wrap="square" lIns="0" tIns="0" rIns="0" bIns="0" rtlCol="0"/>
          <a:lstStyle/>
          <a:p>
            <a:endParaRPr sz="28823"/>
          </a:p>
        </p:txBody>
      </p:sp>
      <p:sp>
        <p:nvSpPr>
          <p:cNvPr id="2" name="Holder 2"/>
          <p:cNvSpPr>
            <a:spLocks noGrp="1"/>
          </p:cNvSpPr>
          <p:nvPr>
            <p:ph type="title"/>
          </p:nvPr>
        </p:nvSpPr>
        <p:spPr>
          <a:xfrm>
            <a:off x="1332416" y="1330512"/>
            <a:ext cx="27635831" cy="661720"/>
          </a:xfrm>
          <a:prstGeom prst="rect">
            <a:avLst/>
          </a:prstGeom>
        </p:spPr>
        <p:txBody>
          <a:bodyPr wrap="square" lIns="0" tIns="0" rIns="0" bIns="0">
            <a:spAutoFit/>
          </a:bodyPr>
          <a:lstStyle>
            <a:lvl1pPr>
              <a:defRPr sz="4300" b="0" i="0">
                <a:solidFill>
                  <a:srgbClr val="373362"/>
                </a:solidFill>
                <a:latin typeface="Tahoma"/>
                <a:cs typeface="Tahoma"/>
              </a:defRPr>
            </a:lvl1pPr>
          </a:lstStyle>
          <a:p>
            <a:endParaRPr/>
          </a:p>
        </p:txBody>
      </p:sp>
      <p:sp>
        <p:nvSpPr>
          <p:cNvPr id="3" name="Holder 3"/>
          <p:cNvSpPr>
            <a:spLocks noGrp="1"/>
          </p:cNvSpPr>
          <p:nvPr>
            <p:ph type="body" idx="1"/>
          </p:nvPr>
        </p:nvSpPr>
        <p:spPr>
          <a:xfrm>
            <a:off x="1515037" y="9844870"/>
            <a:ext cx="27270589"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0302223" y="39807506"/>
            <a:ext cx="9696209" cy="1108763"/>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515037" y="39807506"/>
            <a:ext cx="6969148" cy="1108763"/>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6/13/2026</a:t>
            </a:fld>
            <a:endParaRPr lang="en-US"/>
          </a:p>
        </p:txBody>
      </p:sp>
      <p:sp>
        <p:nvSpPr>
          <p:cNvPr id="6" name="Holder 6"/>
          <p:cNvSpPr>
            <a:spLocks noGrp="1"/>
          </p:cNvSpPr>
          <p:nvPr>
            <p:ph type="sldNum" sz="quarter" idx="7"/>
          </p:nvPr>
        </p:nvSpPr>
        <p:spPr>
          <a:xfrm>
            <a:off x="21816473" y="39807506"/>
            <a:ext cx="6969148" cy="1108763"/>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1828983">
        <a:defRPr>
          <a:latin typeface="+mn-lt"/>
          <a:ea typeface="+mn-ea"/>
          <a:cs typeface="+mn-cs"/>
        </a:defRPr>
      </a:lvl2pPr>
      <a:lvl3pPr marL="3657966">
        <a:defRPr>
          <a:latin typeface="+mn-lt"/>
          <a:ea typeface="+mn-ea"/>
          <a:cs typeface="+mn-cs"/>
        </a:defRPr>
      </a:lvl3pPr>
      <a:lvl4pPr marL="5486949">
        <a:defRPr>
          <a:latin typeface="+mn-lt"/>
          <a:ea typeface="+mn-ea"/>
          <a:cs typeface="+mn-cs"/>
        </a:defRPr>
      </a:lvl4pPr>
      <a:lvl5pPr marL="7315932">
        <a:defRPr>
          <a:latin typeface="+mn-lt"/>
          <a:ea typeface="+mn-ea"/>
          <a:cs typeface="+mn-cs"/>
        </a:defRPr>
      </a:lvl5pPr>
      <a:lvl6pPr marL="9144914">
        <a:defRPr>
          <a:latin typeface="+mn-lt"/>
          <a:ea typeface="+mn-ea"/>
          <a:cs typeface="+mn-cs"/>
        </a:defRPr>
      </a:lvl6pPr>
      <a:lvl7pPr marL="10973897">
        <a:defRPr>
          <a:latin typeface="+mn-lt"/>
          <a:ea typeface="+mn-ea"/>
          <a:cs typeface="+mn-cs"/>
        </a:defRPr>
      </a:lvl7pPr>
      <a:lvl8pPr marL="12802880">
        <a:defRPr>
          <a:latin typeface="+mn-lt"/>
          <a:ea typeface="+mn-ea"/>
          <a:cs typeface="+mn-cs"/>
        </a:defRPr>
      </a:lvl8pPr>
      <a:lvl9pPr marL="14631863">
        <a:defRPr>
          <a:latin typeface="+mn-lt"/>
          <a:ea typeface="+mn-ea"/>
          <a:cs typeface="+mn-cs"/>
        </a:defRPr>
      </a:lvl9pPr>
    </p:bodyStyle>
    <p:otherStyle>
      <a:lvl1pPr marL="0">
        <a:defRPr>
          <a:latin typeface="+mn-lt"/>
          <a:ea typeface="+mn-ea"/>
          <a:cs typeface="+mn-cs"/>
        </a:defRPr>
      </a:lvl1pPr>
      <a:lvl2pPr marL="1828983">
        <a:defRPr>
          <a:latin typeface="+mn-lt"/>
          <a:ea typeface="+mn-ea"/>
          <a:cs typeface="+mn-cs"/>
        </a:defRPr>
      </a:lvl2pPr>
      <a:lvl3pPr marL="3657966">
        <a:defRPr>
          <a:latin typeface="+mn-lt"/>
          <a:ea typeface="+mn-ea"/>
          <a:cs typeface="+mn-cs"/>
        </a:defRPr>
      </a:lvl3pPr>
      <a:lvl4pPr marL="5486949">
        <a:defRPr>
          <a:latin typeface="+mn-lt"/>
          <a:ea typeface="+mn-ea"/>
          <a:cs typeface="+mn-cs"/>
        </a:defRPr>
      </a:lvl4pPr>
      <a:lvl5pPr marL="7315932">
        <a:defRPr>
          <a:latin typeface="+mn-lt"/>
          <a:ea typeface="+mn-ea"/>
          <a:cs typeface="+mn-cs"/>
        </a:defRPr>
      </a:lvl5pPr>
      <a:lvl6pPr marL="9144914">
        <a:defRPr>
          <a:latin typeface="+mn-lt"/>
          <a:ea typeface="+mn-ea"/>
          <a:cs typeface="+mn-cs"/>
        </a:defRPr>
      </a:lvl6pPr>
      <a:lvl7pPr marL="10973897">
        <a:defRPr>
          <a:latin typeface="+mn-lt"/>
          <a:ea typeface="+mn-ea"/>
          <a:cs typeface="+mn-cs"/>
        </a:defRPr>
      </a:lvl7pPr>
      <a:lvl8pPr marL="12802880">
        <a:defRPr>
          <a:latin typeface="+mn-lt"/>
          <a:ea typeface="+mn-ea"/>
          <a:cs typeface="+mn-cs"/>
        </a:defRPr>
      </a:lvl8pPr>
      <a:lvl9pPr marL="14631863">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그림 17">
            <a:extLst>
              <a:ext uri="{FF2B5EF4-FFF2-40B4-BE49-F238E27FC236}">
                <a16:creationId xmlns:a16="http://schemas.microsoft.com/office/drawing/2014/main" id="{501F5EF4-6BA4-4D7D-9575-3041FBDA608D}"/>
              </a:ext>
            </a:extLst>
          </p:cNvPr>
          <p:cNvPicPr>
            <a:picLocks noChangeAspect="1"/>
          </p:cNvPicPr>
          <p:nvPr/>
        </p:nvPicPr>
        <p:blipFill>
          <a:blip r:embed="rId2"/>
          <a:stretch>
            <a:fillRect/>
          </a:stretch>
        </p:blipFill>
        <p:spPr>
          <a:xfrm>
            <a:off x="24510206" y="2141178"/>
            <a:ext cx="5181573" cy="3470677"/>
          </a:xfrm>
          <a:prstGeom prst="rect">
            <a:avLst/>
          </a:prstGeom>
        </p:spPr>
      </p:pic>
      <p:sp>
        <p:nvSpPr>
          <p:cNvPr id="2" name="object 2"/>
          <p:cNvSpPr txBox="1">
            <a:spLocks noGrp="1"/>
          </p:cNvSpPr>
          <p:nvPr>
            <p:ph type="title"/>
          </p:nvPr>
        </p:nvSpPr>
        <p:spPr>
          <a:xfrm>
            <a:off x="1194896" y="-110897"/>
            <a:ext cx="28039656" cy="4129425"/>
          </a:xfrm>
          <a:prstGeom prst="rect">
            <a:avLst/>
          </a:prstGeom>
        </p:spPr>
        <p:txBody>
          <a:bodyPr vert="horz" wrap="square" lIns="0" tIns="797649" rIns="0" bIns="0" rtlCol="0">
            <a:spAutoFit/>
          </a:bodyPr>
          <a:lstStyle/>
          <a:p>
            <a:r>
              <a:rPr lang="ko-KR" altLang="en-US" sz="6800" b="1" spc="50" dirty="0">
                <a:solidFill>
                  <a:srgbClr val="373362"/>
                </a:solidFill>
                <a:latin typeface="맑은 고딕"/>
                <a:ea typeface="맑은 고딕"/>
                <a:cs typeface="맑은 고딕"/>
              </a:rPr>
              <a:t>경찰 전용 동적 제로트러스트 접근제어 시스템</a:t>
            </a:r>
          </a:p>
          <a:p>
            <a:r>
              <a:rPr lang="ko-KR" altLang="en-US" sz="4000" spc="50" dirty="0">
                <a:solidFill>
                  <a:srgbClr val="373362"/>
                </a:solidFill>
                <a:latin typeface="맑은 고딕"/>
                <a:ea typeface="맑은 고딕"/>
                <a:cs typeface="맑은 고딕"/>
              </a:rPr>
              <a:t>내부자 위협 대응형 수사정보 보안 시스템</a:t>
            </a:r>
          </a:p>
        </p:txBody>
      </p:sp>
      <p:sp>
        <p:nvSpPr>
          <p:cNvPr id="13" name="직사각형 12">
            <a:extLst>
              <a:ext uri="{FF2B5EF4-FFF2-40B4-BE49-F238E27FC236}">
                <a16:creationId xmlns:a16="http://schemas.microsoft.com/office/drawing/2014/main" id="{1A92AF71-3D27-4DBE-DF1D-864EF5DB3D12}"/>
              </a:ext>
            </a:extLst>
          </p:cNvPr>
          <p:cNvSpPr/>
          <p:nvPr/>
        </p:nvSpPr>
        <p:spPr>
          <a:xfrm flipV="1">
            <a:off x="704810" y="5663119"/>
            <a:ext cx="28865591" cy="122892"/>
          </a:xfrm>
          <a:prstGeom prst="rect">
            <a:avLst/>
          </a:prstGeom>
          <a:solidFill>
            <a:srgbClr val="373362"/>
          </a:solidFill>
          <a:ln>
            <a:solidFill>
              <a:srgbClr val="3733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object 9"/>
          <p:cNvSpPr txBox="1">
            <a:spLocks noGrp="1"/>
          </p:cNvSpPr>
          <p:nvPr>
            <p:ph sz="half" idx="3"/>
          </p:nvPr>
        </p:nvSpPr>
        <p:spPr>
          <a:xfrm>
            <a:off x="435974" y="36413281"/>
            <a:ext cx="28798577" cy="5295718"/>
          </a:xfrm>
          <a:prstGeom prst="rect">
            <a:avLst/>
          </a:prstGeom>
        </p:spPr>
        <p:txBody>
          <a:bodyPr vert="horz" wrap="square" lIns="0" tIns="335317" rIns="0" bIns="0" rtlCol="0">
            <a:spAutoFit/>
          </a:bodyPr>
          <a:lstStyle/>
          <a:p>
            <a:pPr marL="0" indent="0">
              <a:spcBef>
                <a:spcPts val="0"/>
              </a:spcBef>
              <a:buNone/>
            </a:pPr>
            <a:r>
              <a:rPr lang="ko-KR" altLang="en-US" sz="4000" b="1" dirty="0">
                <a:solidFill>
                  <a:srgbClr val="373362"/>
                </a:solidFill>
                <a:latin typeface="맑은 고딕"/>
                <a:ea typeface="맑은 고딕"/>
                <a:cs typeface="맑은 고딕"/>
              </a:rPr>
              <a:t>종합 결과</a:t>
            </a:r>
          </a:p>
          <a:p>
            <a:pPr marL="457200" indent="-457200" algn="just">
              <a:spcBef>
                <a:spcPts val="900"/>
              </a:spcBef>
              <a:buFont typeface="Wingdings" panose="05000000000000000000" pitchFamily="2" charset="2"/>
              <a:buChar char="§"/>
            </a:pPr>
            <a:r>
              <a:rPr lang="ko-KR" altLang="en-US" sz="2100" b="1" dirty="0">
                <a:solidFill>
                  <a:srgbClr val="373362"/>
                </a:solidFill>
                <a:latin typeface="맑은 고딕"/>
                <a:ea typeface="맑은 고딕"/>
                <a:cs typeface="맑은 고딕"/>
              </a:rPr>
              <a:t>강점 및 한계 - </a:t>
            </a:r>
            <a:r>
              <a:rPr lang="ko-KR" altLang="en-US" sz="2100" dirty="0">
                <a:solidFill>
                  <a:srgbClr val="373362"/>
                </a:solidFill>
                <a:latin typeface="맑은 고딕"/>
                <a:ea typeface="맑은 고딕"/>
                <a:cs typeface="맑은 고딕"/>
              </a:rPr>
              <a:t>행위 기반의 실시간 사전 예방을 감사 가능하고 설명 가능한 4축 위험 모델, 실시간 튜닝 가능한 정책 임계값, 변조 방지 3계층 감사 추적과 함께 제공한다. 현재 검증은 단일 PostgreSQL 배포 환경에서 3개의 시나리오 기반 데모를 통해 이루어졌으며, ML 기반 위험 가중치 학습과 다기관 배포는 향후 과제이다.</a:t>
            </a:r>
          </a:p>
        </p:txBody>
      </p:sp>
      <p:sp>
        <p:nvSpPr>
          <p:cNvPr id="3" name="object 6">
            <a:extLst>
              <a:ext uri="{FF2B5EF4-FFF2-40B4-BE49-F238E27FC236}">
                <a16:creationId xmlns:a16="http://schemas.microsoft.com/office/drawing/2014/main" id="{C12336CF-AB29-0524-4A2E-6F190EABB3D1}"/>
              </a:ext>
            </a:extLst>
          </p:cNvPr>
          <p:cNvSpPr txBox="1"/>
          <p:nvPr/>
        </p:nvSpPr>
        <p:spPr>
          <a:xfrm>
            <a:off x="14913476" y="6191564"/>
            <a:ext cx="14174289" cy="22813941"/>
          </a:xfrm>
          <a:prstGeom prst="rect">
            <a:avLst/>
          </a:prstGeom>
        </p:spPr>
        <p:txBody>
          <a:bodyPr vert="horz" wrap="square" lIns="0" tIns="58423" rIns="0" bIns="0" rtlCol="0">
            <a:spAutoFit/>
          </a:bodyPr>
          <a:lstStyle/>
          <a:p>
            <a:pPr marL="0" indent="0">
              <a:spcBef>
                <a:spcPts val="0"/>
              </a:spcBef>
              <a:buNone/>
            </a:pPr>
            <a:r>
              <a:rPr lang="ko-KR" altLang="en-US" sz="4000" b="1" dirty="0">
                <a:solidFill>
                  <a:srgbClr val="373362"/>
                </a:solidFill>
                <a:latin typeface="맑은 고딕"/>
                <a:ea typeface="맑은 고딕"/>
                <a:cs typeface="맑은 고딕"/>
              </a:rPr>
              <a:t>5. 기능</a:t>
            </a:r>
          </a:p>
          <a:p>
            <a:pPr marL="514350" indent="-285750" algn="just">
              <a:lnSpc>
                <a:spcPct val="108000"/>
              </a:lnSpc>
              <a:spcBef>
                <a:spcPts val="1400"/>
              </a:spcBef>
              <a:buFont typeface="Wingdings" panose="05000000000000000000" pitchFamily="2" charset="2"/>
              <a:buChar char="§"/>
            </a:pPr>
            <a:r>
              <a:rPr lang="ko-KR" altLang="en-US" sz="2300" b="1" dirty="0">
                <a:solidFill>
                  <a:srgbClr val="373362"/>
                </a:solidFill>
                <a:latin typeface="맑은 고딕"/>
                <a:ea typeface="맑은 고딕"/>
                <a:cs typeface="맑은 고딕"/>
              </a:rPr>
              <a:t>NIST SP 800-207 매핑 &amp; 이중 안전망 - </a:t>
            </a:r>
            <a:r>
              <a:rPr lang="ko-KR" altLang="en-US" sz="2300" dirty="0">
                <a:solidFill>
                  <a:srgbClr val="373362"/>
                </a:solidFill>
                <a:latin typeface="맑은 고딕"/>
                <a:ea typeface="맑은 고딕"/>
                <a:cs typeface="맑은 고딕"/>
              </a:rPr>
              <a:t>제로트러스트 6대 원칙(Never Trust, Continuous Verify, Least Privilege, Assume Breach, Verify Explicitly, Audit Everything)은 각각 구체적인 기능으로 매핑된다 (Fig. 1). 점수화 이전에, 동시 기기 인증 실패 / 고위험 다운로드 / 불가능한 이동 패턴 / 허용되지 않은 위치라는 4가지 하드 규칙이 위험 점수와 무관하게 즉시 차단 및 감사 로그를 발생시킨다.</a:t>
            </a:r>
          </a:p>
          <a:p>
            <a:pPr marL="514350" indent="-285750" algn="just">
              <a:lnSpc>
                <a:spcPct val="108000"/>
              </a:lnSpc>
              <a:spcBef>
                <a:spcPts val="1000"/>
              </a:spcBef>
              <a:buFont typeface="Wingdings" panose="05000000000000000000" pitchFamily="2" charset="2"/>
              <a:buChar char="§"/>
            </a:pPr>
            <a:r>
              <a:rPr lang="ko-KR" altLang="en-US" sz="2300" b="1" dirty="0">
                <a:solidFill>
                  <a:srgbClr val="373362"/>
                </a:solidFill>
                <a:latin typeface="맑은 고딕"/>
                <a:ea typeface="맑은 고딕"/>
                <a:cs typeface="맑은 고딕"/>
              </a:rPr>
              <a:t>Break-Glass &amp; 3계층 감사 - </a:t>
            </a:r>
            <a:r>
              <a:rPr lang="ko-KR" altLang="en-US" sz="2300" dirty="0">
                <a:solidFill>
                  <a:srgbClr val="373362"/>
                </a:solidFill>
                <a:latin typeface="맑은 고딕"/>
                <a:ea typeface="맑은 고딕"/>
                <a:cs typeface="맑은 고딕"/>
              </a:rPr>
              <a:t>비상 접근은 MFA로 보호되며, 단일 리소스 또는 레벨4 이상 전체로 범위가 제한되고, 시간 제한(30분 TTL, 5분 유휴 시 자동 만료)과 이중 승인(자기 승인 불가)이 적용된다. 모든 행위는 operation, audit, sensitive 3개의 append-only 감사 계층에 기록된다.</a:t>
            </a:r>
          </a:p>
          <a:p>
            <a:pPr marL="0" indent="0">
              <a:spcBef>
                <a:spcPts val="2000"/>
              </a:spcBef>
              <a:buNone/>
            </a:pPr>
            <a:r>
              <a:rPr lang="ko-KR" altLang="en-US" sz="4000" b="1" dirty="0">
                <a:solidFill>
                  <a:srgbClr val="373362"/>
                </a:solidFill>
                <a:latin typeface="맑은 고딕"/>
                <a:ea typeface="맑은 고딕"/>
                <a:cs typeface="맑은 고딕"/>
              </a:rPr>
              <a:t>6. 차별점</a:t>
            </a:r>
          </a:p>
          <a:p>
            <a:pPr marL="514350" indent="-285750" algn="just">
              <a:lnSpc>
                <a:spcPct val="108000"/>
              </a:lnSpc>
              <a:spcBef>
                <a:spcPts val="1000"/>
              </a:spcBef>
              <a:buFont typeface="Wingdings" panose="05000000000000000000" pitchFamily="2" charset="2"/>
              <a:buChar char="§"/>
            </a:pPr>
            <a:r>
              <a:rPr lang="ko-KR" altLang="en-US" sz="2300" b="1" dirty="0">
                <a:solidFill>
                  <a:srgbClr val="373362"/>
                </a:solidFill>
                <a:latin typeface="맑은 고딕"/>
                <a:ea typeface="맑은 고딕"/>
                <a:cs typeface="맑은 고딕"/>
              </a:rPr>
              <a:t>3가지 신규 기여 - </a:t>
            </a:r>
            <a:r>
              <a:rPr lang="ko-KR" altLang="en-US" sz="2300" dirty="0">
                <a:solidFill>
                  <a:srgbClr val="373362"/>
                </a:solidFill>
                <a:latin typeface="맑은 고딕"/>
                <a:ea typeface="맑은 고딕"/>
                <a:cs typeface="맑은 고딕"/>
              </a:rPr>
              <a:t>(1) Confidence-Aware 결정은 불확실한 판단을 이진적 허용/차단 대신 추가 검증으로 수렴시킨다. (2) 4축 분리 점수화는 위험 가산과 업무적합도 감산을 독립적으로 감사 가능하게 유지한다. (3) 정책 임계값 외부화는 코드 재배포 없이 실시간 튜닝과 부서별 override를 가능하게 한다 (Fig. 3).</a:t>
            </a:r>
          </a:p>
          <a:p>
            <a:pPr marL="0" indent="0">
              <a:spcBef>
                <a:spcPts val="2000"/>
              </a:spcBef>
              <a:buNone/>
            </a:pPr>
            <a:r>
              <a:rPr lang="ko-KR" altLang="en-US" sz="4000" b="1" dirty="0">
                <a:solidFill>
                  <a:srgbClr val="373362"/>
                </a:solidFill>
                <a:latin typeface="맑은 고딕"/>
                <a:ea typeface="맑은 고딕"/>
                <a:cs typeface="맑은 고딕"/>
              </a:rPr>
              <a:t>7. 구현</a:t>
            </a:r>
          </a:p>
          <a:p>
            <a:pPr marL="514350" indent="-285750" algn="just">
              <a:lnSpc>
                <a:spcPct val="108000"/>
              </a:lnSpc>
              <a:spcBef>
                <a:spcPts val="1400"/>
              </a:spcBef>
              <a:buFont typeface="Wingdings" panose="05000000000000000000" pitchFamily="2" charset="2"/>
              <a:buChar char="§"/>
            </a:pPr>
            <a:r>
              <a:rPr lang="ko-KR" altLang="en-US" sz="2300" b="1" dirty="0">
                <a:solidFill>
                  <a:srgbClr val="373362"/>
                </a:solidFill>
                <a:latin typeface="맑은 고딕"/>
                <a:ea typeface="맑은 고딕"/>
                <a:cs typeface="맑은 고딕"/>
              </a:rPr>
              <a:t>스택 &amp; 5단계 결과 - </a:t>
            </a:r>
            <a:r>
              <a:rPr lang="ko-KR" altLang="en-US" sz="2300" dirty="0">
                <a:solidFill>
                  <a:srgbClr val="373362"/>
                </a:solidFill>
                <a:latin typeface="맑은 고딕"/>
                <a:ea typeface="맑은 고딕"/>
                <a:cs typeface="맑은 고딕"/>
              </a:rPr>
              <a:t>Tornado + PostgreSQL(21개 마이그레이션), pyotp 기반 TOTP MFA, iss/aud 클레임을 포함한 JWT 위에 구축되었다. 4축 위험 점수는 5단계로 분리된 행위 권한 및 데이터 마스킹으로 매핑된다 (Fig. 2).</a:t>
            </a:r>
          </a:p>
          <a:p>
            <a:pPr marL="514350" indent="-285750" algn="just">
              <a:lnSpc>
                <a:spcPct val="108000"/>
              </a:lnSpc>
              <a:spcBef>
                <a:spcPts val="1000"/>
              </a:spcBef>
              <a:buFont typeface="Wingdings" panose="05000000000000000000" pitchFamily="2" charset="2"/>
              <a:buChar char="§"/>
            </a:pPr>
            <a:r>
              <a:rPr lang="ko-KR" altLang="en-US" sz="2300" b="1" dirty="0">
                <a:solidFill>
                  <a:srgbClr val="373362"/>
                </a:solidFill>
                <a:latin typeface="맑은 고딕"/>
                <a:ea typeface="맑은 고딕"/>
                <a:cs typeface="맑은 고딕"/>
              </a:rPr>
              <a:t>3가지 데모 시나리오 - </a:t>
            </a:r>
            <a:r>
              <a:rPr lang="ko-KR" altLang="en-US" sz="2300" dirty="0">
                <a:solidFill>
                  <a:srgbClr val="373362"/>
                </a:solidFill>
                <a:latin typeface="맑은 고딕"/>
                <a:ea typeface="맑은 고딕"/>
                <a:cs typeface="맑은 고딕"/>
              </a:rPr>
              <a:t>(1) 비담당 사건 조회는 마스킹/워터마크 처리되고 낮은 신뢰도로 인해 다운로드가 차단된다. (2) 등록되지 않은 관할에서의 로그인은 인증 완료 전 위치 검증 단계에서 차단된다. (3) 비담당 사건에 대한 반복 접근은 행위 위험을 누적시켜 접근 수준과 권한이 실시간으로 하향 조정된다. 모든 시도는 완전히 감사된다.</a:t>
            </a:r>
          </a:p>
          <a:p>
            <a:pPr marL="0" indent="0">
              <a:spcBef>
                <a:spcPts val="2000"/>
              </a:spcBef>
              <a:buNone/>
            </a:pPr>
            <a:r>
              <a:rPr lang="ko-KR" altLang="en-US" sz="4000" b="1" dirty="0">
                <a:solidFill>
                  <a:srgbClr val="373362"/>
                </a:solidFill>
                <a:latin typeface="맑은 고딕"/>
                <a:ea typeface="맑은 고딕"/>
                <a:cs typeface="맑은 고딕"/>
              </a:rPr>
              <a:t>8. 장단점</a:t>
            </a:r>
          </a:p>
          <a:p>
            <a:pPr marL="514350" indent="-285750" algn="just">
              <a:lnSpc>
                <a:spcPct val="108000"/>
              </a:lnSpc>
              <a:spcBef>
                <a:spcPts val="1000"/>
              </a:spcBef>
              <a:buFont typeface="Wingdings" panose="05000000000000000000" pitchFamily="2" charset="2"/>
              <a:buChar char="§"/>
            </a:pPr>
            <a:r>
              <a:rPr lang="ko-KR" altLang="en-US" sz="2300" b="1" dirty="0">
                <a:solidFill>
                  <a:srgbClr val="373362"/>
                </a:solidFill>
                <a:latin typeface="맑은 고딕"/>
                <a:ea typeface="맑은 고딕"/>
                <a:cs typeface="맑은 고딕"/>
              </a:rPr>
              <a:t>강점 vs. 한계 - </a:t>
            </a:r>
            <a:r>
              <a:rPr lang="ko-KR" altLang="en-US" sz="2300" dirty="0">
                <a:solidFill>
                  <a:srgbClr val="373362"/>
                </a:solidFill>
                <a:latin typeface="맑은 고딕"/>
                <a:ea typeface="맑은 고딕"/>
                <a:cs typeface="맑은 고딕"/>
              </a:rPr>
              <a:t>실시간성, 설명 가능성, 실시간 튜닝, 전 과정에 대한 완전한 감사 기능을 갖춘 반면, 단일 PostgreSQL 배포와 규칙 기반 점수화는 운영 규모 검증이 아닌 3개의 데모 시나리오로 검증되었다. ML 기반 가중치 학습과 다기관 확산은 향후 과제이다.</a:t>
            </a:r>
          </a:p>
          <a:p>
            <a:pPr marL="0" indent="0">
              <a:spcBef>
                <a:spcPts val="2000"/>
              </a:spcBef>
              <a:buNone/>
            </a:pPr>
            <a:r>
              <a:rPr lang="ko-KR" altLang="en-US" sz="4000" b="1" dirty="0">
                <a:solidFill>
                  <a:srgbClr val="373362"/>
                </a:solidFill>
                <a:latin typeface="맑은 고딕"/>
                <a:ea typeface="맑은 고딕"/>
                <a:cs typeface="맑은 고딕"/>
              </a:rPr>
              <a:t>9. 기대효과</a:t>
            </a:r>
          </a:p>
          <a:p>
            <a:pPr marL="514350" indent="-285750" algn="just">
              <a:lnSpc>
                <a:spcPct val="108000"/>
              </a:lnSpc>
              <a:spcBef>
                <a:spcPts val="1000"/>
              </a:spcBef>
              <a:buFont typeface="Wingdings" panose="05000000000000000000" pitchFamily="2" charset="2"/>
              <a:buChar char="§"/>
            </a:pPr>
            <a:r>
              <a:rPr lang="ko-KR" altLang="en-US" sz="2300" b="1" dirty="0">
                <a:solidFill>
                  <a:srgbClr val="373362"/>
                </a:solidFill>
                <a:latin typeface="맑은 고딕"/>
                <a:ea typeface="맑은 고딕"/>
                <a:cs typeface="맑은 고딕"/>
              </a:rPr>
              <a:t>탐지에서 예방으로 - </a:t>
            </a:r>
            <a:r>
              <a:rPr lang="ko-KR" altLang="en-US" sz="2300" dirty="0">
                <a:solidFill>
                  <a:srgbClr val="373362"/>
                </a:solidFill>
                <a:latin typeface="맑은 고딕"/>
                <a:ea typeface="맑은 고딕"/>
                <a:cs typeface="맑은 고딕"/>
              </a:rPr>
              <a:t>행위 기반의 사전 예방, 5단계 마스킹, 지속적 재검증, 완전한 3계층 감사 가능성을 제공한다 (하단 요약 참조).</a:t>
            </a:r>
          </a:p>
        </p:txBody>
      </p:sp>
      <p:sp>
        <p:nvSpPr>
          <p:cNvPr id="14" name="TextBox 13">
            <a:extLst>
              <a:ext uri="{FF2B5EF4-FFF2-40B4-BE49-F238E27FC236}">
                <a16:creationId xmlns:a16="http://schemas.microsoft.com/office/drawing/2014/main" id="{FA81A7C5-982B-1946-AE2A-616455949AB2}"/>
              </a:ext>
            </a:extLst>
          </p:cNvPr>
          <p:cNvSpPr txBox="1"/>
          <p:nvPr/>
        </p:nvSpPr>
        <p:spPr>
          <a:xfrm>
            <a:off x="435974" y="6276912"/>
            <a:ext cx="14096503" cy="15983863"/>
          </a:xfrm>
          <a:prstGeom prst="rect">
            <a:avLst/>
          </a:prstGeom>
          <a:noFill/>
        </p:spPr>
        <p:txBody>
          <a:bodyPr wrap="square">
            <a:spAutoFit/>
          </a:bodyPr>
          <a:lstStyle/>
          <a:p>
            <a:pPr marL="0" indent="0">
              <a:spcBef>
                <a:spcPts val="0"/>
              </a:spcBef>
              <a:buNone/>
            </a:pPr>
            <a:r>
              <a:rPr lang="ko-KR" altLang="en-US" sz="4000" b="1" dirty="0">
                <a:solidFill>
                  <a:srgbClr val="373362"/>
                </a:solidFill>
                <a:latin typeface="맑은 고딕"/>
                <a:ea typeface="맑은 고딕"/>
                <a:cs typeface="맑은 고딕"/>
              </a:rPr>
              <a:t>1. 문제</a:t>
            </a:r>
          </a:p>
          <a:p>
            <a:pPr marL="514350" indent="-285750" algn="just">
              <a:lnSpc>
                <a:spcPct val="108000"/>
              </a:lnSpc>
              <a:spcBef>
                <a:spcPts val="1400"/>
              </a:spcBef>
              <a:buFont typeface="Wingdings" panose="05000000000000000000" pitchFamily="2" charset="2"/>
              <a:buChar char="§"/>
            </a:pPr>
            <a:r>
              <a:rPr lang="ko-KR" altLang="en-US" sz="2300" b="1" dirty="0">
                <a:solidFill>
                  <a:srgbClr val="373362"/>
                </a:solidFill>
                <a:latin typeface="맑은 고딕"/>
                <a:ea typeface="맑은 고딕"/>
                <a:cs typeface="맑은 고딕"/>
              </a:rPr>
              <a:t>반복되는 경찰 내부자 위협 - </a:t>
            </a:r>
            <a:r>
              <a:rPr lang="ko-KR" altLang="en-US" sz="2300" dirty="0">
                <a:solidFill>
                  <a:srgbClr val="373362"/>
                </a:solidFill>
                <a:latin typeface="맑은 고딕"/>
                <a:ea typeface="맑은 고딕"/>
                <a:cs typeface="맑은 고딕"/>
              </a:rPr>
              <a:t>실제 기소된 사례들은 동일한 패턴을 보인다: 권한을 가진 경찰관이 정당한 접근권을 남용하여 도피 중인 친구에게 사건 정보를 유출하거나, 관할 밖 조회를 청탁받아 수행한 뒤 결과를 유출하거나, 전출 이후에도 비담당 사건 파일을 반복 열람한다. 이 중 두 건은 실형으로 이어졌다.</a:t>
            </a:r>
          </a:p>
          <a:p>
            <a:pPr marL="0" indent="0">
              <a:spcBef>
                <a:spcPts val="2000"/>
              </a:spcBef>
              <a:buNone/>
            </a:pPr>
            <a:r>
              <a:rPr lang="ko-KR" altLang="en-US" sz="4000" b="1" dirty="0">
                <a:solidFill>
                  <a:srgbClr val="373362"/>
                </a:solidFill>
                <a:latin typeface="맑은 고딕"/>
                <a:ea typeface="맑은 고딕"/>
                <a:cs typeface="맑은 고딕"/>
              </a:rPr>
              <a:t>2. 기존 방식</a:t>
            </a:r>
          </a:p>
          <a:p>
            <a:pPr marL="514350" indent="-285750" algn="just">
              <a:lnSpc>
                <a:spcPct val="108000"/>
              </a:lnSpc>
              <a:spcBef>
                <a:spcPts val="1000"/>
              </a:spcBef>
              <a:buFont typeface="Wingdings" panose="05000000000000000000" pitchFamily="2" charset="2"/>
              <a:buChar char="§"/>
            </a:pPr>
            <a:r>
              <a:rPr lang="ko-KR" altLang="en-US" sz="2300" b="1" dirty="0">
                <a:solidFill>
                  <a:srgbClr val="373362"/>
                </a:solidFill>
                <a:latin typeface="맑은 고딕"/>
                <a:ea typeface="맑은 고딕"/>
                <a:cs typeface="맑은 고딕"/>
              </a:rPr>
              <a:t>정적 RBAC/ABAC - </a:t>
            </a:r>
            <a:r>
              <a:rPr lang="ko-KR" altLang="en-US" sz="2300" dirty="0">
                <a:solidFill>
                  <a:srgbClr val="373362"/>
                </a:solidFill>
                <a:latin typeface="맑은 고딕"/>
                <a:ea typeface="맑은 고딕"/>
                <a:cs typeface="맑은 고딕"/>
              </a:rPr>
              <a:t>기존 시스템은 로그인 시점에 고정된 역할 기반 권한을 부여하고, 로그아웃까지 전체 세션을 신뢰 상태로 간주하며, 기기/위치/행위 위험에 대한 지속적인 재검증이 없다. 인가되었지만 의심스러운 행위는 그대로 진행되며, 내부자 오남용은 사후 수동 감사를 통해서만 드러난다.</a:t>
            </a:r>
          </a:p>
          <a:p>
            <a:pPr marL="0" indent="0">
              <a:spcBef>
                <a:spcPts val="2000"/>
              </a:spcBef>
              <a:buNone/>
            </a:pPr>
            <a:r>
              <a:rPr lang="ko-KR" altLang="en-US" sz="4000" b="1" dirty="0">
                <a:solidFill>
                  <a:srgbClr val="373362"/>
                </a:solidFill>
                <a:latin typeface="맑은 고딕"/>
                <a:ea typeface="맑은 고딕"/>
                <a:cs typeface="맑은 고딕"/>
              </a:rPr>
              <a:t>3. 제안 구조</a:t>
            </a:r>
          </a:p>
          <a:p>
            <a:pPr marL="514350" indent="-285750" algn="just">
              <a:lnSpc>
                <a:spcPct val="108000"/>
              </a:lnSpc>
              <a:spcBef>
                <a:spcPts val="1000"/>
              </a:spcBef>
              <a:buFont typeface="Wingdings" panose="05000000000000000000" pitchFamily="2" charset="2"/>
              <a:buChar char="§"/>
            </a:pPr>
            <a:r>
              <a:rPr lang="ko-KR" altLang="en-US" sz="2300" b="1" dirty="0">
                <a:solidFill>
                  <a:srgbClr val="373362"/>
                </a:solidFill>
                <a:latin typeface="맑은 고딕"/>
                <a:ea typeface="맑은 고딕"/>
                <a:cs typeface="맑은 고딕"/>
              </a:rPr>
              <a:t>동적 제로트러스트 아키텍처 - </a:t>
            </a:r>
            <a:r>
              <a:rPr lang="ko-KR" altLang="en-US" sz="2300" dirty="0">
                <a:solidFill>
                  <a:srgbClr val="373362"/>
                </a:solidFill>
                <a:latin typeface="맑은 고딕"/>
                <a:ea typeface="맑은 고딕"/>
                <a:cs typeface="맑은 고딕"/>
              </a:rPr>
              <a:t>로그인은 더 이상 영구적인 신뢰를 의미하지 않는다. 모든 요청은 4개의 위험 축에 걸쳐 재검증되고, 5단계 위험 기반 접근 수준과 5레벨 데이터 마스킹으로 매핑되며, 3계층 append-only 감사 로그에 기록되고, 비상 상황을 위한 통제된 Break-Glass 경로가 마련된다 (Fig. 1).</a:t>
            </a:r>
          </a:p>
          <a:p>
            <a:pPr marL="0" indent="0">
              <a:spcBef>
                <a:spcPts val="2000"/>
              </a:spcBef>
              <a:buNone/>
            </a:pPr>
            <a:r>
              <a:rPr lang="ko-KR" altLang="en-US" sz="4000" b="1" dirty="0">
                <a:solidFill>
                  <a:srgbClr val="373362"/>
                </a:solidFill>
                <a:latin typeface="맑은 고딕"/>
                <a:ea typeface="맑은 고딕"/>
                <a:cs typeface="맑은 고딕"/>
              </a:rPr>
              <a:t>4. 정책 모델</a:t>
            </a:r>
          </a:p>
          <a:p>
            <a:pPr marL="514350" indent="-285750" algn="just">
              <a:lnSpc>
                <a:spcPct val="108000"/>
              </a:lnSpc>
              <a:spcBef>
                <a:spcPts val="1400"/>
              </a:spcBef>
              <a:buFont typeface="Wingdings" panose="05000000000000000000" pitchFamily="2" charset="2"/>
              <a:buChar char="§"/>
            </a:pPr>
            <a:r>
              <a:rPr lang="ko-KR" altLang="en-US" sz="2300" b="1" dirty="0">
                <a:solidFill>
                  <a:srgbClr val="373362"/>
                </a:solidFill>
                <a:latin typeface="맑은 고딕"/>
                <a:ea typeface="맑은 고딕"/>
                <a:cs typeface="맑은 고딕"/>
              </a:rPr>
              <a:t>4축 위험 점수화 - </a:t>
            </a:r>
            <a:r>
              <a:rPr lang="ko-KR" altLang="en-US" sz="2300" dirty="0">
                <a:solidFill>
                  <a:srgbClr val="373362"/>
                </a:solidFill>
                <a:latin typeface="맑은 고딕"/>
                <a:ea typeface="맑은 고딕"/>
                <a:cs typeface="맑은 고딕"/>
              </a:rPr>
              <a:t>객체 민감도, 환경, 행위 유형으로부터의 위험 가산값에서 업무적합도 감산값을 차감하여 하나의 위험 점수를 산출하고, 이를 5단계 접근/마스킹 레벨로 매핑한다 (Fig. 2).</a:t>
            </a:r>
          </a:p>
          <a:p>
            <a:pPr marL="514350" indent="-285750" algn="just">
              <a:lnSpc>
                <a:spcPct val="108000"/>
              </a:lnSpc>
              <a:spcBef>
                <a:spcPts val="1000"/>
              </a:spcBef>
              <a:buFont typeface="Wingdings" panose="05000000000000000000" pitchFamily="2" charset="2"/>
              <a:buChar char="§"/>
            </a:pPr>
            <a:r>
              <a:rPr lang="ko-KR" altLang="en-US" sz="2300" b="1" dirty="0">
                <a:solidFill>
                  <a:srgbClr val="373362"/>
                </a:solidFill>
                <a:latin typeface="맑은 고딕"/>
                <a:ea typeface="맑은 고딕"/>
                <a:cs typeface="맑은 고딕"/>
              </a:rPr>
              <a:t>Confidence-Aware 임계값 - </a:t>
            </a:r>
            <a:r>
              <a:rPr lang="ko-KR" altLang="en-US" sz="2300" dirty="0">
                <a:solidFill>
                  <a:srgbClr val="373362"/>
                </a:solidFill>
                <a:latin typeface="맑은 고딕"/>
                <a:ea typeface="맑은 고딕"/>
                <a:cs typeface="맑은 고딕"/>
              </a:rPr>
              <a:t>결정 신뢰도가 0.85 미만이면 결과는 보수적으로 상향 조정된다 (DENY -&gt; ADMIN-APPROVAL, ALLOW -&gt; VIEW-ONLY); 임계값은 외부화되어 운영 중 실시간 튜닝(5분 TTL)과 부서별 가중치 override가 코드 재배포 없이 가능하다 (Fig. 3).</a:t>
            </a:r>
          </a:p>
        </p:txBody>
      </p:sp>
      <p:sp>
        <p:nvSpPr>
          <p:cNvPr id="5" name="TextBox 4">
            <a:extLst>
              <a:ext uri="{FF2B5EF4-FFF2-40B4-BE49-F238E27FC236}">
                <a16:creationId xmlns:a16="http://schemas.microsoft.com/office/drawing/2014/main" id="{D5017946-4E8C-A50F-F98A-A4946BAD72A2}"/>
              </a:ext>
            </a:extLst>
          </p:cNvPr>
          <p:cNvSpPr txBox="1"/>
          <p:nvPr/>
        </p:nvSpPr>
        <p:spPr>
          <a:xfrm>
            <a:off x="4047855" y="3502285"/>
            <a:ext cx="22167596" cy="1821396"/>
          </a:xfrm>
          <a:prstGeom prst="rect">
            <a:avLst/>
          </a:prstGeom>
          <a:noFill/>
        </p:spPr>
        <p:txBody>
          <a:bodyPr wrap="square">
            <a:spAutoFit/>
          </a:bodyPr>
          <a:lstStyle/>
          <a:p>
            <a:r>
              <a:rPr lang="ko-KR" altLang="en-US" sz="3800" b="1" dirty="0">
                <a:solidFill>
                  <a:srgbClr val="373362"/>
                </a:solidFill>
                <a:latin typeface="맑은 고딕"/>
                <a:ea typeface="맑은 고딕"/>
                <a:cs typeface="맑은 고딕"/>
              </a:rPr>
              <a:t>무신뢰 보안단  |  정재홍 · 허준 · 홍준원   (지도교수: [지도교수명])</a:t>
            </a:r>
          </a:p>
          <a:p>
            <a:r>
              <a:rPr lang="ko-KR" altLang="en-US" sz="3000" dirty="0">
                <a:solidFill>
                  <a:srgbClr val="373362"/>
                </a:solidFill>
                <a:latin typeface="맑은 고딕"/>
                <a:ea typeface="맑은 고딕"/>
                <a:cs typeface="맑은 고딕"/>
              </a:rPr>
              <a:t>[학과명] / [학교명]</a:t>
            </a:r>
          </a:p>
        </p:txBody>
      </p:sp>
      <p:sp>
        <p:nvSpPr>
          <p:cNvPr id="24" name="직사각형 23">
            <a:extLst>
              <a:ext uri="{FF2B5EF4-FFF2-40B4-BE49-F238E27FC236}">
                <a16:creationId xmlns:a16="http://schemas.microsoft.com/office/drawing/2014/main" id="{7F0DF47E-C912-4489-2D0F-F9F898CA7124}"/>
              </a:ext>
            </a:extLst>
          </p:cNvPr>
          <p:cNvSpPr/>
          <p:nvPr/>
        </p:nvSpPr>
        <p:spPr>
          <a:xfrm>
            <a:off x="126206" y="294481"/>
            <a:ext cx="30022800" cy="42214800"/>
          </a:xfrm>
          <a:prstGeom prst="rect">
            <a:avLst/>
          </a:prstGeom>
          <a:noFill/>
          <a:ln w="76200">
            <a:solidFill>
              <a:srgbClr val="3733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6" name="직사각형 25">
            <a:extLst>
              <a:ext uri="{FF2B5EF4-FFF2-40B4-BE49-F238E27FC236}">
                <a16:creationId xmlns:a16="http://schemas.microsoft.com/office/drawing/2014/main" id="{43BB195A-03B4-46ED-9490-B06A2951022E}"/>
              </a:ext>
            </a:extLst>
          </p:cNvPr>
          <p:cNvSpPr/>
          <p:nvPr/>
        </p:nvSpPr>
        <p:spPr>
          <a:xfrm>
            <a:off x="438912" y="27111960"/>
            <a:ext cx="14100048" cy="1005840"/>
          </a:xfrm>
          <a:prstGeom prst="rect">
            <a:avLst/>
          </a:prstGeom>
          <a:noFill/>
          <a:ln>
            <a:noFill/>
          </a:ln>
        </p:spPr>
        <p:txBody>
          <a:bodyPr anchor="ctr">
            <a:normAutofit/>
          </a:bodyPr>
          <a:lstStyle/>
          <a:p>
            <a:pPr algn="ctr"/>
            <a:r>
              <a:rPr lang="ko-KR" altLang="en-US" sz="2200" b="1" dirty="0">
                <a:solidFill>
                  <a:srgbClr val="373362"/>
                </a:solidFill>
                <a:latin typeface="맑은 고딕"/>
                <a:ea typeface="맑은 고딕"/>
                <a:cs typeface="맑은 고딕"/>
              </a:rPr>
              <a:t>Fig. 1. </a:t>
            </a:r>
            <a:r>
              <a:rPr lang="ko-KR" altLang="en-US" sz="2200" dirty="0">
                <a:solidFill>
                  <a:srgbClr val="373362"/>
                </a:solidFill>
                <a:latin typeface="맑은 고딕"/>
                <a:ea typeface="맑은 고딕"/>
                <a:cs typeface="맑은 고딕"/>
              </a:rPr>
              <a:t>동적 제로트러스트 처리 파이프라인 - 즉시 차단 규칙(1단계) -&gt; 4축 위험 점수 -&gt; Confidence-Aware 5단계 결정(2단계) -&gt; 5단계 마스킹, Break-Glass는 통제된 비상 경로이며 모든 단계는 3계층 감사 추적에 기록된다</a:t>
            </a:r>
          </a:p>
        </p:txBody>
      </p:sp>
      <p:graphicFrame>
        <p:nvGraphicFramePr>
          <p:cNvPr id="28" name="Table 27"/>
          <p:cNvGraphicFramePr>
            <a:graphicFrameLocks noGrp="1"/>
          </p:cNvGraphicFramePr>
          <p:nvPr>
            <p:extLst>
              <p:ext uri="{D42A27DB-BD31-4B8C-83A1-F6EECF244321}">
                <p14:modId xmlns:p14="http://schemas.microsoft.com/office/powerpoint/2010/main" val="4217496398"/>
              </p:ext>
            </p:extLst>
          </p:nvPr>
        </p:nvGraphicFramePr>
        <p:xfrm>
          <a:off x="1197864" y="29535119"/>
          <a:ext cx="27889200" cy="42062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4630400">
                  <a:extLst>
                    <a:ext uri="{9D8B030D-6E8A-4147-A177-3AD203B41FA5}">
                      <a16:colId xmlns:a16="http://schemas.microsoft.com/office/drawing/2014/main" val="20002"/>
                    </a:ext>
                  </a:extLst>
                </a:gridCol>
                <a:gridCol w="7223760">
                  <a:extLst>
                    <a:ext uri="{9D8B030D-6E8A-4147-A177-3AD203B41FA5}">
                      <a16:colId xmlns:a16="http://schemas.microsoft.com/office/drawing/2014/main" val="20003"/>
                    </a:ext>
                  </a:extLst>
                </a:gridCol>
              </a:tblGrid>
              <a:tr h="701040">
                <a:tc>
                  <a:txBody>
                    <a:bodyPr/>
                    <a:lstStyle/>
                    <a:p>
                      <a:pPr algn="ctr"/>
                      <a:r>
                        <a:rPr sz="2000" b="1">
                          <a:solidFill>
                            <a:srgbClr val="FFFFFF"/>
                          </a:solidFill>
                          <a:latin typeface="맑은 고딕"/>
                          <a:ea typeface="맑은 고딕"/>
                          <a:cs typeface="맑은 고딕"/>
                        </a:rPr>
                        <a:t>접근 레벨</a:t>
                      </a:r>
                    </a:p>
                  </a:txBody>
                  <a:tcPr marL="137160" marR="137160" anchor="ctr">
                    <a:solidFill>
                      <a:srgbClr val="373362"/>
                    </a:solidFill>
                  </a:tcPr>
                </a:tc>
                <a:tc>
                  <a:txBody>
                    <a:bodyPr/>
                    <a:lstStyle/>
                    <a:p>
                      <a:pPr algn="ctr"/>
                      <a:r>
                        <a:rPr sz="2000" b="1">
                          <a:solidFill>
                            <a:srgbClr val="FFFFFF"/>
                          </a:solidFill>
                          <a:latin typeface="맑은 고딕"/>
                          <a:ea typeface="맑은 고딕"/>
                          <a:cs typeface="맑은 고딕"/>
                        </a:rPr>
                        <a:t>위험 점수 구간</a:t>
                      </a:r>
                    </a:p>
                  </a:txBody>
                  <a:tcPr marL="137160" marR="137160" anchor="ctr">
                    <a:solidFill>
                      <a:srgbClr val="373362"/>
                    </a:solidFill>
                  </a:tcPr>
                </a:tc>
                <a:tc>
                  <a:txBody>
                    <a:bodyPr/>
                    <a:lstStyle/>
                    <a:p>
                      <a:pPr algn="l"/>
                      <a:r>
                        <a:rPr sz="2000" b="1">
                          <a:solidFill>
                            <a:srgbClr val="FFFFFF"/>
                          </a:solidFill>
                          <a:latin typeface="맑은 고딕"/>
                          <a:ea typeface="맑은 고딕"/>
                          <a:cs typeface="맑은 고딕"/>
                        </a:rPr>
                        <a:t>행위 권한</a:t>
                      </a:r>
                    </a:p>
                  </a:txBody>
                  <a:tcPr marL="137160" marR="137160" anchor="ctr">
                    <a:solidFill>
                      <a:srgbClr val="373362"/>
                    </a:solidFill>
                  </a:tcPr>
                </a:tc>
                <a:tc>
                  <a:txBody>
                    <a:bodyPr/>
                    <a:lstStyle/>
                    <a:p>
                      <a:pPr algn="ctr"/>
                      <a:r>
                        <a:rPr sz="2000" b="1">
                          <a:solidFill>
                            <a:srgbClr val="FFFFFF"/>
                          </a:solidFill>
                          <a:latin typeface="맑은 고딕"/>
                          <a:ea typeface="맑은 고딕"/>
                          <a:cs typeface="맑은 고딕"/>
                        </a:rPr>
                        <a:t>마스킹 레벨</a:t>
                      </a:r>
                    </a:p>
                  </a:txBody>
                  <a:tcPr marL="137160" marR="137160" anchor="ctr">
                    <a:solidFill>
                      <a:srgbClr val="373362"/>
                    </a:solidFill>
                  </a:tcPr>
                </a:tc>
                <a:extLst>
                  <a:ext uri="{0D108BD9-81ED-4DB2-BD59-A6C34878D82A}">
                    <a16:rowId xmlns:a16="http://schemas.microsoft.com/office/drawing/2014/main" val="10000"/>
                  </a:ext>
                </a:extLst>
              </a:tr>
              <a:tr h="701040">
                <a:tc>
                  <a:txBody>
                    <a:bodyPr/>
                    <a:lstStyle/>
                    <a:p>
                      <a:pPr algn="ctr"/>
                      <a:r>
                        <a:rPr sz="2000" b="1">
                          <a:solidFill>
                            <a:srgbClr val="373362"/>
                          </a:solidFill>
                          <a:latin typeface="맑은 고딕"/>
                          <a:ea typeface="맑은 고딕"/>
                          <a:cs typeface="맑은 고딕"/>
                        </a:rPr>
                        <a:t>L1</a:t>
                      </a:r>
                    </a:p>
                  </a:txBody>
                  <a:tcPr marL="137160" marR="137160" anchor="ctr">
                    <a:solidFill>
                      <a:srgbClr val="FFFFFF"/>
                    </a:solidFill>
                  </a:tcPr>
                </a:tc>
                <a:tc>
                  <a:txBody>
                    <a:bodyPr/>
                    <a:lstStyle/>
                    <a:p>
                      <a:pPr algn="ctr"/>
                      <a:r>
                        <a:rPr sz="2000" b="0">
                          <a:solidFill>
                            <a:srgbClr val="373362"/>
                          </a:solidFill>
                          <a:latin typeface="맑은 고딕"/>
                          <a:ea typeface="맑은 고딕"/>
                          <a:cs typeface="맑은 고딕"/>
                        </a:rPr>
                        <a:t>0 - 25</a:t>
                      </a:r>
                    </a:p>
                  </a:txBody>
                  <a:tcPr marL="137160" marR="137160" anchor="ctr">
                    <a:solidFill>
                      <a:srgbClr val="FFFFFF"/>
                    </a:solidFill>
                  </a:tcPr>
                </a:tc>
                <a:tc>
                  <a:txBody>
                    <a:bodyPr/>
                    <a:lstStyle/>
                    <a:p>
                      <a:pPr algn="l"/>
                      <a:r>
                        <a:rPr sz="2000" b="0">
                          <a:solidFill>
                            <a:srgbClr val="373362"/>
                          </a:solidFill>
                          <a:latin typeface="맑은 고딕"/>
                          <a:ea typeface="맑은 고딕"/>
                          <a:cs typeface="맑은 고딕"/>
                        </a:rPr>
                        <a:t>전체 접근 - 조회 / 다운로드 / 복사 / 인쇄</a:t>
                      </a:r>
                    </a:p>
                  </a:txBody>
                  <a:tcPr marL="137160" marR="137160" anchor="ctr">
                    <a:solidFill>
                      <a:srgbClr val="FFFFFF"/>
                    </a:solidFill>
                  </a:tcPr>
                </a:tc>
                <a:tc>
                  <a:txBody>
                    <a:bodyPr/>
                    <a:lstStyle/>
                    <a:p>
                      <a:pPr algn="ctr"/>
                      <a:r>
                        <a:rPr sz="2000" b="0">
                          <a:solidFill>
                            <a:srgbClr val="373362"/>
                          </a:solidFill>
                          <a:latin typeface="맑은 고딕"/>
                          <a:ea typeface="맑은 고딕"/>
                          <a:cs typeface="맑은 고딕"/>
                        </a:rPr>
                        <a:t>마스킹 없음</a:t>
                      </a:r>
                    </a:p>
                  </a:txBody>
                  <a:tcPr marL="137160" marR="137160" anchor="ctr">
                    <a:solidFill>
                      <a:srgbClr val="FFFFFF"/>
                    </a:solidFill>
                  </a:tcPr>
                </a:tc>
                <a:extLst>
                  <a:ext uri="{0D108BD9-81ED-4DB2-BD59-A6C34878D82A}">
                    <a16:rowId xmlns:a16="http://schemas.microsoft.com/office/drawing/2014/main" val="10001"/>
                  </a:ext>
                </a:extLst>
              </a:tr>
              <a:tr h="701040">
                <a:tc>
                  <a:txBody>
                    <a:bodyPr/>
                    <a:lstStyle/>
                    <a:p>
                      <a:pPr algn="ctr"/>
                      <a:r>
                        <a:rPr sz="2000" b="1">
                          <a:solidFill>
                            <a:srgbClr val="373362"/>
                          </a:solidFill>
                          <a:latin typeface="맑은 고딕"/>
                          <a:ea typeface="맑은 고딕"/>
                          <a:cs typeface="맑은 고딕"/>
                        </a:rPr>
                        <a:t>L2</a:t>
                      </a:r>
                    </a:p>
                  </a:txBody>
                  <a:tcPr marL="137160" marR="137160" anchor="ctr">
                    <a:solidFill>
                      <a:srgbClr val="ECEAF4"/>
                    </a:solidFill>
                  </a:tcPr>
                </a:tc>
                <a:tc>
                  <a:txBody>
                    <a:bodyPr/>
                    <a:lstStyle/>
                    <a:p>
                      <a:pPr algn="ctr"/>
                      <a:r>
                        <a:rPr sz="2000" b="0">
                          <a:solidFill>
                            <a:srgbClr val="373362"/>
                          </a:solidFill>
                          <a:latin typeface="맑은 고딕"/>
                          <a:ea typeface="맑은 고딕"/>
                          <a:cs typeface="맑은 고딕"/>
                        </a:rPr>
                        <a:t>26 - 50</a:t>
                      </a:r>
                    </a:p>
                  </a:txBody>
                  <a:tcPr marL="137160" marR="137160" anchor="ctr">
                    <a:solidFill>
                      <a:srgbClr val="ECEAF4"/>
                    </a:solidFill>
                  </a:tcPr>
                </a:tc>
                <a:tc>
                  <a:txBody>
                    <a:bodyPr/>
                    <a:lstStyle/>
                    <a:p>
                      <a:pPr algn="l"/>
                      <a:r>
                        <a:rPr sz="2000" b="0">
                          <a:solidFill>
                            <a:srgbClr val="373362"/>
                          </a:solidFill>
                          <a:latin typeface="맑은 고딕"/>
                          <a:ea typeface="맑은 고딕"/>
                          <a:cs typeface="맑은 고딕"/>
                        </a:rPr>
                        <a:t>조회만 가능 - 다운로드 / 복사 / 인쇄 차단</a:t>
                      </a:r>
                    </a:p>
                  </a:txBody>
                  <a:tcPr marL="137160" marR="137160" anchor="ctr">
                    <a:solidFill>
                      <a:srgbClr val="ECEAF4"/>
                    </a:solidFill>
                  </a:tcPr>
                </a:tc>
                <a:tc>
                  <a:txBody>
                    <a:bodyPr/>
                    <a:lstStyle/>
                    <a:p>
                      <a:pPr algn="ctr"/>
                      <a:r>
                        <a:rPr sz="2000" b="0">
                          <a:solidFill>
                            <a:srgbClr val="373362"/>
                          </a:solidFill>
                          <a:latin typeface="맑은 고딕"/>
                          <a:ea typeface="맑은 고딕"/>
                          <a:cs typeface="맑은 고딕"/>
                        </a:rPr>
                        <a:t>워터마크 적용</a:t>
                      </a:r>
                    </a:p>
                  </a:txBody>
                  <a:tcPr marL="137160" marR="137160" anchor="ctr">
                    <a:solidFill>
                      <a:srgbClr val="ECEAF4"/>
                    </a:solidFill>
                  </a:tcPr>
                </a:tc>
                <a:extLst>
                  <a:ext uri="{0D108BD9-81ED-4DB2-BD59-A6C34878D82A}">
                    <a16:rowId xmlns:a16="http://schemas.microsoft.com/office/drawing/2014/main" val="10002"/>
                  </a:ext>
                </a:extLst>
              </a:tr>
              <a:tr h="701040">
                <a:tc>
                  <a:txBody>
                    <a:bodyPr/>
                    <a:lstStyle/>
                    <a:p>
                      <a:pPr algn="ctr"/>
                      <a:r>
                        <a:rPr sz="2000" b="1">
                          <a:solidFill>
                            <a:srgbClr val="373362"/>
                          </a:solidFill>
                          <a:latin typeface="맑은 고딕"/>
                          <a:ea typeface="맑은 고딕"/>
                          <a:cs typeface="맑은 고딕"/>
                        </a:rPr>
                        <a:t>L3</a:t>
                      </a:r>
                    </a:p>
                  </a:txBody>
                  <a:tcPr marL="137160" marR="137160" anchor="ctr">
                    <a:solidFill>
                      <a:srgbClr val="FFFFFF"/>
                    </a:solidFill>
                  </a:tcPr>
                </a:tc>
                <a:tc>
                  <a:txBody>
                    <a:bodyPr/>
                    <a:lstStyle/>
                    <a:p>
                      <a:pPr algn="ctr"/>
                      <a:r>
                        <a:rPr sz="2000" b="0">
                          <a:solidFill>
                            <a:srgbClr val="373362"/>
                          </a:solidFill>
                          <a:latin typeface="맑은 고딕"/>
                          <a:ea typeface="맑은 고딕"/>
                          <a:cs typeface="맑은 고딕"/>
                        </a:rPr>
                        <a:t>51 - 75</a:t>
                      </a:r>
                    </a:p>
                  </a:txBody>
                  <a:tcPr marL="137160" marR="137160" anchor="ctr">
                    <a:solidFill>
                      <a:srgbClr val="FFFFFF"/>
                    </a:solidFill>
                  </a:tcPr>
                </a:tc>
                <a:tc>
                  <a:txBody>
                    <a:bodyPr/>
                    <a:lstStyle/>
                    <a:p>
                      <a:pPr algn="l"/>
                      <a:r>
                        <a:rPr sz="2000" b="0">
                          <a:solidFill>
                            <a:srgbClr val="373362"/>
                          </a:solidFill>
                          <a:latin typeface="맑은 고딕"/>
                          <a:ea typeface="맑은 고딕"/>
                          <a:cs typeface="맑은 고딕"/>
                        </a:rPr>
                        <a:t>재인증 필요 - 재인증 후 조회 허용</a:t>
                      </a:r>
                    </a:p>
                  </a:txBody>
                  <a:tcPr marL="137160" marR="137160" anchor="ctr">
                    <a:solidFill>
                      <a:srgbClr val="FFFFFF"/>
                    </a:solidFill>
                  </a:tcPr>
                </a:tc>
                <a:tc>
                  <a:txBody>
                    <a:bodyPr/>
                    <a:lstStyle/>
                    <a:p>
                      <a:pPr algn="ctr"/>
                      <a:r>
                        <a:rPr sz="2000" b="0">
                          <a:solidFill>
                            <a:srgbClr val="373362"/>
                          </a:solidFill>
                          <a:latin typeface="맑은 고딕"/>
                          <a:ea typeface="맑은 고딕"/>
                          <a:cs typeface="맑은 고딕"/>
                        </a:rPr>
                        <a:t>부분 마스킹</a:t>
                      </a:r>
                    </a:p>
                  </a:txBody>
                  <a:tcPr marL="137160" marR="137160" anchor="ctr">
                    <a:solidFill>
                      <a:srgbClr val="FFFFFF"/>
                    </a:solidFill>
                  </a:tcPr>
                </a:tc>
                <a:extLst>
                  <a:ext uri="{0D108BD9-81ED-4DB2-BD59-A6C34878D82A}">
                    <a16:rowId xmlns:a16="http://schemas.microsoft.com/office/drawing/2014/main" val="10003"/>
                  </a:ext>
                </a:extLst>
              </a:tr>
              <a:tr h="701040">
                <a:tc>
                  <a:txBody>
                    <a:bodyPr/>
                    <a:lstStyle/>
                    <a:p>
                      <a:pPr algn="ctr"/>
                      <a:r>
                        <a:rPr sz="2000" b="1">
                          <a:solidFill>
                            <a:srgbClr val="373362"/>
                          </a:solidFill>
                          <a:latin typeface="맑은 고딕"/>
                          <a:ea typeface="맑은 고딕"/>
                          <a:cs typeface="맑은 고딕"/>
                        </a:rPr>
                        <a:t>L4</a:t>
                      </a:r>
                    </a:p>
                  </a:txBody>
                  <a:tcPr marL="137160" marR="137160" anchor="ctr">
                    <a:solidFill>
                      <a:srgbClr val="ECEAF4"/>
                    </a:solidFill>
                  </a:tcPr>
                </a:tc>
                <a:tc>
                  <a:txBody>
                    <a:bodyPr/>
                    <a:lstStyle/>
                    <a:p>
                      <a:pPr algn="ctr"/>
                      <a:r>
                        <a:rPr sz="2000" b="0">
                          <a:solidFill>
                            <a:srgbClr val="373362"/>
                          </a:solidFill>
                          <a:latin typeface="맑은 고딕"/>
                          <a:ea typeface="맑은 고딕"/>
                          <a:cs typeface="맑은 고딕"/>
                        </a:rPr>
                        <a:t>76 - 90</a:t>
                      </a:r>
                    </a:p>
                  </a:txBody>
                  <a:tcPr marL="137160" marR="137160" anchor="ctr">
                    <a:solidFill>
                      <a:srgbClr val="ECEAF4"/>
                    </a:solidFill>
                  </a:tcPr>
                </a:tc>
                <a:tc>
                  <a:txBody>
                    <a:bodyPr/>
                    <a:lstStyle/>
                    <a:p>
                      <a:pPr algn="l"/>
                      <a:r>
                        <a:rPr sz="2000" b="0">
                          <a:solidFill>
                            <a:srgbClr val="373362"/>
                          </a:solidFill>
                          <a:latin typeface="맑은 고딕"/>
                          <a:ea typeface="맑은 고딕"/>
                          <a:cs typeface="맑은 고딕"/>
                        </a:rPr>
                        <a:t>관리자 승인 필요 - 승인 시에만 다운로드</a:t>
                      </a:r>
                    </a:p>
                  </a:txBody>
                  <a:tcPr marL="137160" marR="137160" anchor="ctr">
                    <a:solidFill>
                      <a:srgbClr val="ECEAF4"/>
                    </a:solidFill>
                  </a:tcPr>
                </a:tc>
                <a:tc>
                  <a:txBody>
                    <a:bodyPr/>
                    <a:lstStyle/>
                    <a:p>
                      <a:pPr algn="ctr"/>
                      <a:r>
                        <a:rPr lang="ko-KR" altLang="en-US" sz="2000" b="0" dirty="0">
                          <a:solidFill>
                            <a:srgbClr val="373362"/>
                          </a:solidFill>
                          <a:latin typeface="맑은 고딕"/>
                          <a:ea typeface="맑은 고딕"/>
                          <a:cs typeface="맑은 고딕"/>
                        </a:rPr>
                        <a:t>관리자 승인 </a:t>
                      </a:r>
                      <a:r>
                        <a:rPr lang="ko-KR" altLang="en-US" sz="2000" b="0">
                          <a:solidFill>
                            <a:srgbClr val="373362"/>
                          </a:solidFill>
                          <a:latin typeface="맑은 고딕"/>
                          <a:ea typeface="맑은 고딕"/>
                          <a:cs typeface="맑은 고딕"/>
                        </a:rPr>
                        <a:t>시 접근 </a:t>
                      </a:r>
                      <a:r>
                        <a:rPr lang="ko-KR" altLang="en-US" sz="2000" b="0" dirty="0">
                          <a:solidFill>
                            <a:srgbClr val="373362"/>
                          </a:solidFill>
                          <a:latin typeface="맑은 고딕"/>
                          <a:ea typeface="맑은 고딕"/>
                          <a:cs typeface="맑은 고딕"/>
                        </a:rPr>
                        <a:t>가능</a:t>
                      </a:r>
                      <a:endParaRPr sz="2000" b="0" dirty="0">
                        <a:solidFill>
                          <a:srgbClr val="373362"/>
                        </a:solidFill>
                        <a:latin typeface="맑은 고딕"/>
                        <a:ea typeface="맑은 고딕"/>
                        <a:cs typeface="맑은 고딕"/>
                      </a:endParaRPr>
                    </a:p>
                  </a:txBody>
                  <a:tcPr marL="137160" marR="137160" anchor="ctr">
                    <a:solidFill>
                      <a:srgbClr val="ECEAF4"/>
                    </a:solidFill>
                  </a:tcPr>
                </a:tc>
                <a:extLst>
                  <a:ext uri="{0D108BD9-81ED-4DB2-BD59-A6C34878D82A}">
                    <a16:rowId xmlns:a16="http://schemas.microsoft.com/office/drawing/2014/main" val="10004"/>
                  </a:ext>
                </a:extLst>
              </a:tr>
              <a:tr h="701040">
                <a:tc>
                  <a:txBody>
                    <a:bodyPr/>
                    <a:lstStyle/>
                    <a:p>
                      <a:pPr algn="ctr"/>
                      <a:r>
                        <a:rPr sz="2000" b="1">
                          <a:solidFill>
                            <a:srgbClr val="373362"/>
                          </a:solidFill>
                          <a:latin typeface="맑은 고딕"/>
                          <a:ea typeface="맑은 고딕"/>
                          <a:cs typeface="맑은 고딕"/>
                        </a:rPr>
                        <a:t>L5</a:t>
                      </a:r>
                    </a:p>
                  </a:txBody>
                  <a:tcPr marL="137160" marR="137160" anchor="ctr">
                    <a:solidFill>
                      <a:srgbClr val="FFFFFF"/>
                    </a:solidFill>
                  </a:tcPr>
                </a:tc>
                <a:tc>
                  <a:txBody>
                    <a:bodyPr/>
                    <a:lstStyle/>
                    <a:p>
                      <a:pPr algn="ctr"/>
                      <a:r>
                        <a:rPr sz="2000" b="0">
                          <a:solidFill>
                            <a:srgbClr val="373362"/>
                          </a:solidFill>
                          <a:latin typeface="맑은 고딕"/>
                          <a:ea typeface="맑은 고딕"/>
                          <a:cs typeface="맑은 고딕"/>
                        </a:rPr>
                        <a:t>91 +</a:t>
                      </a:r>
                    </a:p>
                  </a:txBody>
                  <a:tcPr marL="137160" marR="137160" anchor="ctr">
                    <a:solidFill>
                      <a:srgbClr val="FFFFFF"/>
                    </a:solidFill>
                  </a:tcPr>
                </a:tc>
                <a:tc>
                  <a:txBody>
                    <a:bodyPr/>
                    <a:lstStyle/>
                    <a:p>
                      <a:pPr algn="l"/>
                      <a:r>
                        <a:rPr sz="2000" b="0">
                          <a:solidFill>
                            <a:srgbClr val="373362"/>
                          </a:solidFill>
                          <a:latin typeface="맑은 고딕"/>
                          <a:ea typeface="맑은 고딕"/>
                          <a:cs typeface="맑은 고딕"/>
                        </a:rPr>
                        <a:t>즉시 차단 - 모든 행위 차단</a:t>
                      </a:r>
                    </a:p>
                  </a:txBody>
                  <a:tcPr marL="137160" marR="137160" anchor="ctr">
                    <a:solidFill>
                      <a:srgbClr val="FFFFFF"/>
                    </a:solidFill>
                  </a:tcPr>
                </a:tc>
                <a:tc>
                  <a:txBody>
                    <a:bodyPr/>
                    <a:lstStyle/>
                    <a:p>
                      <a:pPr algn="ctr"/>
                      <a:r>
                        <a:rPr sz="2000" b="0" dirty="0" err="1">
                          <a:solidFill>
                            <a:srgbClr val="373362"/>
                          </a:solidFill>
                          <a:latin typeface="맑은 고딕"/>
                          <a:ea typeface="맑은 고딕"/>
                          <a:cs typeface="맑은 고딕"/>
                        </a:rPr>
                        <a:t>완전</a:t>
                      </a:r>
                      <a:r>
                        <a:rPr sz="2000" b="0" dirty="0">
                          <a:solidFill>
                            <a:srgbClr val="373362"/>
                          </a:solidFill>
                          <a:latin typeface="맑은 고딕"/>
                          <a:ea typeface="맑은 고딕"/>
                          <a:cs typeface="맑은 고딕"/>
                        </a:rPr>
                        <a:t> </a:t>
                      </a:r>
                      <a:r>
                        <a:rPr sz="2000" b="0" dirty="0" err="1">
                          <a:solidFill>
                            <a:srgbClr val="373362"/>
                          </a:solidFill>
                          <a:latin typeface="맑은 고딕"/>
                          <a:ea typeface="맑은 고딕"/>
                          <a:cs typeface="맑은 고딕"/>
                        </a:rPr>
                        <a:t>차단</a:t>
                      </a:r>
                      <a:endParaRPr sz="2000" b="0" dirty="0">
                        <a:solidFill>
                          <a:srgbClr val="373362"/>
                        </a:solidFill>
                        <a:latin typeface="맑은 고딕"/>
                        <a:ea typeface="맑은 고딕"/>
                        <a:cs typeface="맑은 고딕"/>
                      </a:endParaRPr>
                    </a:p>
                  </a:txBody>
                  <a:tcPr marL="137160" marR="137160" anchor="ctr">
                    <a:solidFill>
                      <a:srgbClr val="FFFFFF"/>
                    </a:solidFill>
                  </a:tcPr>
                </a:tc>
                <a:extLst>
                  <a:ext uri="{0D108BD9-81ED-4DB2-BD59-A6C34878D82A}">
                    <a16:rowId xmlns:a16="http://schemas.microsoft.com/office/drawing/2014/main" val="10005"/>
                  </a:ext>
                </a:extLst>
              </a:tr>
            </a:tbl>
          </a:graphicData>
        </a:graphic>
      </p:graphicFrame>
      <p:sp>
        <p:nvSpPr>
          <p:cNvPr id="29" name="TextBox 28"/>
          <p:cNvSpPr txBox="1"/>
          <p:nvPr/>
        </p:nvSpPr>
        <p:spPr>
          <a:xfrm>
            <a:off x="1197864" y="33832800"/>
            <a:ext cx="27889200" cy="777240"/>
          </a:xfrm>
          <a:prstGeom prst="rect">
            <a:avLst/>
          </a:prstGeom>
          <a:noFill/>
        </p:spPr>
        <p:txBody>
          <a:bodyPr wrap="square">
            <a:spAutoFit/>
          </a:bodyPr>
          <a:lstStyle/>
          <a:p>
            <a:pPr algn="ctr"/>
            <a:r>
              <a:rPr lang="ko-KR" altLang="en-US" sz="2000" b="1" dirty="0">
                <a:solidFill>
                  <a:srgbClr val="373362"/>
                </a:solidFill>
                <a:latin typeface="맑은 고딕"/>
                <a:ea typeface="맑은 고딕"/>
                <a:cs typeface="맑은 고딕"/>
              </a:rPr>
              <a:t>Fig. 2. </a:t>
            </a:r>
            <a:r>
              <a:rPr lang="ko-KR" altLang="en-US" sz="2000" dirty="0">
                <a:solidFill>
                  <a:srgbClr val="373362"/>
                </a:solidFill>
                <a:latin typeface="맑은 고딕"/>
                <a:ea typeface="맑은 고딕"/>
                <a:cs typeface="맑은 고딕"/>
              </a:rPr>
              <a:t>위험 점수 구간별 5단계 접근 결과 및 마스킹 레벨 - Confidence-Aware 결정: 신뢰도가 0.85 미만이면 DENY는 ADMIN-APPROVAL로, ALLOW는 VIEW-ONLY로 상향 조정된다 (decision-engine.py + masking-engine.py)</a:t>
            </a:r>
          </a:p>
        </p:txBody>
      </p:sp>
      <p:graphicFrame>
        <p:nvGraphicFramePr>
          <p:cNvPr id="30" name="Table 29"/>
          <p:cNvGraphicFramePr>
            <a:graphicFrameLocks noGrp="1"/>
          </p:cNvGraphicFramePr>
          <p:nvPr/>
        </p:nvGraphicFramePr>
        <p:xfrm>
          <a:off x="548640" y="38862000"/>
          <a:ext cx="28529280" cy="2103120"/>
        </p:xfrm>
        <a:graphic>
          <a:graphicData uri="http://schemas.openxmlformats.org/drawingml/2006/table">
            <a:tbl>
              <a:tblPr bandRow="1">
                <a:tableStyleId>{5C22544A-7EE6-4342-B048-85BDC9FD1C3A}</a:tableStyleId>
              </a:tblPr>
              <a:tblGrid>
                <a:gridCol w="7132320">
                  <a:extLst>
                    <a:ext uri="{9D8B030D-6E8A-4147-A177-3AD203B41FA5}">
                      <a16:colId xmlns:a16="http://schemas.microsoft.com/office/drawing/2014/main" val="20000"/>
                    </a:ext>
                  </a:extLst>
                </a:gridCol>
                <a:gridCol w="7132320">
                  <a:extLst>
                    <a:ext uri="{9D8B030D-6E8A-4147-A177-3AD203B41FA5}">
                      <a16:colId xmlns:a16="http://schemas.microsoft.com/office/drawing/2014/main" val="20001"/>
                    </a:ext>
                  </a:extLst>
                </a:gridCol>
                <a:gridCol w="7132320">
                  <a:extLst>
                    <a:ext uri="{9D8B030D-6E8A-4147-A177-3AD203B41FA5}">
                      <a16:colId xmlns:a16="http://schemas.microsoft.com/office/drawing/2014/main" val="20002"/>
                    </a:ext>
                  </a:extLst>
                </a:gridCol>
                <a:gridCol w="7132320">
                  <a:extLst>
                    <a:ext uri="{9D8B030D-6E8A-4147-A177-3AD203B41FA5}">
                      <a16:colId xmlns:a16="http://schemas.microsoft.com/office/drawing/2014/main" val="20003"/>
                    </a:ext>
                  </a:extLst>
                </a:gridCol>
              </a:tblGrid>
              <a:tr h="548640">
                <a:tc>
                  <a:txBody>
                    <a:bodyPr/>
                    <a:lstStyle/>
                    <a:p>
                      <a:pPr algn="ctr"/>
                      <a:r>
                        <a:rPr sz="2200" b="1">
                          <a:solidFill>
                            <a:srgbClr val="FFFFFF"/>
                          </a:solidFill>
                          <a:latin typeface="맑은 고딕"/>
                          <a:ea typeface="맑은 고딕"/>
                          <a:cs typeface="맑은 고딕"/>
                        </a:rPr>
                        <a:t>사전 예방</a:t>
                      </a:r>
                    </a:p>
                  </a:txBody>
                  <a:tcPr anchor="ctr">
                    <a:solidFill>
                      <a:srgbClr val="373362"/>
                    </a:solidFill>
                  </a:tcPr>
                </a:tc>
                <a:tc>
                  <a:txBody>
                    <a:bodyPr/>
                    <a:lstStyle/>
                    <a:p>
                      <a:pPr algn="ctr"/>
                      <a:r>
                        <a:rPr sz="2200" b="1">
                          <a:solidFill>
                            <a:srgbClr val="FFFFFF"/>
                          </a:solidFill>
                          <a:latin typeface="맑은 고딕"/>
                          <a:ea typeface="맑은 고딕"/>
                          <a:cs typeface="맑은 고딕"/>
                        </a:rPr>
                        <a:t>노출 최소화</a:t>
                      </a:r>
                    </a:p>
                  </a:txBody>
                  <a:tcPr anchor="ctr">
                    <a:solidFill>
                      <a:srgbClr val="373362"/>
                    </a:solidFill>
                  </a:tcPr>
                </a:tc>
                <a:tc>
                  <a:txBody>
                    <a:bodyPr/>
                    <a:lstStyle/>
                    <a:p>
                      <a:pPr algn="ctr"/>
                      <a:r>
                        <a:rPr sz="2200" b="1">
                          <a:solidFill>
                            <a:srgbClr val="FFFFFF"/>
                          </a:solidFill>
                          <a:latin typeface="맑은 고딕"/>
                          <a:ea typeface="맑은 고딕"/>
                          <a:cs typeface="맑은 고딕"/>
                        </a:rPr>
                        <a:t>지속적 검증</a:t>
                      </a:r>
                    </a:p>
                  </a:txBody>
                  <a:tcPr anchor="ctr">
                    <a:solidFill>
                      <a:srgbClr val="373362"/>
                    </a:solidFill>
                  </a:tcPr>
                </a:tc>
                <a:tc>
                  <a:txBody>
                    <a:bodyPr/>
                    <a:lstStyle/>
                    <a:p>
                      <a:pPr algn="ctr"/>
                      <a:r>
                        <a:rPr sz="2200" b="1">
                          <a:solidFill>
                            <a:srgbClr val="FFFFFF"/>
                          </a:solidFill>
                          <a:latin typeface="맑은 고딕"/>
                          <a:ea typeface="맑은 고딕"/>
                          <a:cs typeface="맑은 고딕"/>
                        </a:rPr>
                        <a:t>완전한 감사 가능성</a:t>
                      </a:r>
                    </a:p>
                  </a:txBody>
                  <a:tcPr anchor="ctr">
                    <a:solidFill>
                      <a:srgbClr val="373362"/>
                    </a:solidFill>
                  </a:tcPr>
                </a:tc>
                <a:extLst>
                  <a:ext uri="{0D108BD9-81ED-4DB2-BD59-A6C34878D82A}">
                    <a16:rowId xmlns:a16="http://schemas.microsoft.com/office/drawing/2014/main" val="10000"/>
                  </a:ext>
                </a:extLst>
              </a:tr>
              <a:tr h="1554480">
                <a:tc>
                  <a:txBody>
                    <a:bodyPr/>
                    <a:lstStyle/>
                    <a:p>
                      <a:pPr algn="ctr"/>
                      <a:r>
                        <a:rPr sz="1800">
                          <a:solidFill>
                            <a:srgbClr val="373362"/>
                          </a:solidFill>
                          <a:latin typeface="맑은 고딕"/>
                          <a:ea typeface="맑은 고딕"/>
                          <a:cs typeface="맑은 고딕"/>
                        </a:rPr>
                        <a:t>행위 단계에서 실시간으로 내부자 오남용을 탐지하고 차단한다 (사후 탐지 -&gt; 사전 예방)</a:t>
                      </a:r>
                    </a:p>
                  </a:txBody>
                  <a:tcPr marT="73152" marB="73152" anchor="ctr">
                    <a:solidFill>
                      <a:srgbClr val="FFFFFF"/>
                    </a:solidFill>
                  </a:tcPr>
                </a:tc>
                <a:tc>
                  <a:txBody>
                    <a:bodyPr/>
                    <a:lstStyle/>
                    <a:p>
                      <a:pPr algn="ctr"/>
                      <a:r>
                        <a:rPr sz="1800">
                          <a:solidFill>
                            <a:srgbClr val="373362"/>
                          </a:solidFill>
                          <a:latin typeface="맑은 고딕"/>
                          <a:ea typeface="맑은 고딕"/>
                          <a:cs typeface="맑은 고딕"/>
                        </a:rPr>
                        <a:t>위험 기반 5단계 접근 + 5레벨 데이터 마스킹을 통해 정보 노출을 최소화한다</a:t>
                      </a:r>
                    </a:p>
                  </a:txBody>
                  <a:tcPr marT="73152" marB="73152" anchor="ctr">
                    <a:solidFill>
                      <a:srgbClr val="FFFFFF"/>
                    </a:solidFill>
                  </a:tcPr>
                </a:tc>
                <a:tc>
                  <a:txBody>
                    <a:bodyPr/>
                    <a:lstStyle/>
                    <a:p>
                      <a:pPr algn="ctr"/>
                      <a:r>
                        <a:rPr sz="1800">
                          <a:solidFill>
                            <a:srgbClr val="373362"/>
                          </a:solidFill>
                          <a:latin typeface="맑은 고딕"/>
                          <a:ea typeface="맑은 고딕"/>
                          <a:cs typeface="맑은 고딕"/>
                        </a:rPr>
                        <a:t>로그인 이후에도 세션을 지속적으로 재평가하고 재인증한다</a:t>
                      </a:r>
                    </a:p>
                  </a:txBody>
                  <a:tcPr marT="73152" marB="73152" anchor="ctr">
                    <a:solidFill>
                      <a:srgbClr val="FFFFFF"/>
                    </a:solidFill>
                  </a:tcPr>
                </a:tc>
                <a:tc>
                  <a:txBody>
                    <a:bodyPr/>
                    <a:lstStyle/>
                    <a:p>
                      <a:pPr algn="ctr"/>
                      <a:r>
                        <a:rPr sz="1800">
                          <a:solidFill>
                            <a:srgbClr val="373362"/>
                          </a:solidFill>
                          <a:latin typeface="맑은 고딕"/>
                          <a:ea typeface="맑은 고딕"/>
                          <a:cs typeface="맑은 고딕"/>
                        </a:rPr>
                        <a:t>3계층 append-only 로그가 모든 접근을 추적하고 무결성을 보장한다</a:t>
                      </a:r>
                    </a:p>
                  </a:txBody>
                  <a:tcPr marT="73152" marB="73152" anchor="ctr">
                    <a:solidFill>
                      <a:srgbClr val="FFFFFF"/>
                    </a:solidFill>
                  </a:tcPr>
                </a:tc>
                <a:extLst>
                  <a:ext uri="{0D108BD9-81ED-4DB2-BD59-A6C34878D82A}">
                    <a16:rowId xmlns:a16="http://schemas.microsoft.com/office/drawing/2014/main" val="10001"/>
                  </a:ext>
                </a:extLst>
              </a:tr>
            </a:tbl>
          </a:graphicData>
        </a:graphic>
      </p:graphicFrame>
      <p:sp>
        <p:nvSpPr>
          <p:cNvPr id="31" name="TextBox 30"/>
          <p:cNvSpPr txBox="1"/>
          <p:nvPr/>
        </p:nvSpPr>
        <p:spPr>
          <a:xfrm>
            <a:off x="3094961" y="20966974"/>
            <a:ext cx="8784291" cy="461665"/>
          </a:xfrm>
          <a:prstGeom prst="rect">
            <a:avLst/>
          </a:prstGeom>
          <a:noFill/>
        </p:spPr>
        <p:txBody>
          <a:bodyPr wrap="square">
            <a:spAutoFit/>
          </a:bodyPr>
          <a:lstStyle/>
          <a:p>
            <a:pPr algn="ctr"/>
            <a:r>
              <a:rPr sz="2400" b="1" i="0" dirty="0" err="1">
                <a:solidFill>
                  <a:srgbClr val="373362"/>
                </a:solidFill>
                <a:latin typeface="맑은 고딕"/>
                <a:ea typeface="맑은 고딕"/>
                <a:cs typeface="맑은 고딕"/>
              </a:rPr>
              <a:t>동적</a:t>
            </a:r>
            <a:r>
              <a:rPr sz="2400" b="1" i="0" dirty="0">
                <a:solidFill>
                  <a:srgbClr val="373362"/>
                </a:solidFill>
                <a:latin typeface="맑은 고딕"/>
                <a:ea typeface="맑은 고딕"/>
                <a:cs typeface="맑은 고딕"/>
              </a:rPr>
              <a:t> </a:t>
            </a:r>
            <a:r>
              <a:rPr sz="2400" b="1" i="0" dirty="0" err="1">
                <a:solidFill>
                  <a:srgbClr val="373362"/>
                </a:solidFill>
                <a:latin typeface="맑은 고딕"/>
                <a:ea typeface="맑은 고딕"/>
                <a:cs typeface="맑은 고딕"/>
              </a:rPr>
              <a:t>제로트러스트</a:t>
            </a:r>
            <a:r>
              <a:rPr sz="2400" b="1" i="0" dirty="0">
                <a:solidFill>
                  <a:srgbClr val="373362"/>
                </a:solidFill>
                <a:latin typeface="맑은 고딕"/>
                <a:ea typeface="맑은 고딕"/>
                <a:cs typeface="맑은 고딕"/>
              </a:rPr>
              <a:t> </a:t>
            </a:r>
            <a:r>
              <a:rPr sz="2400" b="1" i="0" dirty="0" err="1">
                <a:solidFill>
                  <a:srgbClr val="373362"/>
                </a:solidFill>
                <a:latin typeface="맑은 고딕"/>
                <a:ea typeface="맑은 고딕"/>
                <a:cs typeface="맑은 고딕"/>
              </a:rPr>
              <a:t>처리</a:t>
            </a:r>
            <a:r>
              <a:rPr sz="2400" b="1" i="0" dirty="0">
                <a:solidFill>
                  <a:srgbClr val="373362"/>
                </a:solidFill>
                <a:latin typeface="맑은 고딕"/>
                <a:ea typeface="맑은 고딕"/>
                <a:cs typeface="맑은 고딕"/>
              </a:rPr>
              <a:t> </a:t>
            </a:r>
            <a:r>
              <a:rPr sz="2400" b="1" i="0" dirty="0" err="1">
                <a:solidFill>
                  <a:srgbClr val="373362"/>
                </a:solidFill>
                <a:latin typeface="맑은 고딕"/>
                <a:ea typeface="맑은 고딕"/>
                <a:cs typeface="맑은 고딕"/>
              </a:rPr>
              <a:t>파이프라인</a:t>
            </a:r>
            <a:endParaRPr sz="2400" b="1" i="0" dirty="0">
              <a:solidFill>
                <a:srgbClr val="373362"/>
              </a:solidFill>
              <a:latin typeface="맑은 고딕"/>
              <a:ea typeface="맑은 고딕"/>
              <a:cs typeface="맑은 고딕"/>
            </a:endParaRPr>
          </a:p>
        </p:txBody>
      </p:sp>
      <p:sp>
        <p:nvSpPr>
          <p:cNvPr id="32" name="TextBox 31"/>
          <p:cNvSpPr txBox="1"/>
          <p:nvPr/>
        </p:nvSpPr>
        <p:spPr>
          <a:xfrm>
            <a:off x="2655746" y="21382699"/>
            <a:ext cx="1464048" cy="276999"/>
          </a:xfrm>
          <a:prstGeom prst="rect">
            <a:avLst/>
          </a:prstGeom>
          <a:noFill/>
        </p:spPr>
        <p:txBody>
          <a:bodyPr wrap="square">
            <a:spAutoFit/>
          </a:bodyPr>
          <a:lstStyle/>
          <a:p>
            <a:pPr algn="ctr"/>
            <a:r>
              <a:rPr sz="1200" b="0" i="1" dirty="0" err="1">
                <a:solidFill>
                  <a:srgbClr val="373362"/>
                </a:solidFill>
                <a:latin typeface="맑은 고딕"/>
                <a:ea typeface="맑은 고딕"/>
                <a:cs typeface="맑은 고딕"/>
              </a:rPr>
              <a:t>명시적</a:t>
            </a:r>
            <a:r>
              <a:rPr sz="1200" b="0" i="1" dirty="0">
                <a:solidFill>
                  <a:srgbClr val="373362"/>
                </a:solidFill>
                <a:latin typeface="맑은 고딕"/>
                <a:ea typeface="맑은 고딕"/>
                <a:cs typeface="맑은 고딕"/>
              </a:rPr>
              <a:t> </a:t>
            </a:r>
            <a:r>
              <a:rPr sz="1200" b="0" i="1" dirty="0" err="1">
                <a:solidFill>
                  <a:srgbClr val="373362"/>
                </a:solidFill>
                <a:latin typeface="맑은 고딕"/>
                <a:ea typeface="맑은 고딕"/>
                <a:cs typeface="맑은 고딕"/>
              </a:rPr>
              <a:t>검증</a:t>
            </a:r>
            <a:endParaRPr sz="1200" b="0" i="1" dirty="0">
              <a:solidFill>
                <a:srgbClr val="373362"/>
              </a:solidFill>
              <a:latin typeface="맑은 고딕"/>
              <a:ea typeface="맑은 고딕"/>
              <a:cs typeface="맑은 고딕"/>
            </a:endParaRPr>
          </a:p>
        </p:txBody>
      </p:sp>
      <p:sp>
        <p:nvSpPr>
          <p:cNvPr id="33" name="TextBox 32"/>
          <p:cNvSpPr txBox="1"/>
          <p:nvPr/>
        </p:nvSpPr>
        <p:spPr>
          <a:xfrm>
            <a:off x="4412605" y="21382699"/>
            <a:ext cx="1756858" cy="276999"/>
          </a:xfrm>
          <a:prstGeom prst="rect">
            <a:avLst/>
          </a:prstGeom>
          <a:noFill/>
        </p:spPr>
        <p:txBody>
          <a:bodyPr wrap="square">
            <a:spAutoFit/>
          </a:bodyPr>
          <a:lstStyle/>
          <a:p>
            <a:pPr algn="ctr"/>
            <a:r>
              <a:rPr sz="1200" b="0" i="1" dirty="0" err="1">
                <a:solidFill>
                  <a:srgbClr val="373362"/>
                </a:solidFill>
                <a:latin typeface="맑은 고딕"/>
                <a:ea typeface="맑은 고딕"/>
                <a:cs typeface="맑은 고딕"/>
              </a:rPr>
              <a:t>침해</a:t>
            </a:r>
            <a:r>
              <a:rPr sz="1200" b="0" i="1" dirty="0">
                <a:solidFill>
                  <a:srgbClr val="373362"/>
                </a:solidFill>
                <a:latin typeface="맑은 고딕"/>
                <a:ea typeface="맑은 고딕"/>
                <a:cs typeface="맑은 고딕"/>
              </a:rPr>
              <a:t> </a:t>
            </a:r>
            <a:r>
              <a:rPr sz="1200" b="0" i="1" dirty="0" err="1">
                <a:solidFill>
                  <a:srgbClr val="373362"/>
                </a:solidFill>
                <a:latin typeface="맑은 고딕"/>
                <a:ea typeface="맑은 고딕"/>
                <a:cs typeface="맑은 고딕"/>
              </a:rPr>
              <a:t>가정</a:t>
            </a:r>
            <a:endParaRPr sz="1200" b="0" i="1" dirty="0">
              <a:solidFill>
                <a:srgbClr val="373362"/>
              </a:solidFill>
              <a:latin typeface="맑은 고딕"/>
              <a:ea typeface="맑은 고딕"/>
              <a:cs typeface="맑은 고딕"/>
            </a:endParaRPr>
          </a:p>
        </p:txBody>
      </p:sp>
      <p:sp>
        <p:nvSpPr>
          <p:cNvPr id="34" name="TextBox 33"/>
          <p:cNvSpPr txBox="1"/>
          <p:nvPr/>
        </p:nvSpPr>
        <p:spPr>
          <a:xfrm>
            <a:off x="6462273" y="21382699"/>
            <a:ext cx="1756858" cy="276999"/>
          </a:xfrm>
          <a:prstGeom prst="rect">
            <a:avLst/>
          </a:prstGeom>
          <a:noFill/>
        </p:spPr>
        <p:txBody>
          <a:bodyPr wrap="square">
            <a:spAutoFit/>
          </a:bodyPr>
          <a:lstStyle/>
          <a:p>
            <a:pPr algn="ctr"/>
            <a:r>
              <a:rPr sz="1200" b="0" i="1" dirty="0" err="1">
                <a:solidFill>
                  <a:srgbClr val="373362"/>
                </a:solidFill>
                <a:latin typeface="맑은 고딕"/>
                <a:ea typeface="맑은 고딕"/>
                <a:cs typeface="맑은 고딕"/>
              </a:rPr>
              <a:t>신뢰</a:t>
            </a:r>
            <a:r>
              <a:rPr sz="1200" b="0" i="1" dirty="0">
                <a:solidFill>
                  <a:srgbClr val="373362"/>
                </a:solidFill>
                <a:latin typeface="맑은 고딕"/>
                <a:ea typeface="맑은 고딕"/>
                <a:cs typeface="맑은 고딕"/>
              </a:rPr>
              <a:t> </a:t>
            </a:r>
            <a:r>
              <a:rPr sz="1200" b="0" i="1" dirty="0" err="1">
                <a:solidFill>
                  <a:srgbClr val="373362"/>
                </a:solidFill>
                <a:latin typeface="맑은 고딕"/>
                <a:ea typeface="맑은 고딕"/>
                <a:cs typeface="맑은 고딕"/>
              </a:rPr>
              <a:t>금지</a:t>
            </a:r>
            <a:endParaRPr sz="1200" b="0" i="1" dirty="0">
              <a:solidFill>
                <a:srgbClr val="373362"/>
              </a:solidFill>
              <a:latin typeface="맑은 고딕"/>
              <a:ea typeface="맑은 고딕"/>
              <a:cs typeface="맑은 고딕"/>
            </a:endParaRPr>
          </a:p>
        </p:txBody>
      </p:sp>
      <p:sp>
        <p:nvSpPr>
          <p:cNvPr id="35" name="TextBox 34"/>
          <p:cNvSpPr txBox="1"/>
          <p:nvPr/>
        </p:nvSpPr>
        <p:spPr>
          <a:xfrm>
            <a:off x="8511940" y="21382699"/>
            <a:ext cx="1903263" cy="276999"/>
          </a:xfrm>
          <a:prstGeom prst="rect">
            <a:avLst/>
          </a:prstGeom>
          <a:noFill/>
        </p:spPr>
        <p:txBody>
          <a:bodyPr wrap="square">
            <a:spAutoFit/>
          </a:bodyPr>
          <a:lstStyle/>
          <a:p>
            <a:pPr algn="ctr"/>
            <a:r>
              <a:rPr sz="1200" b="0" i="1" dirty="0" err="1">
                <a:solidFill>
                  <a:srgbClr val="373362"/>
                </a:solidFill>
                <a:latin typeface="맑은 고딕"/>
                <a:ea typeface="맑은 고딕"/>
                <a:cs typeface="맑은 고딕"/>
              </a:rPr>
              <a:t>최소</a:t>
            </a:r>
            <a:r>
              <a:rPr sz="1200" b="0" i="1" dirty="0">
                <a:solidFill>
                  <a:srgbClr val="373362"/>
                </a:solidFill>
                <a:latin typeface="맑은 고딕"/>
                <a:ea typeface="맑은 고딕"/>
                <a:cs typeface="맑은 고딕"/>
              </a:rPr>
              <a:t> </a:t>
            </a:r>
            <a:r>
              <a:rPr sz="1200" b="0" i="1" dirty="0" err="1">
                <a:solidFill>
                  <a:srgbClr val="373362"/>
                </a:solidFill>
                <a:latin typeface="맑은 고딕"/>
                <a:ea typeface="맑은 고딕"/>
                <a:cs typeface="맑은 고딕"/>
              </a:rPr>
              <a:t>권한</a:t>
            </a:r>
            <a:endParaRPr sz="1200" b="0" i="1" dirty="0">
              <a:solidFill>
                <a:srgbClr val="373362"/>
              </a:solidFill>
              <a:latin typeface="맑은 고딕"/>
              <a:ea typeface="맑은 고딕"/>
              <a:cs typeface="맑은 고딕"/>
            </a:endParaRPr>
          </a:p>
        </p:txBody>
      </p:sp>
      <p:sp>
        <p:nvSpPr>
          <p:cNvPr id="36" name="TextBox 35"/>
          <p:cNvSpPr txBox="1"/>
          <p:nvPr/>
        </p:nvSpPr>
        <p:spPr>
          <a:xfrm>
            <a:off x="10708013" y="21382699"/>
            <a:ext cx="1610453" cy="276999"/>
          </a:xfrm>
          <a:prstGeom prst="rect">
            <a:avLst/>
          </a:prstGeom>
          <a:noFill/>
        </p:spPr>
        <p:txBody>
          <a:bodyPr wrap="square">
            <a:spAutoFit/>
          </a:bodyPr>
          <a:lstStyle/>
          <a:p>
            <a:pPr algn="ctr"/>
            <a:r>
              <a:rPr sz="1200" b="0" i="1" dirty="0" err="1">
                <a:solidFill>
                  <a:srgbClr val="373362"/>
                </a:solidFill>
                <a:latin typeface="맑은 고딕"/>
                <a:ea typeface="맑은 고딕"/>
                <a:cs typeface="맑은 고딕"/>
              </a:rPr>
              <a:t>최소</a:t>
            </a:r>
            <a:r>
              <a:rPr sz="1200" b="0" i="1" dirty="0">
                <a:solidFill>
                  <a:srgbClr val="373362"/>
                </a:solidFill>
                <a:latin typeface="맑은 고딕"/>
                <a:ea typeface="맑은 고딕"/>
                <a:cs typeface="맑은 고딕"/>
              </a:rPr>
              <a:t> </a:t>
            </a:r>
            <a:r>
              <a:rPr sz="1200" b="0" i="1" dirty="0" err="1">
                <a:solidFill>
                  <a:srgbClr val="373362"/>
                </a:solidFill>
                <a:latin typeface="맑은 고딕"/>
                <a:ea typeface="맑은 고딕"/>
                <a:cs typeface="맑은 고딕"/>
              </a:rPr>
              <a:t>권한</a:t>
            </a:r>
            <a:endParaRPr sz="1200" b="0" i="1" dirty="0">
              <a:solidFill>
                <a:srgbClr val="373362"/>
              </a:solidFill>
              <a:latin typeface="맑은 고딕"/>
              <a:ea typeface="맑은 고딕"/>
              <a:cs typeface="맑은 고딕"/>
            </a:endParaRPr>
          </a:p>
        </p:txBody>
      </p:sp>
      <p:sp>
        <p:nvSpPr>
          <p:cNvPr id="37" name="Rounded Rectangle 36"/>
          <p:cNvSpPr/>
          <p:nvPr/>
        </p:nvSpPr>
        <p:spPr>
          <a:xfrm>
            <a:off x="2655746" y="21623382"/>
            <a:ext cx="1464048" cy="1312817"/>
          </a:xfrm>
          <a:prstGeom prst="roundRect">
            <a:avLst>
              <a:gd name="adj" fmla="val 8000"/>
            </a:avLst>
          </a:prstGeom>
          <a:solidFill>
            <a:srgbClr val="FFFFFF"/>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err="1">
                <a:solidFill>
                  <a:srgbClr val="373362"/>
                </a:solidFill>
                <a:latin typeface="맑은 고딕"/>
                <a:ea typeface="맑은 고딕"/>
                <a:cs typeface="맑은 고딕"/>
              </a:rPr>
              <a:t>접근</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요청</a:t>
            </a:r>
            <a:endParaRPr sz="1200" b="1" dirty="0">
              <a:solidFill>
                <a:srgbClr val="373362"/>
              </a:solidFill>
              <a:latin typeface="맑은 고딕"/>
              <a:ea typeface="맑은 고딕"/>
              <a:cs typeface="맑은 고딕"/>
            </a:endParaRPr>
          </a:p>
          <a:p>
            <a:pPr algn="ctr">
              <a:lnSpc>
                <a:spcPct val="100000"/>
              </a:lnSpc>
            </a:pPr>
            <a:endParaRPr sz="1200" b="1" dirty="0">
              <a:solidFill>
                <a:srgbClr val="373362"/>
              </a:solidFill>
              <a:latin typeface="맑은 고딕"/>
              <a:ea typeface="맑은 고딕"/>
              <a:cs typeface="맑은 고딕"/>
            </a:endParaRPr>
          </a:p>
          <a:p>
            <a:pPr algn="ctr">
              <a:lnSpc>
                <a:spcPct val="100000"/>
              </a:lnSpc>
            </a:pPr>
            <a:r>
              <a:rPr sz="1200" b="1" dirty="0" err="1">
                <a:solidFill>
                  <a:srgbClr val="373362"/>
                </a:solidFill>
                <a:latin typeface="맑은 고딕"/>
                <a:ea typeface="맑은 고딕"/>
                <a:cs typeface="맑은 고딕"/>
              </a:rPr>
              <a:t>사용자</a:t>
            </a:r>
            <a:r>
              <a:rPr sz="1200" b="1" dirty="0">
                <a:solidFill>
                  <a:srgbClr val="373362"/>
                </a:solidFill>
                <a:latin typeface="맑은 고딕"/>
                <a:ea typeface="맑은 고딕"/>
                <a:cs typeface="맑은 고딕"/>
              </a:rPr>
              <a:t> / </a:t>
            </a:r>
            <a:r>
              <a:rPr sz="1200" b="1" dirty="0" err="1">
                <a:solidFill>
                  <a:srgbClr val="373362"/>
                </a:solidFill>
                <a:latin typeface="맑은 고딕"/>
                <a:ea typeface="맑은 고딕"/>
                <a:cs typeface="맑은 고딕"/>
              </a:rPr>
              <a:t>기기</a:t>
            </a:r>
            <a:r>
              <a:rPr sz="1200" b="1" dirty="0">
                <a:solidFill>
                  <a:srgbClr val="373362"/>
                </a:solidFill>
                <a:latin typeface="맑은 고딕"/>
                <a:ea typeface="맑은 고딕"/>
                <a:cs typeface="맑은 고딕"/>
              </a:rPr>
              <a:t> /</a:t>
            </a:r>
          </a:p>
          <a:p>
            <a:pPr algn="ctr">
              <a:lnSpc>
                <a:spcPct val="100000"/>
              </a:lnSpc>
            </a:pPr>
            <a:r>
              <a:rPr sz="1200" b="1" dirty="0" err="1">
                <a:solidFill>
                  <a:srgbClr val="373362"/>
                </a:solidFill>
                <a:latin typeface="맑은 고딕"/>
                <a:ea typeface="맑은 고딕"/>
                <a:cs typeface="맑은 고딕"/>
              </a:rPr>
              <a:t>위치</a:t>
            </a:r>
            <a:r>
              <a:rPr sz="1200" b="1" dirty="0">
                <a:solidFill>
                  <a:srgbClr val="373362"/>
                </a:solidFill>
                <a:latin typeface="맑은 고딕"/>
                <a:ea typeface="맑은 고딕"/>
                <a:cs typeface="맑은 고딕"/>
              </a:rPr>
              <a:t> / </a:t>
            </a:r>
            <a:r>
              <a:rPr sz="1200" b="1" dirty="0" err="1">
                <a:solidFill>
                  <a:srgbClr val="373362"/>
                </a:solidFill>
                <a:latin typeface="맑은 고딕"/>
                <a:ea typeface="맑은 고딕"/>
                <a:cs typeface="맑은 고딕"/>
              </a:rPr>
              <a:t>행위</a:t>
            </a:r>
            <a:endParaRPr sz="1200" b="1" dirty="0">
              <a:solidFill>
                <a:srgbClr val="373362"/>
              </a:solidFill>
              <a:latin typeface="맑은 고딕"/>
              <a:ea typeface="맑은 고딕"/>
              <a:cs typeface="맑은 고딕"/>
            </a:endParaRPr>
          </a:p>
        </p:txBody>
      </p:sp>
      <p:sp>
        <p:nvSpPr>
          <p:cNvPr id="38" name="Rounded Rectangle 37"/>
          <p:cNvSpPr/>
          <p:nvPr/>
        </p:nvSpPr>
        <p:spPr>
          <a:xfrm>
            <a:off x="4412605" y="21623382"/>
            <a:ext cx="1756858" cy="1312817"/>
          </a:xfrm>
          <a:prstGeom prst="roundRect">
            <a:avLst>
              <a:gd name="adj" fmla="val 8000"/>
            </a:avLst>
          </a:prstGeom>
          <a:solidFill>
            <a:srgbClr val="EFEDF6"/>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a:solidFill>
                  <a:srgbClr val="373362"/>
                </a:solidFill>
                <a:latin typeface="맑은 고딕"/>
                <a:ea typeface="맑은 고딕"/>
                <a:cs typeface="맑은 고딕"/>
              </a:rPr>
              <a:t>1단계:</a:t>
            </a:r>
          </a:p>
          <a:p>
            <a:pPr algn="ctr">
              <a:lnSpc>
                <a:spcPct val="100000"/>
              </a:lnSpc>
            </a:pPr>
            <a:r>
              <a:rPr sz="1200" b="1" dirty="0" err="1">
                <a:solidFill>
                  <a:srgbClr val="373362"/>
                </a:solidFill>
                <a:latin typeface="맑은 고딕"/>
                <a:ea typeface="맑은 고딕"/>
                <a:cs typeface="맑은 고딕"/>
              </a:rPr>
              <a:t>즉시</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차단</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규칙</a:t>
            </a:r>
            <a:endParaRPr sz="1200" b="1" dirty="0">
              <a:solidFill>
                <a:srgbClr val="373362"/>
              </a:solidFill>
              <a:latin typeface="맑은 고딕"/>
              <a:ea typeface="맑은 고딕"/>
              <a:cs typeface="맑은 고딕"/>
            </a:endParaRPr>
          </a:p>
          <a:p>
            <a:pPr algn="ctr">
              <a:lnSpc>
                <a:spcPct val="100000"/>
              </a:lnSpc>
            </a:pPr>
            <a:endParaRPr sz="1200" b="1" dirty="0">
              <a:solidFill>
                <a:srgbClr val="373362"/>
              </a:solidFill>
              <a:latin typeface="맑은 고딕"/>
              <a:ea typeface="맑은 고딕"/>
              <a:cs typeface="맑은 고딕"/>
            </a:endParaRPr>
          </a:p>
          <a:p>
            <a:pPr algn="ctr">
              <a:lnSpc>
                <a:spcPct val="100000"/>
              </a:lnSpc>
            </a:pPr>
            <a:r>
              <a:rPr sz="1200" b="1" dirty="0" err="1">
                <a:solidFill>
                  <a:srgbClr val="373362"/>
                </a:solidFill>
                <a:latin typeface="맑은 고딕"/>
                <a:ea typeface="맑은 고딕"/>
                <a:cs typeface="맑은 고딕"/>
              </a:rPr>
              <a:t>점수화</a:t>
            </a:r>
            <a:r>
              <a:rPr sz="1200" b="1" dirty="0">
                <a:solidFill>
                  <a:srgbClr val="373362"/>
                </a:solidFill>
                <a:latin typeface="맑은 고딕"/>
                <a:ea typeface="맑은 고딕"/>
                <a:cs typeface="맑은 고딕"/>
              </a:rPr>
              <a:t> 전</a:t>
            </a:r>
          </a:p>
          <a:p>
            <a:pPr algn="ctr">
              <a:lnSpc>
                <a:spcPct val="100000"/>
              </a:lnSpc>
            </a:pPr>
            <a:r>
              <a:rPr sz="1200" b="1" dirty="0">
                <a:solidFill>
                  <a:srgbClr val="373362"/>
                </a:solidFill>
                <a:latin typeface="맑은 고딕"/>
                <a:ea typeface="맑은 고딕"/>
                <a:cs typeface="맑은 고딕"/>
              </a:rPr>
              <a:t>4가지 </a:t>
            </a:r>
            <a:r>
              <a:rPr sz="1200" b="1" dirty="0" err="1">
                <a:solidFill>
                  <a:srgbClr val="373362"/>
                </a:solidFill>
                <a:latin typeface="맑은 고딕"/>
                <a:ea typeface="맑은 고딕"/>
                <a:cs typeface="맑은 고딕"/>
              </a:rPr>
              <a:t>하드</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규칙</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검사</a:t>
            </a:r>
            <a:endParaRPr sz="1200" b="1" dirty="0">
              <a:solidFill>
                <a:srgbClr val="373362"/>
              </a:solidFill>
              <a:latin typeface="맑은 고딕"/>
              <a:ea typeface="맑은 고딕"/>
              <a:cs typeface="맑은 고딕"/>
            </a:endParaRPr>
          </a:p>
        </p:txBody>
      </p:sp>
      <p:sp>
        <p:nvSpPr>
          <p:cNvPr id="39" name="Rounded Rectangle 38"/>
          <p:cNvSpPr/>
          <p:nvPr/>
        </p:nvSpPr>
        <p:spPr>
          <a:xfrm>
            <a:off x="6462273" y="21623382"/>
            <a:ext cx="1756858" cy="1312817"/>
          </a:xfrm>
          <a:prstGeom prst="roundRect">
            <a:avLst>
              <a:gd name="adj" fmla="val 8000"/>
            </a:avLst>
          </a:prstGeom>
          <a:solidFill>
            <a:srgbClr val="EFEDF6"/>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a:solidFill>
                  <a:srgbClr val="373362"/>
                </a:solidFill>
                <a:latin typeface="맑은 고딕"/>
                <a:ea typeface="맑은 고딕"/>
                <a:cs typeface="맑은 고딕"/>
              </a:rPr>
              <a:t>4축 </a:t>
            </a:r>
            <a:r>
              <a:rPr sz="1200" b="1" dirty="0" err="1">
                <a:solidFill>
                  <a:srgbClr val="373362"/>
                </a:solidFill>
                <a:latin typeface="맑은 고딕"/>
                <a:ea typeface="맑은 고딕"/>
                <a:cs typeface="맑은 고딕"/>
              </a:rPr>
              <a:t>위험</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점수</a:t>
            </a:r>
            <a:endParaRPr sz="1200" b="1" dirty="0">
              <a:solidFill>
                <a:srgbClr val="373362"/>
              </a:solidFill>
              <a:latin typeface="맑은 고딕"/>
              <a:ea typeface="맑은 고딕"/>
              <a:cs typeface="맑은 고딕"/>
            </a:endParaRPr>
          </a:p>
          <a:p>
            <a:pPr algn="ctr">
              <a:lnSpc>
                <a:spcPct val="100000"/>
              </a:lnSpc>
            </a:pPr>
            <a:endParaRPr sz="1200" b="1" dirty="0">
              <a:solidFill>
                <a:srgbClr val="373362"/>
              </a:solidFill>
              <a:latin typeface="맑은 고딕"/>
              <a:ea typeface="맑은 고딕"/>
              <a:cs typeface="맑은 고딕"/>
            </a:endParaRPr>
          </a:p>
          <a:p>
            <a:pPr algn="ctr">
              <a:lnSpc>
                <a:spcPct val="100000"/>
              </a:lnSpc>
            </a:pPr>
            <a:r>
              <a:rPr sz="1200" b="1" dirty="0" err="1">
                <a:solidFill>
                  <a:srgbClr val="373362"/>
                </a:solidFill>
                <a:latin typeface="맑은 고딕"/>
                <a:ea typeface="맑은 고딕"/>
                <a:cs typeface="맑은 고딕"/>
              </a:rPr>
              <a:t>객체</a:t>
            </a:r>
            <a:r>
              <a:rPr sz="1200" b="1" dirty="0">
                <a:solidFill>
                  <a:srgbClr val="373362"/>
                </a:solidFill>
                <a:latin typeface="맑은 고딕"/>
                <a:ea typeface="맑은 고딕"/>
                <a:cs typeface="맑은 고딕"/>
              </a:rPr>
              <a:t> + </a:t>
            </a:r>
            <a:r>
              <a:rPr sz="1200" b="1" dirty="0" err="1">
                <a:solidFill>
                  <a:srgbClr val="373362"/>
                </a:solidFill>
                <a:latin typeface="맑은 고딕"/>
                <a:ea typeface="맑은 고딕"/>
                <a:cs typeface="맑은 고딕"/>
              </a:rPr>
              <a:t>환경</a:t>
            </a:r>
            <a:r>
              <a:rPr sz="1200" b="1" dirty="0">
                <a:solidFill>
                  <a:srgbClr val="373362"/>
                </a:solidFill>
                <a:latin typeface="맑은 고딕"/>
                <a:ea typeface="맑은 고딕"/>
                <a:cs typeface="맑은 고딕"/>
              </a:rPr>
              <a:t> + </a:t>
            </a:r>
            <a:r>
              <a:rPr sz="1200" b="1" dirty="0" err="1">
                <a:solidFill>
                  <a:srgbClr val="373362"/>
                </a:solidFill>
                <a:latin typeface="맑은 고딕"/>
                <a:ea typeface="맑은 고딕"/>
                <a:cs typeface="맑은 고딕"/>
              </a:rPr>
              <a:t>행위</a:t>
            </a:r>
            <a:endParaRPr sz="1200" b="1" dirty="0">
              <a:solidFill>
                <a:srgbClr val="373362"/>
              </a:solidFill>
              <a:latin typeface="맑은 고딕"/>
              <a:ea typeface="맑은 고딕"/>
              <a:cs typeface="맑은 고딕"/>
            </a:endParaRPr>
          </a:p>
          <a:p>
            <a:pPr algn="ctr">
              <a:lnSpc>
                <a:spcPct val="100000"/>
              </a:lnSpc>
            </a:pP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업무적합도</a:t>
            </a:r>
            <a:endParaRPr sz="1200" b="1" dirty="0">
              <a:solidFill>
                <a:srgbClr val="373362"/>
              </a:solidFill>
              <a:latin typeface="맑은 고딕"/>
              <a:ea typeface="맑은 고딕"/>
              <a:cs typeface="맑은 고딕"/>
            </a:endParaRPr>
          </a:p>
        </p:txBody>
      </p:sp>
      <p:sp>
        <p:nvSpPr>
          <p:cNvPr id="40" name="Rounded Rectangle 39"/>
          <p:cNvSpPr/>
          <p:nvPr/>
        </p:nvSpPr>
        <p:spPr>
          <a:xfrm>
            <a:off x="8511940" y="21623382"/>
            <a:ext cx="1903263" cy="1312817"/>
          </a:xfrm>
          <a:prstGeom prst="roundRect">
            <a:avLst>
              <a:gd name="adj" fmla="val 8000"/>
            </a:avLst>
          </a:prstGeom>
          <a:solidFill>
            <a:srgbClr val="EFEDF6"/>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a:solidFill>
                  <a:srgbClr val="373362"/>
                </a:solidFill>
                <a:latin typeface="맑은 고딕"/>
                <a:ea typeface="맑은 고딕"/>
                <a:cs typeface="맑은 고딕"/>
              </a:rPr>
              <a:t>2단계:</a:t>
            </a:r>
          </a:p>
          <a:p>
            <a:pPr algn="ctr">
              <a:lnSpc>
                <a:spcPct val="100000"/>
              </a:lnSpc>
            </a:pPr>
            <a:r>
              <a:rPr sz="1200" b="1" dirty="0">
                <a:solidFill>
                  <a:srgbClr val="373362"/>
                </a:solidFill>
                <a:latin typeface="맑은 고딕"/>
                <a:ea typeface="맑은 고딕"/>
                <a:cs typeface="맑은 고딕"/>
              </a:rPr>
              <a:t>5단계 </a:t>
            </a:r>
            <a:r>
              <a:rPr sz="1200" b="1" dirty="0" err="1">
                <a:solidFill>
                  <a:srgbClr val="373362"/>
                </a:solidFill>
                <a:latin typeface="맑은 고딕"/>
                <a:ea typeface="맑은 고딕"/>
                <a:cs typeface="맑은 고딕"/>
              </a:rPr>
              <a:t>접근</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결정</a:t>
            </a:r>
            <a:endParaRPr sz="1200" b="1" dirty="0">
              <a:solidFill>
                <a:srgbClr val="373362"/>
              </a:solidFill>
              <a:latin typeface="맑은 고딕"/>
              <a:ea typeface="맑은 고딕"/>
              <a:cs typeface="맑은 고딕"/>
            </a:endParaRPr>
          </a:p>
          <a:p>
            <a:pPr algn="ctr">
              <a:lnSpc>
                <a:spcPct val="100000"/>
              </a:lnSpc>
            </a:pPr>
            <a:endParaRPr sz="1200" b="1" dirty="0">
              <a:solidFill>
                <a:srgbClr val="373362"/>
              </a:solidFill>
              <a:latin typeface="맑은 고딕"/>
              <a:ea typeface="맑은 고딕"/>
              <a:cs typeface="맑은 고딕"/>
            </a:endParaRPr>
          </a:p>
          <a:p>
            <a:pPr algn="ctr">
              <a:lnSpc>
                <a:spcPct val="100000"/>
              </a:lnSpc>
            </a:pPr>
            <a:r>
              <a:rPr sz="1200" b="1" dirty="0">
                <a:solidFill>
                  <a:srgbClr val="373362"/>
                </a:solidFill>
                <a:latin typeface="맑은 고딕"/>
                <a:ea typeface="맑은 고딕"/>
                <a:cs typeface="맑은 고딕"/>
              </a:rPr>
              <a:t>Confidence-Aware</a:t>
            </a:r>
          </a:p>
          <a:p>
            <a:pPr algn="ctr">
              <a:lnSpc>
                <a:spcPct val="100000"/>
              </a:lnSpc>
            </a:pPr>
            <a:r>
              <a:rPr sz="1200" b="1" dirty="0">
                <a:solidFill>
                  <a:srgbClr val="373362"/>
                </a:solidFill>
                <a:latin typeface="맑은 고딕"/>
                <a:ea typeface="맑은 고딕"/>
                <a:cs typeface="맑은 고딕"/>
              </a:rPr>
              <a:t>(&lt; 0.85 -&gt; </a:t>
            </a:r>
            <a:r>
              <a:rPr sz="1200" b="1" dirty="0" err="1">
                <a:solidFill>
                  <a:srgbClr val="373362"/>
                </a:solidFill>
                <a:latin typeface="맑은 고딕"/>
                <a:ea typeface="맑은 고딕"/>
                <a:cs typeface="맑은 고딕"/>
              </a:rPr>
              <a:t>상향</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조정</a:t>
            </a:r>
            <a:r>
              <a:rPr sz="1200" b="1" dirty="0">
                <a:solidFill>
                  <a:srgbClr val="373362"/>
                </a:solidFill>
                <a:latin typeface="맑은 고딕"/>
                <a:ea typeface="맑은 고딕"/>
                <a:cs typeface="맑은 고딕"/>
              </a:rPr>
              <a:t>)</a:t>
            </a:r>
          </a:p>
        </p:txBody>
      </p:sp>
      <p:sp>
        <p:nvSpPr>
          <p:cNvPr id="41" name="Rounded Rectangle 40"/>
          <p:cNvSpPr/>
          <p:nvPr/>
        </p:nvSpPr>
        <p:spPr>
          <a:xfrm>
            <a:off x="10708013" y="21623382"/>
            <a:ext cx="1610453" cy="1312817"/>
          </a:xfrm>
          <a:prstGeom prst="roundRect">
            <a:avLst>
              <a:gd name="adj" fmla="val 8000"/>
            </a:avLst>
          </a:prstGeom>
          <a:solidFill>
            <a:srgbClr val="EFEDF6"/>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a:solidFill>
                  <a:srgbClr val="373362"/>
                </a:solidFill>
                <a:latin typeface="맑은 고딕"/>
                <a:ea typeface="맑은 고딕"/>
                <a:cs typeface="맑은 고딕"/>
              </a:rPr>
              <a:t>5단계 </a:t>
            </a:r>
            <a:r>
              <a:rPr sz="1200" b="1" dirty="0" err="1">
                <a:solidFill>
                  <a:srgbClr val="373362"/>
                </a:solidFill>
                <a:latin typeface="맑은 고딕"/>
                <a:ea typeface="맑은 고딕"/>
                <a:cs typeface="맑은 고딕"/>
              </a:rPr>
              <a:t>데이터</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마스킹</a:t>
            </a:r>
            <a:endParaRPr sz="1200" b="1" dirty="0">
              <a:solidFill>
                <a:srgbClr val="373362"/>
              </a:solidFill>
              <a:latin typeface="맑은 고딕"/>
              <a:ea typeface="맑은 고딕"/>
              <a:cs typeface="맑은 고딕"/>
            </a:endParaRPr>
          </a:p>
          <a:p>
            <a:pPr algn="ctr">
              <a:lnSpc>
                <a:spcPct val="100000"/>
              </a:lnSpc>
            </a:pPr>
            <a:endParaRPr sz="1200" b="1" dirty="0">
              <a:solidFill>
                <a:srgbClr val="373362"/>
              </a:solidFill>
              <a:latin typeface="맑은 고딕"/>
              <a:ea typeface="맑은 고딕"/>
              <a:cs typeface="맑은 고딕"/>
            </a:endParaRPr>
          </a:p>
          <a:p>
            <a:pPr algn="ctr">
              <a:lnSpc>
                <a:spcPct val="100000"/>
              </a:lnSpc>
            </a:pPr>
            <a:r>
              <a:rPr sz="1200" b="1" dirty="0">
                <a:solidFill>
                  <a:srgbClr val="373362"/>
                </a:solidFill>
                <a:latin typeface="맑은 고딕"/>
                <a:ea typeface="맑은 고딕"/>
                <a:cs typeface="맑은 고딕"/>
              </a:rPr>
              <a:t>L1 </a:t>
            </a:r>
            <a:r>
              <a:rPr sz="1200" b="1" dirty="0" err="1">
                <a:solidFill>
                  <a:srgbClr val="373362"/>
                </a:solidFill>
                <a:latin typeface="맑은 고딕"/>
                <a:ea typeface="맑은 고딕"/>
                <a:cs typeface="맑은 고딕"/>
              </a:rPr>
              <a:t>없음</a:t>
            </a:r>
            <a:r>
              <a:rPr sz="1200" b="1" dirty="0">
                <a:solidFill>
                  <a:srgbClr val="373362"/>
                </a:solidFill>
                <a:latin typeface="맑은 고딕"/>
                <a:ea typeface="맑은 고딕"/>
                <a:cs typeface="맑은 고딕"/>
              </a:rPr>
              <a:t> -&gt; L5</a:t>
            </a:r>
          </a:p>
          <a:p>
            <a:pPr algn="ctr">
              <a:lnSpc>
                <a:spcPct val="100000"/>
              </a:lnSpc>
            </a:pPr>
            <a:r>
              <a:rPr sz="1200" b="1" dirty="0" err="1">
                <a:solidFill>
                  <a:srgbClr val="373362"/>
                </a:solidFill>
                <a:latin typeface="맑은 고딕"/>
                <a:ea typeface="맑은 고딕"/>
                <a:cs typeface="맑은 고딕"/>
              </a:rPr>
              <a:t>완전</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차단</a:t>
            </a:r>
            <a:endParaRPr sz="1200" b="1" dirty="0">
              <a:solidFill>
                <a:srgbClr val="373362"/>
              </a:solidFill>
              <a:latin typeface="맑은 고딕"/>
              <a:ea typeface="맑은 고딕"/>
              <a:cs typeface="맑은 고딕"/>
            </a:endParaRPr>
          </a:p>
        </p:txBody>
      </p:sp>
      <p:sp>
        <p:nvSpPr>
          <p:cNvPr id="42" name="Rounded Rectangle 41"/>
          <p:cNvSpPr/>
          <p:nvPr/>
        </p:nvSpPr>
        <p:spPr>
          <a:xfrm>
            <a:off x="4412605" y="23519674"/>
            <a:ext cx="1756858" cy="875211"/>
          </a:xfrm>
          <a:prstGeom prst="roundRect">
            <a:avLst>
              <a:gd name="adj" fmla="val 8000"/>
            </a:avLst>
          </a:prstGeom>
          <a:solidFill>
            <a:srgbClr val="F6E4E6"/>
          </a:solidFill>
          <a:ln w="15875">
            <a:solidFill>
              <a:srgbClr val="B23A48"/>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err="1">
                <a:solidFill>
                  <a:srgbClr val="B23A48"/>
                </a:solidFill>
                <a:latin typeface="맑은 고딕"/>
                <a:ea typeface="맑은 고딕"/>
                <a:cs typeface="맑은 고딕"/>
              </a:rPr>
              <a:t>즉시</a:t>
            </a:r>
            <a:r>
              <a:rPr sz="1200" b="1" dirty="0">
                <a:solidFill>
                  <a:srgbClr val="B23A48"/>
                </a:solidFill>
                <a:latin typeface="맑은 고딕"/>
                <a:ea typeface="맑은 고딕"/>
                <a:cs typeface="맑은 고딕"/>
              </a:rPr>
              <a:t> </a:t>
            </a:r>
            <a:r>
              <a:rPr sz="1200" b="1" dirty="0" err="1">
                <a:solidFill>
                  <a:srgbClr val="B23A48"/>
                </a:solidFill>
                <a:latin typeface="맑은 고딕"/>
                <a:ea typeface="맑은 고딕"/>
                <a:cs typeface="맑은 고딕"/>
              </a:rPr>
              <a:t>차단</a:t>
            </a:r>
            <a:endParaRPr sz="1200" b="1" dirty="0">
              <a:solidFill>
                <a:srgbClr val="B23A48"/>
              </a:solidFill>
              <a:latin typeface="맑은 고딕"/>
              <a:ea typeface="맑은 고딕"/>
              <a:cs typeface="맑은 고딕"/>
            </a:endParaRPr>
          </a:p>
          <a:p>
            <a:pPr algn="ctr">
              <a:lnSpc>
                <a:spcPct val="100000"/>
              </a:lnSpc>
            </a:pPr>
            <a:r>
              <a:rPr sz="1200" b="1" dirty="0">
                <a:solidFill>
                  <a:srgbClr val="B23A48"/>
                </a:solidFill>
                <a:latin typeface="맑은 고딕"/>
                <a:ea typeface="맑은 고딕"/>
                <a:cs typeface="맑은 고딕"/>
              </a:rPr>
              <a:t>+ </a:t>
            </a:r>
            <a:r>
              <a:rPr sz="1200" b="1" dirty="0" err="1">
                <a:solidFill>
                  <a:srgbClr val="B23A48"/>
                </a:solidFill>
                <a:latin typeface="맑은 고딕"/>
                <a:ea typeface="맑은 고딕"/>
                <a:cs typeface="맑은 고딕"/>
              </a:rPr>
              <a:t>관리자</a:t>
            </a:r>
            <a:r>
              <a:rPr sz="1200" b="1" dirty="0">
                <a:solidFill>
                  <a:srgbClr val="B23A48"/>
                </a:solidFill>
                <a:latin typeface="맑은 고딕"/>
                <a:ea typeface="맑은 고딕"/>
                <a:cs typeface="맑은 고딕"/>
              </a:rPr>
              <a:t> </a:t>
            </a:r>
            <a:r>
              <a:rPr sz="1200" b="1" dirty="0" err="1">
                <a:solidFill>
                  <a:srgbClr val="B23A48"/>
                </a:solidFill>
                <a:latin typeface="맑은 고딕"/>
                <a:ea typeface="맑은 고딕"/>
                <a:cs typeface="맑은 고딕"/>
              </a:rPr>
              <a:t>알림</a:t>
            </a:r>
            <a:endParaRPr sz="1200" b="1" dirty="0">
              <a:solidFill>
                <a:srgbClr val="B23A48"/>
              </a:solidFill>
              <a:latin typeface="맑은 고딕"/>
              <a:ea typeface="맑은 고딕"/>
              <a:cs typeface="맑은 고딕"/>
            </a:endParaRPr>
          </a:p>
          <a:p>
            <a:pPr algn="ctr">
              <a:lnSpc>
                <a:spcPct val="100000"/>
              </a:lnSpc>
            </a:pPr>
            <a:r>
              <a:rPr sz="1200" b="1" dirty="0">
                <a:solidFill>
                  <a:srgbClr val="B23A48"/>
                </a:solidFill>
                <a:latin typeface="맑은 고딕"/>
                <a:ea typeface="맑은 고딕"/>
                <a:cs typeface="맑은 고딕"/>
              </a:rPr>
              <a:t>(</a:t>
            </a:r>
            <a:r>
              <a:rPr sz="1200" b="1" dirty="0" err="1">
                <a:solidFill>
                  <a:srgbClr val="B23A48"/>
                </a:solidFill>
                <a:latin typeface="맑은 고딕"/>
                <a:ea typeface="맑은 고딕"/>
                <a:cs typeface="맑은 고딕"/>
              </a:rPr>
              <a:t>점수화</a:t>
            </a:r>
            <a:r>
              <a:rPr sz="1200" b="1" dirty="0">
                <a:solidFill>
                  <a:srgbClr val="B23A48"/>
                </a:solidFill>
                <a:latin typeface="맑은 고딕"/>
                <a:ea typeface="맑은 고딕"/>
                <a:cs typeface="맑은 고딕"/>
              </a:rPr>
              <a:t> </a:t>
            </a:r>
            <a:r>
              <a:rPr sz="1200" b="1" dirty="0" err="1">
                <a:solidFill>
                  <a:srgbClr val="B23A48"/>
                </a:solidFill>
                <a:latin typeface="맑은 고딕"/>
                <a:ea typeface="맑은 고딕"/>
                <a:cs typeface="맑은 고딕"/>
              </a:rPr>
              <a:t>우회</a:t>
            </a:r>
            <a:r>
              <a:rPr sz="1200" b="1" dirty="0">
                <a:solidFill>
                  <a:srgbClr val="B23A48"/>
                </a:solidFill>
                <a:latin typeface="맑은 고딕"/>
                <a:ea typeface="맑은 고딕"/>
                <a:cs typeface="맑은 고딕"/>
              </a:rPr>
              <a:t>)</a:t>
            </a:r>
          </a:p>
        </p:txBody>
      </p:sp>
      <p:sp>
        <p:nvSpPr>
          <p:cNvPr id="43" name="Rounded Rectangle 42"/>
          <p:cNvSpPr/>
          <p:nvPr/>
        </p:nvSpPr>
        <p:spPr>
          <a:xfrm>
            <a:off x="8511940" y="23519674"/>
            <a:ext cx="1903263" cy="875211"/>
          </a:xfrm>
          <a:prstGeom prst="roundRect">
            <a:avLst>
              <a:gd name="adj" fmla="val 8000"/>
            </a:avLst>
          </a:prstGeom>
          <a:solidFill>
            <a:srgbClr val="FBF3DC"/>
          </a:solidFill>
          <a:ln w="15875">
            <a:solidFill>
              <a:srgbClr val="A9821B"/>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050" b="1" dirty="0">
                <a:solidFill>
                  <a:srgbClr val="A9821B"/>
                </a:solidFill>
                <a:latin typeface="맑은 고딕"/>
                <a:ea typeface="맑은 고딕"/>
                <a:cs typeface="맑은 고딕"/>
              </a:rPr>
              <a:t>Break-Glass</a:t>
            </a:r>
          </a:p>
          <a:p>
            <a:pPr algn="ctr">
              <a:lnSpc>
                <a:spcPct val="100000"/>
              </a:lnSpc>
            </a:pPr>
            <a:r>
              <a:rPr sz="1050" b="1" dirty="0" err="1">
                <a:solidFill>
                  <a:srgbClr val="A9821B"/>
                </a:solidFill>
                <a:latin typeface="맑은 고딕"/>
                <a:ea typeface="맑은 고딕"/>
                <a:cs typeface="맑은 고딕"/>
              </a:rPr>
              <a:t>비상</a:t>
            </a:r>
            <a:r>
              <a:rPr sz="1050" b="1" dirty="0">
                <a:solidFill>
                  <a:srgbClr val="A9821B"/>
                </a:solidFill>
                <a:latin typeface="맑은 고딕"/>
                <a:ea typeface="맑은 고딕"/>
                <a:cs typeface="맑은 고딕"/>
              </a:rPr>
              <a:t> </a:t>
            </a:r>
            <a:r>
              <a:rPr sz="1050" b="1" dirty="0" err="1">
                <a:solidFill>
                  <a:srgbClr val="A9821B"/>
                </a:solidFill>
                <a:latin typeface="맑은 고딕"/>
                <a:ea typeface="맑은 고딕"/>
                <a:cs typeface="맑은 고딕"/>
              </a:rPr>
              <a:t>접근</a:t>
            </a:r>
            <a:endParaRPr sz="1050" b="1" dirty="0">
              <a:solidFill>
                <a:srgbClr val="A9821B"/>
              </a:solidFill>
              <a:latin typeface="맑은 고딕"/>
              <a:ea typeface="맑은 고딕"/>
              <a:cs typeface="맑은 고딕"/>
            </a:endParaRPr>
          </a:p>
          <a:p>
            <a:pPr algn="ctr">
              <a:lnSpc>
                <a:spcPct val="100000"/>
              </a:lnSpc>
            </a:pPr>
            <a:endParaRPr sz="1050" b="1" dirty="0">
              <a:solidFill>
                <a:srgbClr val="A9821B"/>
              </a:solidFill>
              <a:latin typeface="맑은 고딕"/>
              <a:ea typeface="맑은 고딕"/>
              <a:cs typeface="맑은 고딕"/>
            </a:endParaRPr>
          </a:p>
          <a:p>
            <a:pPr algn="ctr">
              <a:lnSpc>
                <a:spcPct val="100000"/>
              </a:lnSpc>
            </a:pPr>
            <a:r>
              <a:rPr sz="1050" b="1" dirty="0">
                <a:solidFill>
                  <a:srgbClr val="A9821B"/>
                </a:solidFill>
                <a:latin typeface="맑은 고딕"/>
                <a:ea typeface="맑은 고딕"/>
                <a:cs typeface="맑은 고딕"/>
              </a:rPr>
              <a:t>MFA / </a:t>
            </a:r>
            <a:r>
              <a:rPr sz="1050" b="1" dirty="0" err="1">
                <a:solidFill>
                  <a:srgbClr val="A9821B"/>
                </a:solidFill>
                <a:latin typeface="맑은 고딕"/>
                <a:ea typeface="맑은 고딕"/>
                <a:cs typeface="맑은 고딕"/>
              </a:rPr>
              <a:t>범위</a:t>
            </a:r>
            <a:r>
              <a:rPr sz="1050" b="1" dirty="0">
                <a:solidFill>
                  <a:srgbClr val="A9821B"/>
                </a:solidFill>
                <a:latin typeface="맑은 고딕"/>
                <a:ea typeface="맑은 고딕"/>
                <a:cs typeface="맑은 고딕"/>
              </a:rPr>
              <a:t> </a:t>
            </a:r>
            <a:r>
              <a:rPr sz="1050" b="1" dirty="0" err="1">
                <a:solidFill>
                  <a:srgbClr val="A9821B"/>
                </a:solidFill>
                <a:latin typeface="맑은 고딕"/>
                <a:ea typeface="맑은 고딕"/>
                <a:cs typeface="맑은 고딕"/>
              </a:rPr>
              <a:t>제한</a:t>
            </a:r>
            <a:r>
              <a:rPr sz="1050" b="1" dirty="0">
                <a:solidFill>
                  <a:srgbClr val="A9821B"/>
                </a:solidFill>
                <a:latin typeface="맑은 고딕"/>
                <a:ea typeface="맑은 고딕"/>
                <a:cs typeface="맑은 고딕"/>
              </a:rPr>
              <a:t> / 30분 TTL</a:t>
            </a:r>
          </a:p>
          <a:p>
            <a:pPr algn="ctr">
              <a:lnSpc>
                <a:spcPct val="100000"/>
              </a:lnSpc>
            </a:pPr>
            <a:r>
              <a:rPr sz="1050" b="1" dirty="0" err="1">
                <a:solidFill>
                  <a:srgbClr val="A9821B"/>
                </a:solidFill>
                <a:latin typeface="맑은 고딕"/>
                <a:ea typeface="맑은 고딕"/>
                <a:cs typeface="맑은 고딕"/>
              </a:rPr>
              <a:t>자기</a:t>
            </a:r>
            <a:r>
              <a:rPr sz="1050" b="1" dirty="0">
                <a:solidFill>
                  <a:srgbClr val="A9821B"/>
                </a:solidFill>
                <a:latin typeface="맑은 고딕"/>
                <a:ea typeface="맑은 고딕"/>
                <a:cs typeface="맑은 고딕"/>
              </a:rPr>
              <a:t> </a:t>
            </a:r>
            <a:r>
              <a:rPr sz="1050" b="1" dirty="0" err="1">
                <a:solidFill>
                  <a:srgbClr val="A9821B"/>
                </a:solidFill>
                <a:latin typeface="맑은 고딕"/>
                <a:ea typeface="맑은 고딕"/>
                <a:cs typeface="맑은 고딕"/>
              </a:rPr>
              <a:t>승인</a:t>
            </a:r>
            <a:r>
              <a:rPr sz="1050" b="1" dirty="0">
                <a:solidFill>
                  <a:srgbClr val="A9821B"/>
                </a:solidFill>
                <a:latin typeface="맑은 고딕"/>
                <a:ea typeface="맑은 고딕"/>
                <a:cs typeface="맑은 고딕"/>
              </a:rPr>
              <a:t> </a:t>
            </a:r>
            <a:r>
              <a:rPr sz="1050" b="1" dirty="0" err="1">
                <a:solidFill>
                  <a:srgbClr val="A9821B"/>
                </a:solidFill>
                <a:latin typeface="맑은 고딕"/>
                <a:ea typeface="맑은 고딕"/>
                <a:cs typeface="맑은 고딕"/>
              </a:rPr>
              <a:t>불가</a:t>
            </a:r>
            <a:endParaRPr sz="1050" b="1" dirty="0">
              <a:solidFill>
                <a:srgbClr val="A9821B"/>
              </a:solidFill>
              <a:latin typeface="맑은 고딕"/>
              <a:ea typeface="맑은 고딕"/>
              <a:cs typeface="맑은 고딕"/>
            </a:endParaRPr>
          </a:p>
        </p:txBody>
      </p:sp>
      <p:sp>
        <p:nvSpPr>
          <p:cNvPr id="44" name="Rounded Rectangle 43"/>
          <p:cNvSpPr/>
          <p:nvPr/>
        </p:nvSpPr>
        <p:spPr>
          <a:xfrm>
            <a:off x="2655746" y="24978360"/>
            <a:ext cx="9662720" cy="1021080"/>
          </a:xfrm>
          <a:prstGeom prst="roundRect">
            <a:avLst>
              <a:gd name="adj" fmla="val 8000"/>
            </a:avLst>
          </a:prstGeom>
          <a:solidFill>
            <a:srgbClr val="373362"/>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a:solidFill>
                  <a:srgbClr val="FFFFFF"/>
                </a:solidFill>
                <a:latin typeface="맑은 고딕"/>
                <a:ea typeface="맑은 고딕"/>
                <a:cs typeface="맑은 고딕"/>
              </a:rPr>
              <a:t>3계층 Append-Only </a:t>
            </a:r>
            <a:r>
              <a:rPr sz="1200" b="1" dirty="0" err="1">
                <a:solidFill>
                  <a:srgbClr val="FFFFFF"/>
                </a:solidFill>
                <a:latin typeface="맑은 고딕"/>
                <a:ea typeface="맑은 고딕"/>
                <a:cs typeface="맑은 고딕"/>
              </a:rPr>
              <a:t>감사</a:t>
            </a:r>
            <a:r>
              <a:rPr sz="1200" b="1" dirty="0">
                <a:solidFill>
                  <a:srgbClr val="FFFFFF"/>
                </a:solidFill>
                <a:latin typeface="맑은 고딕"/>
                <a:ea typeface="맑은 고딕"/>
                <a:cs typeface="맑은 고딕"/>
              </a:rPr>
              <a:t> </a:t>
            </a:r>
            <a:r>
              <a:rPr sz="1200" b="1" dirty="0" err="1">
                <a:solidFill>
                  <a:srgbClr val="FFFFFF"/>
                </a:solidFill>
                <a:latin typeface="맑은 고딕"/>
                <a:ea typeface="맑은 고딕"/>
                <a:cs typeface="맑은 고딕"/>
              </a:rPr>
              <a:t>로그</a:t>
            </a:r>
            <a:endParaRPr sz="1200" b="1" dirty="0">
              <a:solidFill>
                <a:srgbClr val="FFFFFF"/>
              </a:solidFill>
              <a:latin typeface="맑은 고딕"/>
              <a:ea typeface="맑은 고딕"/>
              <a:cs typeface="맑은 고딕"/>
            </a:endParaRPr>
          </a:p>
          <a:p>
            <a:pPr algn="ctr">
              <a:lnSpc>
                <a:spcPct val="100000"/>
              </a:lnSpc>
            </a:pPr>
            <a:r>
              <a:rPr sz="1200" b="1" dirty="0">
                <a:solidFill>
                  <a:srgbClr val="FFFFFF"/>
                </a:solidFill>
                <a:latin typeface="맑은 고딕"/>
                <a:ea typeface="맑은 고딕"/>
                <a:cs typeface="맑은 고딕"/>
              </a:rPr>
              <a:t>operation-logs (</a:t>
            </a:r>
            <a:r>
              <a:rPr sz="1200" b="1" dirty="0" err="1">
                <a:solidFill>
                  <a:srgbClr val="FFFFFF"/>
                </a:solidFill>
                <a:latin typeface="맑은 고딕"/>
                <a:ea typeface="맑은 고딕"/>
                <a:cs typeface="맑은 고딕"/>
              </a:rPr>
              <a:t>모든</a:t>
            </a:r>
            <a:r>
              <a:rPr sz="1200" b="1" dirty="0">
                <a:solidFill>
                  <a:srgbClr val="FFFFFF"/>
                </a:solidFill>
                <a:latin typeface="맑은 고딕"/>
                <a:ea typeface="맑은 고딕"/>
                <a:cs typeface="맑은 고딕"/>
              </a:rPr>
              <a:t> </a:t>
            </a:r>
            <a:r>
              <a:rPr sz="1200" b="1" dirty="0" err="1">
                <a:solidFill>
                  <a:srgbClr val="FFFFFF"/>
                </a:solidFill>
                <a:latin typeface="맑은 고딕"/>
                <a:ea typeface="맑은 고딕"/>
                <a:cs typeface="맑은 고딕"/>
              </a:rPr>
              <a:t>요청</a:t>
            </a:r>
            <a:r>
              <a:rPr sz="1200" b="1" dirty="0">
                <a:solidFill>
                  <a:srgbClr val="FFFFFF"/>
                </a:solidFill>
                <a:latin typeface="맑은 고딕"/>
                <a:ea typeface="맑은 고딕"/>
                <a:cs typeface="맑은 고딕"/>
              </a:rPr>
              <a:t>)  /  audit-logs (append-only, </a:t>
            </a:r>
            <a:r>
              <a:rPr sz="1200" b="1" dirty="0" err="1">
                <a:solidFill>
                  <a:srgbClr val="FFFFFF"/>
                </a:solidFill>
                <a:latin typeface="맑은 고딕"/>
                <a:ea typeface="맑은 고딕"/>
                <a:cs typeface="맑은 고딕"/>
              </a:rPr>
              <a:t>변조</a:t>
            </a:r>
            <a:r>
              <a:rPr sz="1200" b="1" dirty="0">
                <a:solidFill>
                  <a:srgbClr val="FFFFFF"/>
                </a:solidFill>
                <a:latin typeface="맑은 고딕"/>
                <a:ea typeface="맑은 고딕"/>
                <a:cs typeface="맑은 고딕"/>
              </a:rPr>
              <a:t> </a:t>
            </a:r>
            <a:r>
              <a:rPr sz="1200" b="1" dirty="0" err="1">
                <a:solidFill>
                  <a:srgbClr val="FFFFFF"/>
                </a:solidFill>
                <a:latin typeface="맑은 고딕"/>
                <a:ea typeface="맑은 고딕"/>
                <a:cs typeface="맑은 고딕"/>
              </a:rPr>
              <a:t>방지</a:t>
            </a:r>
            <a:r>
              <a:rPr sz="1200" b="1" dirty="0">
                <a:solidFill>
                  <a:srgbClr val="FFFFFF"/>
                </a:solidFill>
                <a:latin typeface="맑은 고딕"/>
                <a:ea typeface="맑은 고딕"/>
                <a:cs typeface="맑은 고딕"/>
              </a:rPr>
              <a:t>)  /  sensitive-logs (행 </a:t>
            </a:r>
            <a:r>
              <a:rPr sz="1200" b="1" dirty="0" err="1">
                <a:solidFill>
                  <a:srgbClr val="FFFFFF"/>
                </a:solidFill>
                <a:latin typeface="맑은 고딕"/>
                <a:ea typeface="맑은 고딕"/>
                <a:cs typeface="맑은 고딕"/>
              </a:rPr>
              <a:t>단위</a:t>
            </a:r>
            <a:r>
              <a:rPr sz="1200" b="1" dirty="0">
                <a:solidFill>
                  <a:srgbClr val="FFFFFF"/>
                </a:solidFill>
                <a:latin typeface="맑은 고딕"/>
                <a:ea typeface="맑은 고딕"/>
                <a:cs typeface="맑은 고딕"/>
              </a:rPr>
              <a:t> </a:t>
            </a:r>
            <a:r>
              <a:rPr sz="1200" b="1" dirty="0" err="1">
                <a:solidFill>
                  <a:srgbClr val="FFFFFF"/>
                </a:solidFill>
                <a:latin typeface="맑은 고딕"/>
                <a:ea typeface="맑은 고딕"/>
                <a:cs typeface="맑은 고딕"/>
              </a:rPr>
              <a:t>보안</a:t>
            </a:r>
            <a:r>
              <a:rPr sz="1200" b="1" dirty="0">
                <a:solidFill>
                  <a:srgbClr val="FFFFFF"/>
                </a:solidFill>
                <a:latin typeface="맑은 고딕"/>
                <a:ea typeface="맑은 고딕"/>
                <a:cs typeface="맑은 고딕"/>
              </a:rPr>
              <a:t>, </a:t>
            </a:r>
            <a:r>
              <a:rPr sz="1200" b="1" dirty="0" err="1">
                <a:solidFill>
                  <a:srgbClr val="FFFFFF"/>
                </a:solidFill>
                <a:latin typeface="맑은 고딕"/>
                <a:ea typeface="맑은 고딕"/>
                <a:cs typeface="맑은 고딕"/>
              </a:rPr>
              <a:t>삭제</a:t>
            </a:r>
            <a:r>
              <a:rPr sz="1200" b="1" dirty="0">
                <a:solidFill>
                  <a:srgbClr val="FFFFFF"/>
                </a:solidFill>
                <a:latin typeface="맑은 고딕"/>
                <a:ea typeface="맑은 고딕"/>
                <a:cs typeface="맑은 고딕"/>
              </a:rPr>
              <a:t> </a:t>
            </a:r>
            <a:r>
              <a:rPr sz="1200" b="1" dirty="0" err="1">
                <a:solidFill>
                  <a:srgbClr val="FFFFFF"/>
                </a:solidFill>
                <a:latin typeface="맑은 고딕"/>
                <a:ea typeface="맑은 고딕"/>
                <a:cs typeface="맑은 고딕"/>
              </a:rPr>
              <a:t>후에도</a:t>
            </a:r>
            <a:r>
              <a:rPr sz="1200" b="1" dirty="0">
                <a:solidFill>
                  <a:srgbClr val="FFFFFF"/>
                </a:solidFill>
                <a:latin typeface="맑은 고딕"/>
                <a:ea typeface="맑은 고딕"/>
                <a:cs typeface="맑은 고딕"/>
              </a:rPr>
              <a:t> </a:t>
            </a:r>
            <a:r>
              <a:rPr sz="1200" b="1" dirty="0" err="1">
                <a:solidFill>
                  <a:srgbClr val="FFFFFF"/>
                </a:solidFill>
                <a:latin typeface="맑은 고딕"/>
                <a:ea typeface="맑은 고딕"/>
                <a:cs typeface="맑은 고딕"/>
              </a:rPr>
              <a:t>보존</a:t>
            </a:r>
            <a:r>
              <a:rPr sz="1200" b="1" dirty="0">
                <a:solidFill>
                  <a:srgbClr val="FFFFFF"/>
                </a:solidFill>
                <a:latin typeface="맑은 고딕"/>
                <a:ea typeface="맑은 고딕"/>
                <a:cs typeface="맑은 고딕"/>
              </a:rPr>
              <a:t>)</a:t>
            </a:r>
          </a:p>
        </p:txBody>
      </p:sp>
      <p:sp>
        <p:nvSpPr>
          <p:cNvPr id="45" name="TextBox 44"/>
          <p:cNvSpPr txBox="1"/>
          <p:nvPr/>
        </p:nvSpPr>
        <p:spPr>
          <a:xfrm>
            <a:off x="2655746" y="26086961"/>
            <a:ext cx="9662720" cy="276999"/>
          </a:xfrm>
          <a:prstGeom prst="rect">
            <a:avLst/>
          </a:prstGeom>
          <a:noFill/>
        </p:spPr>
        <p:txBody>
          <a:bodyPr wrap="square">
            <a:spAutoFit/>
          </a:bodyPr>
          <a:lstStyle/>
          <a:p>
            <a:pPr algn="ctr"/>
            <a:r>
              <a:rPr sz="1200" b="0" i="1" dirty="0" err="1">
                <a:solidFill>
                  <a:srgbClr val="373362"/>
                </a:solidFill>
                <a:latin typeface="맑은 고딕"/>
                <a:ea typeface="맑은 고딕"/>
                <a:cs typeface="맑은 고딕"/>
              </a:rPr>
              <a:t>지속적</a:t>
            </a:r>
            <a:r>
              <a:rPr sz="1200" b="0" i="1" dirty="0">
                <a:solidFill>
                  <a:srgbClr val="373362"/>
                </a:solidFill>
                <a:latin typeface="맑은 고딕"/>
                <a:ea typeface="맑은 고딕"/>
                <a:cs typeface="맑은 고딕"/>
              </a:rPr>
              <a:t> </a:t>
            </a:r>
            <a:r>
              <a:rPr sz="1200" b="0" i="1" dirty="0" err="1">
                <a:solidFill>
                  <a:srgbClr val="373362"/>
                </a:solidFill>
                <a:latin typeface="맑은 고딕"/>
                <a:ea typeface="맑은 고딕"/>
                <a:cs typeface="맑은 고딕"/>
              </a:rPr>
              <a:t>검증</a:t>
            </a:r>
            <a:r>
              <a:rPr sz="1200" b="0" i="1" dirty="0">
                <a:solidFill>
                  <a:srgbClr val="373362"/>
                </a:solidFill>
                <a:latin typeface="맑은 고딕"/>
                <a:ea typeface="맑은 고딕"/>
                <a:cs typeface="맑은 고딕"/>
              </a:rPr>
              <a:t> + 전 </a:t>
            </a:r>
            <a:r>
              <a:rPr sz="1200" b="0" i="1" dirty="0" err="1">
                <a:solidFill>
                  <a:srgbClr val="373362"/>
                </a:solidFill>
                <a:latin typeface="맑은 고딕"/>
                <a:ea typeface="맑은 고딕"/>
                <a:cs typeface="맑은 고딕"/>
              </a:rPr>
              <a:t>과정</a:t>
            </a:r>
            <a:r>
              <a:rPr sz="1200" b="0" i="1" dirty="0">
                <a:solidFill>
                  <a:srgbClr val="373362"/>
                </a:solidFill>
                <a:latin typeface="맑은 고딕"/>
                <a:ea typeface="맑은 고딕"/>
                <a:cs typeface="맑은 고딕"/>
              </a:rPr>
              <a:t> </a:t>
            </a:r>
            <a:r>
              <a:rPr sz="1200" b="0" i="1" dirty="0" err="1">
                <a:solidFill>
                  <a:srgbClr val="373362"/>
                </a:solidFill>
                <a:latin typeface="맑은 고딕"/>
                <a:ea typeface="맑은 고딕"/>
                <a:cs typeface="맑은 고딕"/>
              </a:rPr>
              <a:t>감사</a:t>
            </a:r>
            <a:r>
              <a:rPr sz="1200" b="0" i="1" dirty="0">
                <a:solidFill>
                  <a:srgbClr val="373362"/>
                </a:solidFill>
                <a:latin typeface="맑은 고딕"/>
                <a:ea typeface="맑은 고딕"/>
                <a:cs typeface="맑은 고딕"/>
              </a:rPr>
              <a:t> (NIST SP 800-207)</a:t>
            </a:r>
          </a:p>
        </p:txBody>
      </p:sp>
      <p:cxnSp>
        <p:nvCxnSpPr>
          <p:cNvPr id="46" name="Connector 45"/>
          <p:cNvCxnSpPr/>
          <p:nvPr/>
        </p:nvCxnSpPr>
        <p:spPr>
          <a:xfrm>
            <a:off x="4119795" y="22279791"/>
            <a:ext cx="292810" cy="0"/>
          </a:xfrm>
          <a:prstGeom prst="line">
            <a:avLst/>
          </a:prstGeom>
          <a:ln w="15875">
            <a:solidFill>
              <a:srgbClr val="3733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69463" y="22279791"/>
            <a:ext cx="292810" cy="0"/>
          </a:xfrm>
          <a:prstGeom prst="line">
            <a:avLst/>
          </a:prstGeom>
          <a:ln w="15875">
            <a:solidFill>
              <a:srgbClr val="3733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219131" y="22279791"/>
            <a:ext cx="292809" cy="0"/>
          </a:xfrm>
          <a:prstGeom prst="line">
            <a:avLst/>
          </a:prstGeom>
          <a:ln w="15875">
            <a:solidFill>
              <a:srgbClr val="3733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0415204" y="22279791"/>
            <a:ext cx="292809" cy="0"/>
          </a:xfrm>
          <a:prstGeom prst="line">
            <a:avLst/>
          </a:prstGeom>
          <a:ln w="15875">
            <a:solidFill>
              <a:srgbClr val="3733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291034" y="22936200"/>
            <a:ext cx="0" cy="583474"/>
          </a:xfrm>
          <a:prstGeom prst="line">
            <a:avLst/>
          </a:prstGeom>
          <a:ln w="15875">
            <a:solidFill>
              <a:srgbClr val="B23A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463572" y="22936200"/>
            <a:ext cx="0" cy="583474"/>
          </a:xfrm>
          <a:prstGeom prst="line">
            <a:avLst/>
          </a:prstGeom>
          <a:ln w="15875">
            <a:solidFill>
              <a:srgbClr val="A982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387771" y="22936200"/>
            <a:ext cx="0" cy="2042160"/>
          </a:xfrm>
          <a:prstGeom prst="line">
            <a:avLst/>
          </a:prstGeom>
          <a:ln w="12700">
            <a:solidFill>
              <a:srgbClr val="9A95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340702" y="22936200"/>
            <a:ext cx="0" cy="2042160"/>
          </a:xfrm>
          <a:prstGeom prst="line">
            <a:avLst/>
          </a:prstGeom>
          <a:ln w="12700">
            <a:solidFill>
              <a:srgbClr val="9A95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513240" y="22936200"/>
            <a:ext cx="0" cy="2042160"/>
          </a:xfrm>
          <a:prstGeom prst="line">
            <a:avLst/>
          </a:prstGeom>
          <a:ln w="12700">
            <a:solidFill>
              <a:srgbClr val="9A95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291034" y="24394885"/>
            <a:ext cx="0" cy="583475"/>
          </a:xfrm>
          <a:prstGeom prst="line">
            <a:avLst/>
          </a:prstGeom>
          <a:ln w="12700">
            <a:solidFill>
              <a:srgbClr val="9A95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463572" y="24394885"/>
            <a:ext cx="0" cy="583475"/>
          </a:xfrm>
          <a:prstGeom prst="line">
            <a:avLst/>
          </a:prstGeom>
          <a:ln w="12700">
            <a:solidFill>
              <a:srgbClr val="9A9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7200020" y="20294600"/>
            <a:ext cx="9601200" cy="461665"/>
          </a:xfrm>
          <a:prstGeom prst="rect">
            <a:avLst/>
          </a:prstGeom>
          <a:noFill/>
        </p:spPr>
        <p:txBody>
          <a:bodyPr wrap="square">
            <a:spAutoFit/>
          </a:bodyPr>
          <a:lstStyle/>
          <a:p>
            <a:pPr algn="ctr"/>
            <a:r>
              <a:rPr sz="2400" b="1" i="0" dirty="0">
                <a:solidFill>
                  <a:srgbClr val="373362"/>
                </a:solidFill>
                <a:latin typeface="맑은 고딕"/>
                <a:ea typeface="맑은 고딕"/>
                <a:cs typeface="맑은 고딕"/>
              </a:rPr>
              <a:t>4축 </a:t>
            </a:r>
            <a:r>
              <a:rPr sz="2400" b="1" i="0" dirty="0" err="1">
                <a:solidFill>
                  <a:srgbClr val="373362"/>
                </a:solidFill>
                <a:latin typeface="맑은 고딕"/>
                <a:ea typeface="맑은 고딕"/>
                <a:cs typeface="맑은 고딕"/>
              </a:rPr>
              <a:t>위험</a:t>
            </a:r>
            <a:r>
              <a:rPr sz="2400" b="1" i="0" dirty="0">
                <a:solidFill>
                  <a:srgbClr val="373362"/>
                </a:solidFill>
                <a:latin typeface="맑은 고딕"/>
                <a:ea typeface="맑은 고딕"/>
                <a:cs typeface="맑은 고딕"/>
              </a:rPr>
              <a:t> </a:t>
            </a:r>
            <a:r>
              <a:rPr sz="2400" b="1" i="0" dirty="0" err="1">
                <a:solidFill>
                  <a:srgbClr val="373362"/>
                </a:solidFill>
                <a:latin typeface="맑은 고딕"/>
                <a:ea typeface="맑은 고딕"/>
                <a:cs typeface="맑은 고딕"/>
              </a:rPr>
              <a:t>점수화</a:t>
            </a:r>
            <a:r>
              <a:rPr sz="2400" b="1" i="0" dirty="0">
                <a:solidFill>
                  <a:srgbClr val="373362"/>
                </a:solidFill>
                <a:latin typeface="맑은 고딕"/>
                <a:ea typeface="맑은 고딕"/>
                <a:cs typeface="맑은 고딕"/>
              </a:rPr>
              <a:t> 및 Confidence-Aware </a:t>
            </a:r>
            <a:r>
              <a:rPr sz="2400" b="1" i="0" dirty="0" err="1">
                <a:solidFill>
                  <a:srgbClr val="373362"/>
                </a:solidFill>
                <a:latin typeface="맑은 고딕"/>
                <a:ea typeface="맑은 고딕"/>
                <a:cs typeface="맑은 고딕"/>
              </a:rPr>
              <a:t>결정</a:t>
            </a:r>
            <a:r>
              <a:rPr sz="2400" b="1" i="0" dirty="0">
                <a:solidFill>
                  <a:srgbClr val="373362"/>
                </a:solidFill>
                <a:latin typeface="맑은 고딕"/>
                <a:ea typeface="맑은 고딕"/>
                <a:cs typeface="맑은 고딕"/>
              </a:rPr>
              <a:t> </a:t>
            </a:r>
            <a:r>
              <a:rPr sz="2400" b="1" i="0" dirty="0" err="1">
                <a:solidFill>
                  <a:srgbClr val="373362"/>
                </a:solidFill>
                <a:latin typeface="맑은 고딕"/>
                <a:ea typeface="맑은 고딕"/>
                <a:cs typeface="맑은 고딕"/>
              </a:rPr>
              <a:t>모델</a:t>
            </a:r>
            <a:endParaRPr sz="2400" b="1" i="0" dirty="0">
              <a:solidFill>
                <a:srgbClr val="373362"/>
              </a:solidFill>
              <a:latin typeface="맑은 고딕"/>
              <a:ea typeface="맑은 고딕"/>
              <a:cs typeface="맑은 고딕"/>
            </a:endParaRPr>
          </a:p>
        </p:txBody>
      </p:sp>
      <p:sp>
        <p:nvSpPr>
          <p:cNvPr id="58" name="Rounded Rectangle 57"/>
          <p:cNvSpPr/>
          <p:nvPr/>
        </p:nvSpPr>
        <p:spPr>
          <a:xfrm>
            <a:off x="17374587" y="20899120"/>
            <a:ext cx="2094807" cy="1036320"/>
          </a:xfrm>
          <a:prstGeom prst="roundRect">
            <a:avLst>
              <a:gd name="adj" fmla="val 8000"/>
            </a:avLst>
          </a:prstGeom>
          <a:solidFill>
            <a:srgbClr val="FFFFFF"/>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err="1">
                <a:solidFill>
                  <a:srgbClr val="373362"/>
                </a:solidFill>
                <a:latin typeface="맑은 고딕"/>
                <a:ea typeface="맑은 고딕"/>
                <a:cs typeface="맑은 고딕"/>
              </a:rPr>
              <a:t>객체</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민감도</a:t>
            </a:r>
            <a:endParaRPr sz="1200" b="1" dirty="0">
              <a:solidFill>
                <a:srgbClr val="373362"/>
              </a:solidFill>
              <a:latin typeface="맑은 고딕"/>
              <a:ea typeface="맑은 고딕"/>
              <a:cs typeface="맑은 고딕"/>
            </a:endParaRPr>
          </a:p>
          <a:p>
            <a:pPr algn="ctr">
              <a:lnSpc>
                <a:spcPct val="100000"/>
              </a:lnSpc>
            </a:pPr>
            <a:r>
              <a:rPr sz="1200" b="1" dirty="0">
                <a:solidFill>
                  <a:srgbClr val="373362"/>
                </a:solidFill>
                <a:latin typeface="맑은 고딕"/>
                <a:ea typeface="맑은 고딕"/>
                <a:cs typeface="맑은 고딕"/>
              </a:rPr>
              <a:t>(</a:t>
            </a:r>
            <a:r>
              <a:rPr sz="1200" b="1" dirty="0" err="1">
                <a:solidFill>
                  <a:srgbClr val="373362"/>
                </a:solidFill>
                <a:latin typeface="맑은 고딕"/>
                <a:ea typeface="맑은 고딕"/>
                <a:cs typeface="맑은 고딕"/>
              </a:rPr>
              <a:t>위험</a:t>
            </a:r>
            <a:r>
              <a:rPr sz="1200" b="1" dirty="0">
                <a:solidFill>
                  <a:srgbClr val="373362"/>
                </a:solidFill>
                <a:latin typeface="맑은 고딕"/>
                <a:ea typeface="맑은 고딕"/>
                <a:cs typeface="맑은 고딕"/>
              </a:rPr>
              <a:t>, +)</a:t>
            </a:r>
          </a:p>
        </p:txBody>
      </p:sp>
      <p:sp>
        <p:nvSpPr>
          <p:cNvPr id="59" name="Rounded Rectangle 58"/>
          <p:cNvSpPr/>
          <p:nvPr/>
        </p:nvSpPr>
        <p:spPr>
          <a:xfrm>
            <a:off x="19643962" y="20899120"/>
            <a:ext cx="2094807" cy="1036320"/>
          </a:xfrm>
          <a:prstGeom prst="roundRect">
            <a:avLst>
              <a:gd name="adj" fmla="val 8000"/>
            </a:avLst>
          </a:prstGeom>
          <a:solidFill>
            <a:srgbClr val="FFFFFF"/>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err="1">
                <a:solidFill>
                  <a:srgbClr val="373362"/>
                </a:solidFill>
                <a:latin typeface="맑은 고딕"/>
                <a:ea typeface="맑은 고딕"/>
                <a:cs typeface="맑은 고딕"/>
              </a:rPr>
              <a:t>환경</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컨텍스트</a:t>
            </a:r>
            <a:endParaRPr sz="1200" b="1" dirty="0">
              <a:solidFill>
                <a:srgbClr val="373362"/>
              </a:solidFill>
              <a:latin typeface="맑은 고딕"/>
              <a:ea typeface="맑은 고딕"/>
              <a:cs typeface="맑은 고딕"/>
            </a:endParaRPr>
          </a:p>
          <a:p>
            <a:pPr algn="ctr">
              <a:lnSpc>
                <a:spcPct val="100000"/>
              </a:lnSpc>
            </a:pPr>
            <a:r>
              <a:rPr sz="1200" b="1" dirty="0">
                <a:solidFill>
                  <a:srgbClr val="373362"/>
                </a:solidFill>
                <a:latin typeface="맑은 고딕"/>
                <a:ea typeface="맑은 고딕"/>
                <a:cs typeface="맑은 고딕"/>
              </a:rPr>
              <a:t>(</a:t>
            </a:r>
            <a:r>
              <a:rPr sz="1200" b="1" dirty="0" err="1">
                <a:solidFill>
                  <a:srgbClr val="373362"/>
                </a:solidFill>
                <a:latin typeface="맑은 고딕"/>
                <a:ea typeface="맑은 고딕"/>
                <a:cs typeface="맑은 고딕"/>
              </a:rPr>
              <a:t>위험</a:t>
            </a:r>
            <a:r>
              <a:rPr sz="1200" b="1" dirty="0">
                <a:solidFill>
                  <a:srgbClr val="373362"/>
                </a:solidFill>
                <a:latin typeface="맑은 고딕"/>
                <a:ea typeface="맑은 고딕"/>
                <a:cs typeface="맑은 고딕"/>
              </a:rPr>
              <a:t>, +)</a:t>
            </a:r>
          </a:p>
        </p:txBody>
      </p:sp>
      <p:sp>
        <p:nvSpPr>
          <p:cNvPr id="60" name="Rounded Rectangle 59"/>
          <p:cNvSpPr/>
          <p:nvPr/>
        </p:nvSpPr>
        <p:spPr>
          <a:xfrm>
            <a:off x="21913336" y="20899120"/>
            <a:ext cx="2094807" cy="1036320"/>
          </a:xfrm>
          <a:prstGeom prst="roundRect">
            <a:avLst>
              <a:gd name="adj" fmla="val 8000"/>
            </a:avLst>
          </a:prstGeom>
          <a:solidFill>
            <a:srgbClr val="FFFFFF"/>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err="1">
                <a:solidFill>
                  <a:srgbClr val="373362"/>
                </a:solidFill>
                <a:latin typeface="맑은 고딕"/>
                <a:ea typeface="맑은 고딕"/>
                <a:cs typeface="맑은 고딕"/>
              </a:rPr>
              <a:t>행위</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유형</a:t>
            </a:r>
            <a:endParaRPr sz="1200" b="1" dirty="0">
              <a:solidFill>
                <a:srgbClr val="373362"/>
              </a:solidFill>
              <a:latin typeface="맑은 고딕"/>
              <a:ea typeface="맑은 고딕"/>
              <a:cs typeface="맑은 고딕"/>
            </a:endParaRPr>
          </a:p>
          <a:p>
            <a:pPr algn="ctr">
              <a:lnSpc>
                <a:spcPct val="100000"/>
              </a:lnSpc>
            </a:pPr>
            <a:r>
              <a:rPr sz="1200" b="1" dirty="0">
                <a:solidFill>
                  <a:srgbClr val="373362"/>
                </a:solidFill>
                <a:latin typeface="맑은 고딕"/>
                <a:ea typeface="맑은 고딕"/>
                <a:cs typeface="맑은 고딕"/>
              </a:rPr>
              <a:t>(</a:t>
            </a:r>
            <a:r>
              <a:rPr sz="1200" b="1" dirty="0" err="1">
                <a:solidFill>
                  <a:srgbClr val="373362"/>
                </a:solidFill>
                <a:latin typeface="맑은 고딕"/>
                <a:ea typeface="맑은 고딕"/>
                <a:cs typeface="맑은 고딕"/>
              </a:rPr>
              <a:t>위험</a:t>
            </a:r>
            <a:r>
              <a:rPr sz="1200" b="1" dirty="0">
                <a:solidFill>
                  <a:srgbClr val="373362"/>
                </a:solidFill>
                <a:latin typeface="맑은 고딕"/>
                <a:ea typeface="맑은 고딕"/>
                <a:cs typeface="맑은 고딕"/>
              </a:rPr>
              <a:t>, +)</a:t>
            </a:r>
          </a:p>
        </p:txBody>
      </p:sp>
      <p:sp>
        <p:nvSpPr>
          <p:cNvPr id="61" name="Rounded Rectangle 60"/>
          <p:cNvSpPr/>
          <p:nvPr/>
        </p:nvSpPr>
        <p:spPr>
          <a:xfrm>
            <a:off x="24182711" y="20899120"/>
            <a:ext cx="2094807" cy="1036320"/>
          </a:xfrm>
          <a:prstGeom prst="roundRect">
            <a:avLst>
              <a:gd name="adj" fmla="val 8000"/>
            </a:avLst>
          </a:prstGeom>
          <a:solidFill>
            <a:srgbClr val="FFFFFF"/>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err="1">
                <a:solidFill>
                  <a:srgbClr val="373362"/>
                </a:solidFill>
                <a:latin typeface="맑은 고딕"/>
                <a:ea typeface="맑은 고딕"/>
                <a:cs typeface="맑은 고딕"/>
              </a:rPr>
              <a:t>업무적합도</a:t>
            </a:r>
            <a:endParaRPr sz="1200" b="1" dirty="0">
              <a:solidFill>
                <a:srgbClr val="373362"/>
              </a:solidFill>
              <a:latin typeface="맑은 고딕"/>
              <a:ea typeface="맑은 고딕"/>
              <a:cs typeface="맑은 고딕"/>
            </a:endParaRPr>
          </a:p>
          <a:p>
            <a:pPr algn="ctr">
              <a:lnSpc>
                <a:spcPct val="100000"/>
              </a:lnSpc>
            </a:pPr>
            <a:r>
              <a:rPr sz="1200" b="1" dirty="0">
                <a:solidFill>
                  <a:srgbClr val="373362"/>
                </a:solidFill>
                <a:latin typeface="맑은 고딕"/>
                <a:ea typeface="맑은 고딕"/>
                <a:cs typeface="맑은 고딕"/>
              </a:rPr>
              <a:t>(</a:t>
            </a:r>
            <a:r>
              <a:rPr sz="1200" b="1" dirty="0" err="1">
                <a:solidFill>
                  <a:srgbClr val="373362"/>
                </a:solidFill>
                <a:latin typeface="맑은 고딕"/>
                <a:ea typeface="맑은 고딕"/>
                <a:cs typeface="맑은 고딕"/>
              </a:rPr>
              <a:t>감산</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최대</a:t>
            </a:r>
            <a:r>
              <a:rPr sz="1200" b="1" dirty="0">
                <a:solidFill>
                  <a:srgbClr val="373362"/>
                </a:solidFill>
                <a:latin typeface="맑은 고딕"/>
                <a:ea typeface="맑은 고딕"/>
                <a:cs typeface="맑은 고딕"/>
              </a:rPr>
              <a:t> -20)</a:t>
            </a:r>
          </a:p>
        </p:txBody>
      </p:sp>
      <p:sp>
        <p:nvSpPr>
          <p:cNvPr id="62" name="Rounded Rectangle 61"/>
          <p:cNvSpPr/>
          <p:nvPr/>
        </p:nvSpPr>
        <p:spPr>
          <a:xfrm>
            <a:off x="19731245" y="22453600"/>
            <a:ext cx="4538749" cy="1036320"/>
          </a:xfrm>
          <a:prstGeom prst="roundRect">
            <a:avLst>
              <a:gd name="adj" fmla="val 8000"/>
            </a:avLst>
          </a:prstGeom>
          <a:solidFill>
            <a:srgbClr val="EFEDF6"/>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400" b="1" dirty="0">
                <a:solidFill>
                  <a:srgbClr val="373362"/>
                </a:solidFill>
                <a:latin typeface="맑은 고딕"/>
                <a:ea typeface="맑은 고딕"/>
                <a:cs typeface="맑은 고딕"/>
              </a:rPr>
              <a:t>4축 </a:t>
            </a:r>
            <a:r>
              <a:rPr sz="1400" b="1" dirty="0" err="1">
                <a:solidFill>
                  <a:srgbClr val="373362"/>
                </a:solidFill>
                <a:latin typeface="맑은 고딕"/>
                <a:ea typeface="맑은 고딕"/>
                <a:cs typeface="맑은 고딕"/>
              </a:rPr>
              <a:t>위험</a:t>
            </a:r>
            <a:r>
              <a:rPr sz="1400" b="1" dirty="0">
                <a:solidFill>
                  <a:srgbClr val="373362"/>
                </a:solidFill>
                <a:latin typeface="맑은 고딕"/>
                <a:ea typeface="맑은 고딕"/>
                <a:cs typeface="맑은 고딕"/>
              </a:rPr>
              <a:t> </a:t>
            </a:r>
            <a:r>
              <a:rPr sz="1400" b="1" dirty="0" err="1">
                <a:solidFill>
                  <a:srgbClr val="373362"/>
                </a:solidFill>
                <a:latin typeface="맑은 고딕"/>
                <a:ea typeface="맑은 고딕"/>
                <a:cs typeface="맑은 고딕"/>
              </a:rPr>
              <a:t>점수</a:t>
            </a:r>
            <a:endParaRPr sz="1400" b="1" dirty="0">
              <a:solidFill>
                <a:srgbClr val="373362"/>
              </a:solidFill>
              <a:latin typeface="맑은 고딕"/>
              <a:ea typeface="맑은 고딕"/>
              <a:cs typeface="맑은 고딕"/>
            </a:endParaRPr>
          </a:p>
          <a:p>
            <a:pPr algn="ctr">
              <a:lnSpc>
                <a:spcPct val="100000"/>
              </a:lnSpc>
            </a:pPr>
            <a:r>
              <a:rPr sz="1400" b="1" dirty="0">
                <a:solidFill>
                  <a:srgbClr val="373362"/>
                </a:solidFill>
                <a:latin typeface="맑은 고딕"/>
                <a:ea typeface="맑은 고딕"/>
                <a:cs typeface="맑은 고딕"/>
              </a:rPr>
              <a:t>(0 - 100+)</a:t>
            </a:r>
          </a:p>
        </p:txBody>
      </p:sp>
      <p:sp>
        <p:nvSpPr>
          <p:cNvPr id="63" name="Rounded Rectangle 62"/>
          <p:cNvSpPr/>
          <p:nvPr/>
        </p:nvSpPr>
        <p:spPr>
          <a:xfrm>
            <a:off x="19731245" y="24008080"/>
            <a:ext cx="4538749" cy="1036320"/>
          </a:xfrm>
          <a:prstGeom prst="roundRect">
            <a:avLst>
              <a:gd name="adj" fmla="val 8000"/>
            </a:avLst>
          </a:prstGeom>
          <a:solidFill>
            <a:srgbClr val="EFEDF6"/>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400" b="1" dirty="0">
                <a:solidFill>
                  <a:srgbClr val="373362"/>
                </a:solidFill>
                <a:latin typeface="맑은 고딕"/>
                <a:ea typeface="맑은 고딕"/>
                <a:cs typeface="맑은 고딕"/>
              </a:rPr>
              <a:t>5단계 </a:t>
            </a:r>
            <a:r>
              <a:rPr sz="1400" b="1" dirty="0" err="1">
                <a:solidFill>
                  <a:srgbClr val="373362"/>
                </a:solidFill>
                <a:latin typeface="맑은 고딕"/>
                <a:ea typeface="맑은 고딕"/>
                <a:cs typeface="맑은 고딕"/>
              </a:rPr>
              <a:t>접근</a:t>
            </a:r>
            <a:r>
              <a:rPr sz="1400" b="1" dirty="0">
                <a:solidFill>
                  <a:srgbClr val="373362"/>
                </a:solidFill>
                <a:latin typeface="맑은 고딕"/>
                <a:ea typeface="맑은 고딕"/>
                <a:cs typeface="맑은 고딕"/>
              </a:rPr>
              <a:t> + </a:t>
            </a:r>
            <a:r>
              <a:rPr sz="1400" b="1" dirty="0" err="1">
                <a:solidFill>
                  <a:srgbClr val="373362"/>
                </a:solidFill>
                <a:latin typeface="맑은 고딕"/>
                <a:ea typeface="맑은 고딕"/>
                <a:cs typeface="맑은 고딕"/>
              </a:rPr>
              <a:t>마스킹</a:t>
            </a:r>
            <a:endParaRPr sz="1400" b="1" dirty="0">
              <a:solidFill>
                <a:srgbClr val="373362"/>
              </a:solidFill>
              <a:latin typeface="맑은 고딕"/>
              <a:ea typeface="맑은 고딕"/>
              <a:cs typeface="맑은 고딕"/>
            </a:endParaRPr>
          </a:p>
          <a:p>
            <a:pPr algn="ctr">
              <a:lnSpc>
                <a:spcPct val="100000"/>
              </a:lnSpc>
            </a:pPr>
            <a:r>
              <a:rPr sz="1400" b="1" dirty="0">
                <a:solidFill>
                  <a:srgbClr val="373362"/>
                </a:solidFill>
                <a:latin typeface="맑은 고딕"/>
                <a:ea typeface="맑은 고딕"/>
                <a:cs typeface="맑은 고딕"/>
              </a:rPr>
              <a:t>(L1 - L5, Fig. 2 </a:t>
            </a:r>
            <a:r>
              <a:rPr sz="1400" b="1" dirty="0" err="1">
                <a:solidFill>
                  <a:srgbClr val="373362"/>
                </a:solidFill>
                <a:latin typeface="맑은 고딕"/>
                <a:ea typeface="맑은 고딕"/>
                <a:cs typeface="맑은 고딕"/>
              </a:rPr>
              <a:t>참조</a:t>
            </a:r>
            <a:r>
              <a:rPr sz="1400" b="1" dirty="0">
                <a:solidFill>
                  <a:srgbClr val="373362"/>
                </a:solidFill>
                <a:latin typeface="맑은 고딕"/>
                <a:ea typeface="맑은 고딕"/>
                <a:cs typeface="맑은 고딕"/>
              </a:rPr>
              <a:t>)</a:t>
            </a:r>
          </a:p>
        </p:txBody>
      </p:sp>
      <p:sp>
        <p:nvSpPr>
          <p:cNvPr id="64" name="Rounded Rectangle 63"/>
          <p:cNvSpPr/>
          <p:nvPr/>
        </p:nvSpPr>
        <p:spPr>
          <a:xfrm>
            <a:off x="19731245" y="25562560"/>
            <a:ext cx="4538749" cy="1036320"/>
          </a:xfrm>
          <a:prstGeom prst="roundRect">
            <a:avLst>
              <a:gd name="adj" fmla="val 8000"/>
            </a:avLst>
          </a:prstGeom>
          <a:solidFill>
            <a:srgbClr val="EFEDF6"/>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400" b="1" dirty="0" err="1">
                <a:solidFill>
                  <a:srgbClr val="373362"/>
                </a:solidFill>
                <a:latin typeface="맑은 고딕"/>
                <a:ea typeface="맑은 고딕"/>
                <a:cs typeface="맑은 고딕"/>
              </a:rPr>
              <a:t>결정</a:t>
            </a:r>
            <a:r>
              <a:rPr sz="1400" b="1" dirty="0">
                <a:solidFill>
                  <a:srgbClr val="373362"/>
                </a:solidFill>
                <a:latin typeface="맑은 고딕"/>
                <a:ea typeface="맑은 고딕"/>
                <a:cs typeface="맑은 고딕"/>
              </a:rPr>
              <a:t> </a:t>
            </a:r>
            <a:r>
              <a:rPr sz="1400" b="1" dirty="0" err="1">
                <a:solidFill>
                  <a:srgbClr val="373362"/>
                </a:solidFill>
                <a:latin typeface="맑은 고딕"/>
                <a:ea typeface="맑은 고딕"/>
                <a:cs typeface="맑은 고딕"/>
              </a:rPr>
              <a:t>신뢰도</a:t>
            </a:r>
            <a:endParaRPr sz="1400" b="1" dirty="0">
              <a:solidFill>
                <a:srgbClr val="373362"/>
              </a:solidFill>
              <a:latin typeface="맑은 고딕"/>
              <a:ea typeface="맑은 고딕"/>
              <a:cs typeface="맑은 고딕"/>
            </a:endParaRPr>
          </a:p>
          <a:p>
            <a:pPr algn="ctr">
              <a:lnSpc>
                <a:spcPct val="100000"/>
              </a:lnSpc>
            </a:pPr>
            <a:r>
              <a:rPr sz="1400" b="1" dirty="0">
                <a:solidFill>
                  <a:srgbClr val="373362"/>
                </a:solidFill>
                <a:latin typeface="맑은 고딕"/>
                <a:ea typeface="맑은 고딕"/>
                <a:cs typeface="맑은 고딕"/>
              </a:rPr>
              <a:t>&gt;= 0.85 ?</a:t>
            </a:r>
          </a:p>
        </p:txBody>
      </p:sp>
      <p:sp>
        <p:nvSpPr>
          <p:cNvPr id="65" name="Rounded Rectangle 64"/>
          <p:cNvSpPr/>
          <p:nvPr/>
        </p:nvSpPr>
        <p:spPr>
          <a:xfrm>
            <a:off x="17374587" y="26944320"/>
            <a:ext cx="4364181" cy="1036320"/>
          </a:xfrm>
          <a:prstGeom prst="roundRect">
            <a:avLst>
              <a:gd name="adj" fmla="val 8000"/>
            </a:avLst>
          </a:prstGeom>
          <a:solidFill>
            <a:srgbClr val="FFFFFF"/>
          </a:solidFill>
          <a:ln w="15875">
            <a:solidFill>
              <a:srgbClr val="37336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a:solidFill>
                  <a:srgbClr val="373362"/>
                </a:solidFill>
                <a:latin typeface="맑은 고딕"/>
                <a:ea typeface="맑은 고딕"/>
                <a:cs typeface="맑은 고딕"/>
              </a:rPr>
              <a:t>예 - </a:t>
            </a:r>
            <a:r>
              <a:rPr sz="1200" b="1" dirty="0" err="1">
                <a:solidFill>
                  <a:srgbClr val="373362"/>
                </a:solidFill>
                <a:latin typeface="맑은 고딕"/>
                <a:ea typeface="맑은 고딕"/>
                <a:cs typeface="맑은 고딕"/>
              </a:rPr>
              <a:t>결정</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즉시</a:t>
            </a:r>
            <a:r>
              <a:rPr sz="1200" b="1" dirty="0">
                <a:solidFill>
                  <a:srgbClr val="373362"/>
                </a:solidFill>
                <a:latin typeface="맑은 고딕"/>
                <a:ea typeface="맑은 고딕"/>
                <a:cs typeface="맑은 고딕"/>
              </a:rPr>
              <a:t> </a:t>
            </a:r>
            <a:r>
              <a:rPr sz="1200" b="1" dirty="0" err="1">
                <a:solidFill>
                  <a:srgbClr val="373362"/>
                </a:solidFill>
                <a:latin typeface="맑은 고딕"/>
                <a:ea typeface="맑은 고딕"/>
                <a:cs typeface="맑은 고딕"/>
              </a:rPr>
              <a:t>적용</a:t>
            </a:r>
            <a:endParaRPr sz="1200" b="1" dirty="0">
              <a:solidFill>
                <a:srgbClr val="373362"/>
              </a:solidFill>
              <a:latin typeface="맑은 고딕"/>
              <a:ea typeface="맑은 고딕"/>
              <a:cs typeface="맑은 고딕"/>
            </a:endParaRPr>
          </a:p>
          <a:p>
            <a:pPr algn="ctr">
              <a:lnSpc>
                <a:spcPct val="100000"/>
              </a:lnSpc>
            </a:pPr>
            <a:r>
              <a:rPr sz="1200" b="1" dirty="0">
                <a:solidFill>
                  <a:srgbClr val="373362"/>
                </a:solidFill>
                <a:latin typeface="맑은 고딕"/>
                <a:ea typeface="맑은 고딕"/>
                <a:cs typeface="맑은 고딕"/>
              </a:rPr>
              <a:t>(ALLOW / VIEW-ONLY / ... / DENY)</a:t>
            </a:r>
          </a:p>
        </p:txBody>
      </p:sp>
      <p:sp>
        <p:nvSpPr>
          <p:cNvPr id="66" name="Rounded Rectangle 65"/>
          <p:cNvSpPr/>
          <p:nvPr/>
        </p:nvSpPr>
        <p:spPr>
          <a:xfrm>
            <a:off x="22262471" y="26944320"/>
            <a:ext cx="4364181" cy="1036320"/>
          </a:xfrm>
          <a:prstGeom prst="roundRect">
            <a:avLst>
              <a:gd name="adj" fmla="val 8000"/>
            </a:avLst>
          </a:prstGeom>
          <a:solidFill>
            <a:srgbClr val="F6E4E6"/>
          </a:solidFill>
          <a:ln w="15875">
            <a:solidFill>
              <a:srgbClr val="B23A48"/>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err="1">
                <a:solidFill>
                  <a:srgbClr val="B23A48"/>
                </a:solidFill>
                <a:latin typeface="맑은 고딕"/>
                <a:ea typeface="맑은 고딕"/>
                <a:cs typeface="맑은 고딕"/>
              </a:rPr>
              <a:t>아니오</a:t>
            </a:r>
            <a:r>
              <a:rPr sz="1200" b="1" dirty="0">
                <a:solidFill>
                  <a:srgbClr val="B23A48"/>
                </a:solidFill>
                <a:latin typeface="맑은 고딕"/>
                <a:ea typeface="맑은 고딕"/>
                <a:cs typeface="맑은 고딕"/>
              </a:rPr>
              <a:t> - </a:t>
            </a:r>
            <a:r>
              <a:rPr sz="1200" b="1" dirty="0" err="1">
                <a:solidFill>
                  <a:srgbClr val="B23A48"/>
                </a:solidFill>
                <a:latin typeface="맑은 고딕"/>
                <a:ea typeface="맑은 고딕"/>
                <a:cs typeface="맑은 고딕"/>
              </a:rPr>
              <a:t>보수적</a:t>
            </a:r>
            <a:r>
              <a:rPr sz="1200" b="1" dirty="0">
                <a:solidFill>
                  <a:srgbClr val="B23A48"/>
                </a:solidFill>
                <a:latin typeface="맑은 고딕"/>
                <a:ea typeface="맑은 고딕"/>
                <a:cs typeface="맑은 고딕"/>
              </a:rPr>
              <a:t> </a:t>
            </a:r>
            <a:r>
              <a:rPr sz="1200" b="1" dirty="0" err="1">
                <a:solidFill>
                  <a:srgbClr val="B23A48"/>
                </a:solidFill>
                <a:latin typeface="맑은 고딕"/>
                <a:ea typeface="맑은 고딕"/>
                <a:cs typeface="맑은 고딕"/>
              </a:rPr>
              <a:t>상향</a:t>
            </a:r>
            <a:r>
              <a:rPr sz="1200" b="1" dirty="0">
                <a:solidFill>
                  <a:srgbClr val="B23A48"/>
                </a:solidFill>
                <a:latin typeface="맑은 고딕"/>
                <a:ea typeface="맑은 고딕"/>
                <a:cs typeface="맑은 고딕"/>
              </a:rPr>
              <a:t> </a:t>
            </a:r>
            <a:r>
              <a:rPr sz="1200" b="1" dirty="0" err="1">
                <a:solidFill>
                  <a:srgbClr val="B23A48"/>
                </a:solidFill>
                <a:latin typeface="맑은 고딕"/>
                <a:ea typeface="맑은 고딕"/>
                <a:cs typeface="맑은 고딕"/>
              </a:rPr>
              <a:t>조정</a:t>
            </a:r>
            <a:endParaRPr sz="1200" b="1" dirty="0">
              <a:solidFill>
                <a:srgbClr val="B23A48"/>
              </a:solidFill>
              <a:latin typeface="맑은 고딕"/>
              <a:ea typeface="맑은 고딕"/>
              <a:cs typeface="맑은 고딕"/>
            </a:endParaRPr>
          </a:p>
          <a:p>
            <a:pPr algn="ctr">
              <a:lnSpc>
                <a:spcPct val="100000"/>
              </a:lnSpc>
            </a:pPr>
            <a:r>
              <a:rPr sz="1200" b="1" dirty="0">
                <a:solidFill>
                  <a:srgbClr val="B23A48"/>
                </a:solidFill>
                <a:latin typeface="맑은 고딕"/>
                <a:ea typeface="맑은 고딕"/>
                <a:cs typeface="맑은 고딕"/>
              </a:rPr>
              <a:t>DENY -&gt; ADMIN-APPROVAL</a:t>
            </a:r>
          </a:p>
          <a:p>
            <a:pPr algn="ctr">
              <a:lnSpc>
                <a:spcPct val="100000"/>
              </a:lnSpc>
            </a:pPr>
            <a:r>
              <a:rPr sz="1200" b="1" dirty="0">
                <a:solidFill>
                  <a:srgbClr val="B23A48"/>
                </a:solidFill>
                <a:latin typeface="맑은 고딕"/>
                <a:ea typeface="맑은 고딕"/>
                <a:cs typeface="맑은 고딕"/>
              </a:rPr>
              <a:t>ALLOW -&gt; VIEW-ONLY</a:t>
            </a:r>
          </a:p>
        </p:txBody>
      </p:sp>
      <p:sp>
        <p:nvSpPr>
          <p:cNvPr id="67" name="Rounded Rectangle 66"/>
          <p:cNvSpPr/>
          <p:nvPr/>
        </p:nvSpPr>
        <p:spPr>
          <a:xfrm>
            <a:off x="24706413" y="22108160"/>
            <a:ext cx="1920240" cy="4490720"/>
          </a:xfrm>
          <a:prstGeom prst="roundRect">
            <a:avLst>
              <a:gd name="adj" fmla="val 8000"/>
            </a:avLst>
          </a:prstGeom>
          <a:solidFill>
            <a:srgbClr val="FBF3DC"/>
          </a:solidFill>
          <a:ln w="15875">
            <a:solidFill>
              <a:srgbClr val="A9821B"/>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lnSpc>
                <a:spcPct val="100000"/>
              </a:lnSpc>
            </a:pPr>
            <a:r>
              <a:rPr sz="1200" b="1" dirty="0" err="1">
                <a:solidFill>
                  <a:srgbClr val="A9821B"/>
                </a:solidFill>
                <a:latin typeface="맑은 고딕"/>
                <a:ea typeface="맑은 고딕"/>
                <a:cs typeface="맑은 고딕"/>
              </a:rPr>
              <a:t>외부화된</a:t>
            </a:r>
            <a:endParaRPr sz="1200" b="1" dirty="0">
              <a:solidFill>
                <a:srgbClr val="A9821B"/>
              </a:solidFill>
              <a:latin typeface="맑은 고딕"/>
              <a:ea typeface="맑은 고딕"/>
              <a:cs typeface="맑은 고딕"/>
            </a:endParaRPr>
          </a:p>
          <a:p>
            <a:pPr algn="ctr">
              <a:lnSpc>
                <a:spcPct val="100000"/>
              </a:lnSpc>
            </a:pPr>
            <a:r>
              <a:rPr sz="1200" b="1" dirty="0" err="1">
                <a:solidFill>
                  <a:srgbClr val="A9821B"/>
                </a:solidFill>
                <a:latin typeface="맑은 고딕"/>
                <a:ea typeface="맑은 고딕"/>
                <a:cs typeface="맑은 고딕"/>
              </a:rPr>
              <a:t>정책</a:t>
            </a:r>
            <a:r>
              <a:rPr sz="1200" b="1" dirty="0">
                <a:solidFill>
                  <a:srgbClr val="A9821B"/>
                </a:solidFill>
                <a:latin typeface="맑은 고딕"/>
                <a:ea typeface="맑은 고딕"/>
                <a:cs typeface="맑은 고딕"/>
              </a:rPr>
              <a:t> </a:t>
            </a:r>
            <a:r>
              <a:rPr sz="1200" b="1" dirty="0" err="1">
                <a:solidFill>
                  <a:srgbClr val="A9821B"/>
                </a:solidFill>
                <a:latin typeface="맑은 고딕"/>
                <a:ea typeface="맑은 고딕"/>
                <a:cs typeface="맑은 고딕"/>
              </a:rPr>
              <a:t>임계값</a:t>
            </a:r>
            <a:endParaRPr sz="1200" b="1" dirty="0">
              <a:solidFill>
                <a:srgbClr val="A9821B"/>
              </a:solidFill>
              <a:latin typeface="맑은 고딕"/>
              <a:ea typeface="맑은 고딕"/>
              <a:cs typeface="맑은 고딕"/>
            </a:endParaRPr>
          </a:p>
          <a:p>
            <a:pPr algn="ctr">
              <a:lnSpc>
                <a:spcPct val="100000"/>
              </a:lnSpc>
            </a:pPr>
            <a:endParaRPr sz="1200" b="1" dirty="0">
              <a:solidFill>
                <a:srgbClr val="A9821B"/>
              </a:solidFill>
              <a:latin typeface="맑은 고딕"/>
              <a:ea typeface="맑은 고딕"/>
              <a:cs typeface="맑은 고딕"/>
            </a:endParaRPr>
          </a:p>
          <a:p>
            <a:pPr algn="ctr">
              <a:lnSpc>
                <a:spcPct val="100000"/>
              </a:lnSpc>
            </a:pPr>
            <a:r>
              <a:rPr sz="1200" b="1" dirty="0">
                <a:solidFill>
                  <a:srgbClr val="A9821B"/>
                </a:solidFill>
                <a:latin typeface="맑은 고딕"/>
                <a:ea typeface="맑은 고딕"/>
                <a:cs typeface="맑은 고딕"/>
              </a:rPr>
              <a:t>- </a:t>
            </a:r>
            <a:r>
              <a:rPr sz="1200" b="1" dirty="0" err="1">
                <a:solidFill>
                  <a:srgbClr val="A9821B"/>
                </a:solidFill>
                <a:latin typeface="맑은 고딕"/>
                <a:ea typeface="맑은 고딕"/>
                <a:cs typeface="맑은 고딕"/>
              </a:rPr>
              <a:t>실시간</a:t>
            </a:r>
            <a:r>
              <a:rPr sz="1200" b="1" dirty="0">
                <a:solidFill>
                  <a:srgbClr val="A9821B"/>
                </a:solidFill>
                <a:latin typeface="맑은 고딕"/>
                <a:ea typeface="맑은 고딕"/>
                <a:cs typeface="맑은 고딕"/>
              </a:rPr>
              <a:t> </a:t>
            </a:r>
            <a:r>
              <a:rPr sz="1200" b="1" dirty="0" err="1">
                <a:solidFill>
                  <a:srgbClr val="A9821B"/>
                </a:solidFill>
                <a:latin typeface="맑은 고딕"/>
                <a:ea typeface="맑은 고딕"/>
                <a:cs typeface="맑은 고딕"/>
              </a:rPr>
              <a:t>튜닝</a:t>
            </a:r>
            <a:endParaRPr sz="1200" b="1" dirty="0">
              <a:solidFill>
                <a:srgbClr val="A9821B"/>
              </a:solidFill>
              <a:latin typeface="맑은 고딕"/>
              <a:ea typeface="맑은 고딕"/>
              <a:cs typeface="맑은 고딕"/>
            </a:endParaRPr>
          </a:p>
          <a:p>
            <a:pPr algn="ctr">
              <a:lnSpc>
                <a:spcPct val="100000"/>
              </a:lnSpc>
            </a:pPr>
            <a:r>
              <a:rPr sz="1200" b="1" dirty="0">
                <a:solidFill>
                  <a:srgbClr val="A9821B"/>
                </a:solidFill>
                <a:latin typeface="맑은 고딕"/>
                <a:ea typeface="맑은 고딕"/>
                <a:cs typeface="맑은 고딕"/>
              </a:rPr>
              <a:t>  (5분 TTL)</a:t>
            </a:r>
          </a:p>
          <a:p>
            <a:pPr algn="ctr">
              <a:lnSpc>
                <a:spcPct val="100000"/>
              </a:lnSpc>
            </a:pPr>
            <a:r>
              <a:rPr sz="1200" b="1" dirty="0">
                <a:solidFill>
                  <a:srgbClr val="A9821B"/>
                </a:solidFill>
                <a:latin typeface="맑은 고딕"/>
                <a:ea typeface="맑은 고딕"/>
                <a:cs typeface="맑은 고딕"/>
              </a:rPr>
              <a:t>- </a:t>
            </a:r>
            <a:r>
              <a:rPr sz="1200" b="1" dirty="0" err="1">
                <a:solidFill>
                  <a:srgbClr val="A9821B"/>
                </a:solidFill>
                <a:latin typeface="맑은 고딕"/>
                <a:ea typeface="맑은 고딕"/>
                <a:cs typeface="맑은 고딕"/>
              </a:rPr>
              <a:t>부서별</a:t>
            </a:r>
            <a:endParaRPr sz="1200" b="1" dirty="0">
              <a:solidFill>
                <a:srgbClr val="A9821B"/>
              </a:solidFill>
              <a:latin typeface="맑은 고딕"/>
              <a:ea typeface="맑은 고딕"/>
              <a:cs typeface="맑은 고딕"/>
            </a:endParaRPr>
          </a:p>
          <a:p>
            <a:pPr algn="ctr">
              <a:lnSpc>
                <a:spcPct val="100000"/>
              </a:lnSpc>
            </a:pPr>
            <a:r>
              <a:rPr sz="1200" b="1" dirty="0">
                <a:solidFill>
                  <a:srgbClr val="A9821B"/>
                </a:solidFill>
                <a:latin typeface="맑은 고딕"/>
                <a:ea typeface="맑은 고딕"/>
                <a:cs typeface="맑은 고딕"/>
              </a:rPr>
              <a:t>  </a:t>
            </a:r>
            <a:r>
              <a:rPr sz="1200" b="1" dirty="0" err="1">
                <a:solidFill>
                  <a:srgbClr val="A9821B"/>
                </a:solidFill>
                <a:latin typeface="맑은 고딕"/>
                <a:ea typeface="맑은 고딕"/>
                <a:cs typeface="맑은 고딕"/>
              </a:rPr>
              <a:t>가중치</a:t>
            </a:r>
            <a:r>
              <a:rPr sz="1200" b="1" dirty="0">
                <a:solidFill>
                  <a:srgbClr val="A9821B"/>
                </a:solidFill>
                <a:latin typeface="맑은 고딕"/>
                <a:ea typeface="맑은 고딕"/>
                <a:cs typeface="맑은 고딕"/>
              </a:rPr>
              <a:t> override</a:t>
            </a:r>
          </a:p>
          <a:p>
            <a:pPr algn="ctr">
              <a:lnSpc>
                <a:spcPct val="100000"/>
              </a:lnSpc>
            </a:pPr>
            <a:r>
              <a:rPr sz="1200" b="1" dirty="0">
                <a:solidFill>
                  <a:srgbClr val="A9821B"/>
                </a:solidFill>
                <a:latin typeface="맑은 고딕"/>
                <a:ea typeface="맑은 고딕"/>
                <a:cs typeface="맑은 고딕"/>
              </a:rPr>
              <a:t>- </a:t>
            </a:r>
            <a:r>
              <a:rPr sz="1200" b="1" dirty="0" err="1">
                <a:solidFill>
                  <a:srgbClr val="A9821B"/>
                </a:solidFill>
                <a:latin typeface="맑은 고딕"/>
                <a:ea typeface="맑은 고딕"/>
                <a:cs typeface="맑은 고딕"/>
              </a:rPr>
              <a:t>코드</a:t>
            </a:r>
            <a:r>
              <a:rPr sz="1200" b="1" dirty="0">
                <a:solidFill>
                  <a:srgbClr val="A9821B"/>
                </a:solidFill>
                <a:latin typeface="맑은 고딕"/>
                <a:ea typeface="맑은 고딕"/>
                <a:cs typeface="맑은 고딕"/>
              </a:rPr>
              <a:t> </a:t>
            </a:r>
            <a:r>
              <a:rPr sz="1200" b="1" dirty="0" err="1">
                <a:solidFill>
                  <a:srgbClr val="A9821B"/>
                </a:solidFill>
                <a:latin typeface="맑은 고딕"/>
                <a:ea typeface="맑은 고딕"/>
                <a:cs typeface="맑은 고딕"/>
              </a:rPr>
              <a:t>재배포</a:t>
            </a:r>
            <a:endParaRPr sz="1200" b="1" dirty="0">
              <a:solidFill>
                <a:srgbClr val="A9821B"/>
              </a:solidFill>
              <a:latin typeface="맑은 고딕"/>
              <a:ea typeface="맑은 고딕"/>
              <a:cs typeface="맑은 고딕"/>
            </a:endParaRPr>
          </a:p>
          <a:p>
            <a:pPr algn="ctr">
              <a:lnSpc>
                <a:spcPct val="100000"/>
              </a:lnSpc>
            </a:pPr>
            <a:r>
              <a:rPr sz="1200" b="1" dirty="0">
                <a:solidFill>
                  <a:srgbClr val="A9821B"/>
                </a:solidFill>
                <a:latin typeface="맑은 고딕"/>
                <a:ea typeface="맑은 고딕"/>
                <a:cs typeface="맑은 고딕"/>
              </a:rPr>
              <a:t>  </a:t>
            </a:r>
            <a:r>
              <a:rPr sz="1200" b="1" dirty="0" err="1">
                <a:solidFill>
                  <a:srgbClr val="A9821B"/>
                </a:solidFill>
                <a:latin typeface="맑은 고딕"/>
                <a:ea typeface="맑은 고딕"/>
                <a:cs typeface="맑은 고딕"/>
              </a:rPr>
              <a:t>불필요</a:t>
            </a:r>
            <a:endParaRPr sz="1200" b="1" dirty="0">
              <a:solidFill>
                <a:srgbClr val="A9821B"/>
              </a:solidFill>
              <a:latin typeface="맑은 고딕"/>
              <a:ea typeface="맑은 고딕"/>
              <a:cs typeface="맑은 고딕"/>
            </a:endParaRPr>
          </a:p>
        </p:txBody>
      </p:sp>
      <p:cxnSp>
        <p:nvCxnSpPr>
          <p:cNvPr id="68" name="Connector 67"/>
          <p:cNvCxnSpPr/>
          <p:nvPr/>
        </p:nvCxnSpPr>
        <p:spPr>
          <a:xfrm>
            <a:off x="18421991" y="21935440"/>
            <a:ext cx="3578629" cy="518160"/>
          </a:xfrm>
          <a:prstGeom prst="line">
            <a:avLst/>
          </a:prstGeom>
          <a:ln w="15875">
            <a:solidFill>
              <a:srgbClr val="3733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20691365" y="21935440"/>
            <a:ext cx="1309255" cy="518160"/>
          </a:xfrm>
          <a:prstGeom prst="line">
            <a:avLst/>
          </a:prstGeom>
          <a:ln w="15875">
            <a:solidFill>
              <a:srgbClr val="3733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22000620" y="21935440"/>
            <a:ext cx="960120" cy="518160"/>
          </a:xfrm>
          <a:prstGeom prst="line">
            <a:avLst/>
          </a:prstGeom>
          <a:ln w="15875">
            <a:solidFill>
              <a:srgbClr val="3733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22000620" y="21935440"/>
            <a:ext cx="3229495" cy="518160"/>
          </a:xfrm>
          <a:prstGeom prst="line">
            <a:avLst/>
          </a:prstGeom>
          <a:ln w="15875">
            <a:solidFill>
              <a:srgbClr val="3733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22000620" y="23489920"/>
            <a:ext cx="0" cy="518160"/>
          </a:xfrm>
          <a:prstGeom prst="line">
            <a:avLst/>
          </a:prstGeom>
          <a:ln w="15875">
            <a:solidFill>
              <a:srgbClr val="3733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22000620" y="25044400"/>
            <a:ext cx="0" cy="518160"/>
          </a:xfrm>
          <a:prstGeom prst="line">
            <a:avLst/>
          </a:prstGeom>
          <a:ln w="15875">
            <a:solidFill>
              <a:srgbClr val="3733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9556678" y="26598880"/>
            <a:ext cx="2443942" cy="345440"/>
          </a:xfrm>
          <a:prstGeom prst="line">
            <a:avLst/>
          </a:prstGeom>
          <a:ln w="15875">
            <a:solidFill>
              <a:srgbClr val="3733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22000620" y="26598880"/>
            <a:ext cx="2443942" cy="345440"/>
          </a:xfrm>
          <a:prstGeom prst="line">
            <a:avLst/>
          </a:prstGeom>
          <a:ln w="15875">
            <a:solidFill>
              <a:srgbClr val="B23A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24269995" y="22971760"/>
            <a:ext cx="436418" cy="0"/>
          </a:xfrm>
          <a:prstGeom prst="line">
            <a:avLst/>
          </a:prstGeom>
          <a:ln w="15875">
            <a:solidFill>
              <a:srgbClr val="A9821B"/>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24269995" y="24526240"/>
            <a:ext cx="436418" cy="0"/>
          </a:xfrm>
          <a:prstGeom prst="line">
            <a:avLst/>
          </a:prstGeom>
          <a:ln w="15875">
            <a:solidFill>
              <a:srgbClr val="A982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5828420" y="28090368"/>
            <a:ext cx="12344400" cy="1371600"/>
          </a:xfrm>
          <a:prstGeom prst="rect">
            <a:avLst/>
          </a:prstGeom>
          <a:noFill/>
        </p:spPr>
        <p:txBody>
          <a:bodyPr wrap="square">
            <a:spAutoFit/>
          </a:bodyPr>
          <a:lstStyle/>
          <a:p>
            <a:pPr algn="ctr"/>
            <a:r>
              <a:rPr lang="ko-KR" altLang="en-US" sz="2000" b="1" dirty="0">
                <a:solidFill>
                  <a:srgbClr val="373362"/>
                </a:solidFill>
                <a:latin typeface="맑은 고딕"/>
                <a:ea typeface="맑은 고딕"/>
                <a:cs typeface="맑은 고딕"/>
              </a:rPr>
              <a:t>Fig. 3. </a:t>
            </a:r>
            <a:r>
              <a:rPr lang="ko-KR" altLang="en-US" sz="2000" dirty="0">
                <a:solidFill>
                  <a:srgbClr val="373362"/>
                </a:solidFill>
                <a:latin typeface="맑은 고딕"/>
                <a:ea typeface="맑은 고딕"/>
                <a:cs typeface="맑은 고딕"/>
              </a:rPr>
              <a:t>4축 위험 점수화 및 Confidence-Aware 결정 모델 - 객체 민감도, 환경, 행위에 대한 위험 가산값에서 업무적합도 감산값을 차감하여 하나의 점수를 산출하고 이를 5단계 접근/마스킹 레벨로 매핑한다. 신뢰도가 낮은 결정은 외부화되고 실시간 튜닝 가능한 정책 임계값을 통해 상향 조정된다.</a:t>
            </a:r>
          </a:p>
        </p:txBody>
      </p:sp>
    </p:spTree>
    <p:extLst>
      <p:ext uri="{BB962C8B-B14F-4D97-AF65-F5344CB8AC3E}">
        <p14:creationId xmlns:p14="http://schemas.microsoft.com/office/powerpoint/2010/main" val="2561063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12821</TotalTime>
  <Words>1234</Words>
  <Application>Microsoft Office PowerPoint</Application>
  <PresentationFormat>사용자 지정</PresentationFormat>
  <Paragraphs>130</Paragraphs>
  <Slides>1</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Calibri</vt:lpstr>
      <vt:lpstr>맑은 고딕</vt:lpstr>
      <vt:lpstr>Book Antiqua</vt:lpstr>
      <vt:lpstr>Wingdings</vt:lpstr>
      <vt:lpstr>Tahoma</vt:lpstr>
      <vt:lpstr>Office Theme</vt:lpstr>
      <vt:lpstr>경찰 전용 동적 제로트러스트 접근제어 시스템 내부자 위협 대응형 수사정보 보안 시스템</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and White Minimalist Academic Resume</dc:title>
  <dc:creator>김명현</dc:creator>
  <cp:keywords>DAFkLHEIsrQ,BAFkLHqlZls</cp:keywords>
  <cp:lastModifiedBy>정재홍</cp:lastModifiedBy>
  <cp:revision>40</cp:revision>
  <cp:lastPrinted>2023-06-09T18:04:28Z</cp:lastPrinted>
  <dcterms:created xsi:type="dcterms:W3CDTF">2023-05-28T05:27:02Z</dcterms:created>
  <dcterms:modified xsi:type="dcterms:W3CDTF">2026-06-13T05:31:17Z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2023-05-28T00:00:00Z</vt:filetime>
  </property>
  <property fmtid="{D5CDD505-2E9C-101B-9397-08002B2CF9AE}" pid="3" name="Creator">
    <vt:lpwstr>Canva</vt:lpwstr>
  </property>
  <property fmtid="{D5CDD505-2E9C-101B-9397-08002B2CF9AE}" pid="4" name="LastSaved">
    <vt:filetime>2023-05-28T00:00:00Z</vt:filetime>
  </property>
</Properties>
</file>