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67" r:id="rId5"/>
    <p:sldId id="259" r:id="rId6"/>
    <p:sldId id="260" r:id="rId7"/>
    <p:sldId id="261" r:id="rId8"/>
    <p:sldId id="262" r:id="rId9"/>
    <p:sldId id="263" r:id="rId10"/>
    <p:sldId id="264" r:id="rId11"/>
    <p:sldId id="266" r:id="rId12"/>
    <p:sldId id="268" r:id="rId13"/>
    <p:sldId id="269" r:id="rId14"/>
    <p:sldId id="270" r:id="rId15"/>
    <p:sldId id="265" r:id="rId16"/>
  </p:sldIdLst>
  <p:sldSz cx="9144000" cy="5143500" type="screen16x9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9" d="100"/>
          <a:sy n="99" d="100"/>
        </p:scale>
        <p:origin x="6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548805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E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3B9FE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860036"/>
            <a:ext cx="9144000" cy="283464"/>
          </a:xfrm>
          <a:prstGeom prst="rect">
            <a:avLst/>
          </a:prstGeom>
          <a:solidFill>
            <a:srgbClr val="061525"/>
          </a:solidFill>
          <a:ln/>
        </p:spPr>
      </p:sp>
      <p:sp>
        <p:nvSpPr>
          <p:cNvPr id="4" name="Text 2"/>
          <p:cNvSpPr/>
          <p:nvPr/>
        </p:nvSpPr>
        <p:spPr>
          <a:xfrm>
            <a:off x="347472" y="45720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3B9FE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캡스톤 디자인  ·  기말 발표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841248"/>
            <a:ext cx="68580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경찰 전용 동적</a:t>
            </a:r>
            <a:endParaRPr lang="en-US" sz="36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제로트러스트 접근제어 시스템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347472" y="2871216"/>
            <a:ext cx="6583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B8D4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내부자 위협 대응형  수사정보 보안 시스템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47472" y="3291840"/>
            <a:ext cx="4754880" cy="22860"/>
          </a:xfrm>
          <a:prstGeom prst="rect">
            <a:avLst/>
          </a:prstGeom>
          <a:solidFill>
            <a:srgbClr val="3B9FE8"/>
          </a:solidFill>
          <a:ln/>
        </p:spPr>
      </p:sp>
      <p:sp>
        <p:nvSpPr>
          <p:cNvPr id="8" name="Text 6"/>
          <p:cNvSpPr/>
          <p:nvPr/>
        </p:nvSpPr>
        <p:spPr>
          <a:xfrm>
            <a:off x="347472" y="3438144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8D4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무신뢰 보안단  |  정재홍 · 허준 · 홍준원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748272" y="1755648"/>
            <a:ext cx="2176272" cy="1444752"/>
          </a:xfrm>
          <a:prstGeom prst="rect">
            <a:avLst/>
          </a:prstGeom>
          <a:solidFill>
            <a:srgbClr val="0D2B52"/>
          </a:solidFill>
          <a:ln w="12700">
            <a:solidFill>
              <a:srgbClr val="3B9F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748272" y="1755648"/>
            <a:ext cx="2176272" cy="1444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80000"/>
              </a:lnSpc>
              <a:buNone/>
            </a:pPr>
            <a:r>
              <a:rPr lang="en-US" sz="1600" b="1" dirty="0">
                <a:solidFill>
                  <a:srgbClr val="3B9FE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Never Trust</a:t>
            </a:r>
            <a:endParaRPr lang="en-US" sz="1600" dirty="0"/>
          </a:p>
          <a:p>
            <a:pPr marL="0" indent="0" algn="ctr">
              <a:lnSpc>
                <a:spcPct val="180000"/>
              </a:lnSpc>
              <a:buNone/>
            </a:pPr>
            <a:r>
              <a:rPr lang="en-US" sz="1600" b="1" dirty="0">
                <a:solidFill>
                  <a:srgbClr val="3B9FE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Always Verify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47472" y="3913632"/>
            <a:ext cx="1335024" cy="292608"/>
          </a:xfrm>
          <a:prstGeom prst="rect">
            <a:avLst/>
          </a:prstGeom>
          <a:solidFill>
            <a:srgbClr val="0D2B52"/>
          </a:solidFill>
          <a:ln w="6350">
            <a:solidFill>
              <a:srgbClr val="1A3A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" y="3913632"/>
            <a:ext cx="13350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7FAAC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Never Trust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1755648" y="3913632"/>
            <a:ext cx="1335024" cy="292608"/>
          </a:xfrm>
          <a:prstGeom prst="rect">
            <a:avLst/>
          </a:prstGeom>
          <a:solidFill>
            <a:srgbClr val="0D2B52"/>
          </a:solidFill>
          <a:ln w="6350">
            <a:solidFill>
              <a:srgbClr val="1A3A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755648" y="3913632"/>
            <a:ext cx="13350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7FAAC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Always Verify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3163824" y="3913632"/>
            <a:ext cx="1335024" cy="292608"/>
          </a:xfrm>
          <a:prstGeom prst="rect">
            <a:avLst/>
          </a:prstGeom>
          <a:solidFill>
            <a:srgbClr val="0D2B52"/>
          </a:solidFill>
          <a:ln w="6350">
            <a:solidFill>
              <a:srgbClr val="1A3A6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163824" y="3913632"/>
            <a:ext cx="13350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7FAAC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Least Privilege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4572000" y="3913632"/>
            <a:ext cx="1335024" cy="292608"/>
          </a:xfrm>
          <a:prstGeom prst="rect">
            <a:avLst/>
          </a:prstGeom>
          <a:solidFill>
            <a:srgbClr val="0D2B52"/>
          </a:solidFill>
          <a:ln w="6350">
            <a:solidFill>
              <a:srgbClr val="1A3A6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0" y="3913632"/>
            <a:ext cx="13350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7FAAC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Assume Breach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5980176" y="3913632"/>
            <a:ext cx="1335024" cy="292608"/>
          </a:xfrm>
          <a:prstGeom prst="rect">
            <a:avLst/>
          </a:prstGeom>
          <a:solidFill>
            <a:srgbClr val="0D2B52"/>
          </a:solidFill>
          <a:ln w="6350">
            <a:solidFill>
              <a:srgbClr val="1A3A6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80176" y="3913632"/>
            <a:ext cx="13350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7FAAC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Verify Explicitly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7388352" y="3913632"/>
            <a:ext cx="1335024" cy="292608"/>
          </a:xfrm>
          <a:prstGeom prst="rect">
            <a:avLst/>
          </a:prstGeom>
          <a:solidFill>
            <a:srgbClr val="0D2B52"/>
          </a:solidFill>
          <a:ln w="6350">
            <a:solidFill>
              <a:srgbClr val="1A3A6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88352" y="3913632"/>
            <a:ext cx="13350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7FAAC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Audit Everything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274320" y="4887468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7F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NIST SP 800-207  ·  Never Trust Always Verify  ·  Continuous Monitoring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OC">
    <p:bg>
      <p:bgPr>
        <a:solidFill>
          <a:srgbClr val="F0F4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0B1E3D"/>
          </a:solidFill>
          <a:ln/>
        </p:spPr>
      </p:sp>
      <p:sp>
        <p:nvSpPr>
          <p:cNvPr id="12" name="T"/>
          <p:cNvSpPr/>
          <p:nvPr/>
        </p:nvSpPr>
        <p:spPr>
          <a:xfrm>
            <a:off x="274320" y="64008"/>
            <a:ext cx="8595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ko-KR" sz="17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목  차</a:t>
            </a:r>
          </a:p>
        </p:txBody>
      </p:sp>
      <p:sp>
        <p:nvSpPr>
          <p:cNvPr id="13" name="S"/>
          <p:cNvSpPr/>
          <p:nvPr/>
        </p:nvSpPr>
        <p:spPr>
          <a:xfrm>
            <a:off x="228600" y="620000"/>
            <a:ext cx="8595360" cy="512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S"/>
          <p:cNvSpPr/>
          <p:nvPr/>
        </p:nvSpPr>
        <p:spPr>
          <a:xfrm>
            <a:off x="228600" y="620000"/>
            <a:ext cx="45720" cy="512000"/>
          </a:xfrm>
          <a:prstGeom prst="rect">
            <a:avLst/>
          </a:prstGeom>
          <a:solidFill>
            <a:srgbClr val="1E5FA8"/>
          </a:solidFill>
          <a:ln/>
        </p:spPr>
      </p:sp>
      <p:sp>
        <p:nvSpPr>
          <p:cNvPr id="15" name="S"/>
          <p:cNvSpPr/>
          <p:nvPr/>
        </p:nvSpPr>
        <p:spPr>
          <a:xfrm>
            <a:off x="301752" y="735924"/>
            <a:ext cx="310896" cy="280152"/>
          </a:xfrm>
          <a:prstGeom prst="ellipse">
            <a:avLst/>
          </a:prstGeom>
          <a:solidFill>
            <a:srgbClr val="1E5FA8"/>
          </a:solidFill>
          <a:ln/>
        </p:spPr>
      </p:sp>
      <p:sp>
        <p:nvSpPr>
          <p:cNvPr id="16" name="T"/>
          <p:cNvSpPr/>
          <p:nvPr/>
        </p:nvSpPr>
        <p:spPr>
          <a:xfrm>
            <a:off x="301752" y="735924"/>
            <a:ext cx="310896" cy="280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ko-KR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</a:p>
        </p:txBody>
      </p:sp>
      <p:sp>
        <p:nvSpPr>
          <p:cNvPr id="17" name="ln"/>
          <p:cNvSpPr/>
          <p:nvPr/>
        </p:nvSpPr>
        <p:spPr>
          <a:xfrm>
            <a:off x="722376" y="672000"/>
            <a:ext cx="0" cy="408000"/>
          </a:xfrm>
          <a:prstGeom prst="line">
            <a:avLst/>
          </a:prstGeom>
          <a:ln w="12700">
            <a:solidFill>
              <a:srgbClr val="CBD5E1"/>
            </a:solidFill>
          </a:ln>
        </p:spPr>
      </p:sp>
      <p:sp>
        <p:nvSpPr>
          <p:cNvPr id="18" name="T"/>
          <p:cNvSpPr/>
          <p:nvPr/>
        </p:nvSpPr>
        <p:spPr>
          <a:xfrm>
            <a:off x="850392" y="668000"/>
            <a:ext cx="3700000" cy="24719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ko-KR" sz="1200" b="1" dirty="0">
                <a:solidFill>
                  <a:srgbClr val="0D1B3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문제 정의</a:t>
            </a:r>
          </a:p>
        </p:txBody>
      </p:sp>
      <p:sp>
        <p:nvSpPr>
          <p:cNvPr id="19" name="T"/>
          <p:cNvSpPr/>
          <p:nvPr/>
        </p:nvSpPr>
        <p:spPr>
          <a:xfrm>
            <a:off x="850392" y="888000"/>
            <a:ext cx="7534656" cy="225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ko-KR" sz="92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반복되는 경찰 내부자 위협  —  실제 사건 3건과 구조적 원인</a:t>
            </a:r>
          </a:p>
        </p:txBody>
      </p:sp>
      <p:sp>
        <p:nvSpPr>
          <p:cNvPr id="20" name="S"/>
          <p:cNvSpPr/>
          <p:nvPr/>
        </p:nvSpPr>
        <p:spPr>
          <a:xfrm>
            <a:off x="228600" y="1177000"/>
            <a:ext cx="8595360" cy="512000"/>
          </a:xfrm>
          <a:prstGeom prst="rect">
            <a:avLst/>
          </a:prstGeom>
          <a:solidFill>
            <a:srgbClr val="F1F5FB"/>
          </a:solidFill>
          <a:ln/>
        </p:spPr>
      </p:sp>
      <p:sp>
        <p:nvSpPr>
          <p:cNvPr id="21" name="S"/>
          <p:cNvSpPr/>
          <p:nvPr/>
        </p:nvSpPr>
        <p:spPr>
          <a:xfrm>
            <a:off x="228600" y="1177000"/>
            <a:ext cx="45720" cy="512000"/>
          </a:xfrm>
          <a:prstGeom prst="rect">
            <a:avLst/>
          </a:prstGeom>
          <a:solidFill>
            <a:srgbClr val="1E5FA8"/>
          </a:solidFill>
          <a:ln/>
        </p:spPr>
      </p:sp>
      <p:sp>
        <p:nvSpPr>
          <p:cNvPr id="22" name="S"/>
          <p:cNvSpPr/>
          <p:nvPr/>
        </p:nvSpPr>
        <p:spPr>
          <a:xfrm>
            <a:off x="301752" y="1292924"/>
            <a:ext cx="310896" cy="280152"/>
          </a:xfrm>
          <a:prstGeom prst="ellipse">
            <a:avLst/>
          </a:prstGeom>
          <a:solidFill>
            <a:srgbClr val="1E5FA8"/>
          </a:solidFill>
          <a:ln/>
        </p:spPr>
      </p:sp>
      <p:sp>
        <p:nvSpPr>
          <p:cNvPr id="23" name="T"/>
          <p:cNvSpPr/>
          <p:nvPr/>
        </p:nvSpPr>
        <p:spPr>
          <a:xfrm>
            <a:off x="301752" y="1292924"/>
            <a:ext cx="310896" cy="280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ko-KR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</a:p>
        </p:txBody>
      </p:sp>
      <p:sp>
        <p:nvSpPr>
          <p:cNvPr id="24" name="ln"/>
          <p:cNvSpPr/>
          <p:nvPr/>
        </p:nvSpPr>
        <p:spPr>
          <a:xfrm>
            <a:off x="722376" y="1229000"/>
            <a:ext cx="0" cy="408000"/>
          </a:xfrm>
          <a:prstGeom prst="line">
            <a:avLst/>
          </a:prstGeom>
          <a:ln w="12700">
            <a:solidFill>
              <a:srgbClr val="CBD5E1"/>
            </a:solidFill>
          </a:ln>
        </p:spPr>
      </p:sp>
      <p:sp>
        <p:nvSpPr>
          <p:cNvPr id="25" name="T"/>
          <p:cNvSpPr/>
          <p:nvPr/>
        </p:nvSpPr>
        <p:spPr>
          <a:xfrm>
            <a:off x="850392" y="1225000"/>
            <a:ext cx="3700000" cy="24719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ko-KR" sz="1200" b="1" dirty="0">
                <a:solidFill>
                  <a:srgbClr val="0D1B3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차별점 · 신규성</a:t>
            </a:r>
          </a:p>
        </p:txBody>
      </p:sp>
      <p:sp>
        <p:nvSpPr>
          <p:cNvPr id="26" name="T"/>
          <p:cNvSpPr/>
          <p:nvPr/>
        </p:nvSpPr>
        <p:spPr>
          <a:xfrm>
            <a:off x="850392" y="1445000"/>
            <a:ext cx="7534656" cy="225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ko-KR" sz="92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기존 경찰 시스템과의 비교  ·  핵심 신규성 3가지</a:t>
            </a:r>
          </a:p>
        </p:txBody>
      </p:sp>
      <p:sp>
        <p:nvSpPr>
          <p:cNvPr id="27" name="S"/>
          <p:cNvSpPr/>
          <p:nvPr/>
        </p:nvSpPr>
        <p:spPr>
          <a:xfrm>
            <a:off x="228600" y="1734000"/>
            <a:ext cx="8595360" cy="512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S"/>
          <p:cNvSpPr/>
          <p:nvPr/>
        </p:nvSpPr>
        <p:spPr>
          <a:xfrm>
            <a:off x="228600" y="1734000"/>
            <a:ext cx="45720" cy="512000"/>
          </a:xfrm>
          <a:prstGeom prst="rect">
            <a:avLst/>
          </a:prstGeom>
          <a:solidFill>
            <a:srgbClr val="1E5FA8"/>
          </a:solidFill>
          <a:ln/>
        </p:spPr>
      </p:sp>
      <p:sp>
        <p:nvSpPr>
          <p:cNvPr id="29" name="S"/>
          <p:cNvSpPr/>
          <p:nvPr/>
        </p:nvSpPr>
        <p:spPr>
          <a:xfrm>
            <a:off x="301752" y="1849924"/>
            <a:ext cx="310896" cy="280152"/>
          </a:xfrm>
          <a:prstGeom prst="ellipse">
            <a:avLst/>
          </a:prstGeom>
          <a:solidFill>
            <a:srgbClr val="1E5FA8"/>
          </a:solidFill>
          <a:ln/>
        </p:spPr>
      </p:sp>
      <p:sp>
        <p:nvSpPr>
          <p:cNvPr id="30" name="T"/>
          <p:cNvSpPr/>
          <p:nvPr/>
        </p:nvSpPr>
        <p:spPr>
          <a:xfrm>
            <a:off x="301752" y="1849924"/>
            <a:ext cx="310896" cy="280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ko-KR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</a:p>
        </p:txBody>
      </p:sp>
      <p:sp>
        <p:nvSpPr>
          <p:cNvPr id="31" name="ln"/>
          <p:cNvSpPr/>
          <p:nvPr/>
        </p:nvSpPr>
        <p:spPr>
          <a:xfrm>
            <a:off x="722376" y="1786000"/>
            <a:ext cx="0" cy="408000"/>
          </a:xfrm>
          <a:prstGeom prst="line">
            <a:avLst/>
          </a:prstGeom>
          <a:ln w="12700">
            <a:solidFill>
              <a:srgbClr val="CBD5E1"/>
            </a:solidFill>
          </a:ln>
        </p:spPr>
      </p:sp>
      <p:sp>
        <p:nvSpPr>
          <p:cNvPr id="32" name="T"/>
          <p:cNvSpPr/>
          <p:nvPr/>
        </p:nvSpPr>
        <p:spPr>
          <a:xfrm>
            <a:off x="850392" y="1782000"/>
            <a:ext cx="3700000" cy="24719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ko-KR" sz="1200" b="1" dirty="0">
                <a:solidFill>
                  <a:srgbClr val="0D1B3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제로트러스트 원칙 매핑</a:t>
            </a:r>
          </a:p>
        </p:txBody>
      </p:sp>
      <p:sp>
        <p:nvSpPr>
          <p:cNvPr id="33" name="T"/>
          <p:cNvSpPr/>
          <p:nvPr/>
        </p:nvSpPr>
        <p:spPr>
          <a:xfrm>
            <a:off x="850392" y="2002000"/>
            <a:ext cx="7534656" cy="225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ko-KR" sz="92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NIST 6대 원칙  →  시스템 구현 기능 연결 구조</a:t>
            </a:r>
          </a:p>
        </p:txBody>
      </p:sp>
      <p:sp>
        <p:nvSpPr>
          <p:cNvPr id="34" name="S"/>
          <p:cNvSpPr/>
          <p:nvPr/>
        </p:nvSpPr>
        <p:spPr>
          <a:xfrm>
            <a:off x="228600" y="2291000"/>
            <a:ext cx="8595360" cy="512000"/>
          </a:xfrm>
          <a:prstGeom prst="rect">
            <a:avLst/>
          </a:prstGeom>
          <a:solidFill>
            <a:srgbClr val="F1F5FB"/>
          </a:solidFill>
          <a:ln/>
        </p:spPr>
      </p:sp>
      <p:sp>
        <p:nvSpPr>
          <p:cNvPr id="35" name="S"/>
          <p:cNvSpPr/>
          <p:nvPr/>
        </p:nvSpPr>
        <p:spPr>
          <a:xfrm>
            <a:off x="228600" y="2291000"/>
            <a:ext cx="45720" cy="512000"/>
          </a:xfrm>
          <a:prstGeom prst="rect">
            <a:avLst/>
          </a:prstGeom>
          <a:solidFill>
            <a:srgbClr val="1E5FA8"/>
          </a:solidFill>
          <a:ln/>
        </p:spPr>
      </p:sp>
      <p:sp>
        <p:nvSpPr>
          <p:cNvPr id="36" name="S"/>
          <p:cNvSpPr/>
          <p:nvPr/>
        </p:nvSpPr>
        <p:spPr>
          <a:xfrm>
            <a:off x="301752" y="2406924"/>
            <a:ext cx="310896" cy="280152"/>
          </a:xfrm>
          <a:prstGeom prst="ellipse">
            <a:avLst/>
          </a:prstGeom>
          <a:solidFill>
            <a:srgbClr val="1E5FA8"/>
          </a:solidFill>
          <a:ln/>
        </p:spPr>
      </p:sp>
      <p:sp>
        <p:nvSpPr>
          <p:cNvPr id="37" name="T"/>
          <p:cNvSpPr/>
          <p:nvPr/>
        </p:nvSpPr>
        <p:spPr>
          <a:xfrm>
            <a:off x="301752" y="2406924"/>
            <a:ext cx="310896" cy="280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ko-KR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</a:p>
        </p:txBody>
      </p:sp>
      <p:sp>
        <p:nvSpPr>
          <p:cNvPr id="38" name="ln"/>
          <p:cNvSpPr/>
          <p:nvPr/>
        </p:nvSpPr>
        <p:spPr>
          <a:xfrm>
            <a:off x="722376" y="2343000"/>
            <a:ext cx="0" cy="408000"/>
          </a:xfrm>
          <a:prstGeom prst="line">
            <a:avLst/>
          </a:prstGeom>
          <a:ln w="12700">
            <a:solidFill>
              <a:srgbClr val="CBD5E1"/>
            </a:solidFill>
          </a:ln>
        </p:spPr>
      </p:sp>
      <p:sp>
        <p:nvSpPr>
          <p:cNvPr id="39" name="T"/>
          <p:cNvSpPr/>
          <p:nvPr/>
        </p:nvSpPr>
        <p:spPr>
          <a:xfrm>
            <a:off x="850392" y="2339000"/>
            <a:ext cx="3700000" cy="24719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ko-KR" sz="1200" b="1" dirty="0">
                <a:solidFill>
                  <a:srgbClr val="0D1B3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시스템 구성도</a:t>
            </a:r>
          </a:p>
        </p:txBody>
      </p:sp>
      <p:sp>
        <p:nvSpPr>
          <p:cNvPr id="40" name="T"/>
          <p:cNvSpPr/>
          <p:nvPr/>
        </p:nvSpPr>
        <p:spPr>
          <a:xfrm>
            <a:off x="850392" y="2559000"/>
            <a:ext cx="7534656" cy="225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ko-KR" sz="92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전체 처리 흐름과 5단계 접근 통제 구조</a:t>
            </a:r>
          </a:p>
        </p:txBody>
      </p:sp>
      <p:sp>
        <p:nvSpPr>
          <p:cNvPr id="41" name="S"/>
          <p:cNvSpPr/>
          <p:nvPr/>
        </p:nvSpPr>
        <p:spPr>
          <a:xfrm>
            <a:off x="228600" y="2848000"/>
            <a:ext cx="8595360" cy="512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2" name="S"/>
          <p:cNvSpPr/>
          <p:nvPr/>
        </p:nvSpPr>
        <p:spPr>
          <a:xfrm>
            <a:off x="228600" y="2848000"/>
            <a:ext cx="45720" cy="512000"/>
          </a:xfrm>
          <a:prstGeom prst="rect">
            <a:avLst/>
          </a:prstGeom>
          <a:solidFill>
            <a:srgbClr val="1E5FA8"/>
          </a:solidFill>
          <a:ln/>
        </p:spPr>
      </p:sp>
      <p:sp>
        <p:nvSpPr>
          <p:cNvPr id="43" name="S"/>
          <p:cNvSpPr/>
          <p:nvPr/>
        </p:nvSpPr>
        <p:spPr>
          <a:xfrm>
            <a:off x="301752" y="2963924"/>
            <a:ext cx="310896" cy="280152"/>
          </a:xfrm>
          <a:prstGeom prst="ellipse">
            <a:avLst/>
          </a:prstGeom>
          <a:solidFill>
            <a:srgbClr val="1E5FA8"/>
          </a:solidFill>
          <a:ln/>
        </p:spPr>
      </p:sp>
      <p:sp>
        <p:nvSpPr>
          <p:cNvPr id="44" name="T"/>
          <p:cNvSpPr/>
          <p:nvPr/>
        </p:nvSpPr>
        <p:spPr>
          <a:xfrm>
            <a:off x="301752" y="2963924"/>
            <a:ext cx="310896" cy="280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ko-KR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</a:t>
            </a:r>
          </a:p>
        </p:txBody>
      </p:sp>
      <p:sp>
        <p:nvSpPr>
          <p:cNvPr id="45" name="ln"/>
          <p:cNvSpPr/>
          <p:nvPr/>
        </p:nvSpPr>
        <p:spPr>
          <a:xfrm>
            <a:off x="722376" y="2900000"/>
            <a:ext cx="0" cy="408000"/>
          </a:xfrm>
          <a:prstGeom prst="line">
            <a:avLst/>
          </a:prstGeom>
          <a:ln w="12700">
            <a:solidFill>
              <a:srgbClr val="CBD5E1"/>
            </a:solidFill>
          </a:ln>
        </p:spPr>
      </p:sp>
      <p:sp>
        <p:nvSpPr>
          <p:cNvPr id="46" name="T"/>
          <p:cNvSpPr/>
          <p:nvPr/>
        </p:nvSpPr>
        <p:spPr>
          <a:xfrm>
            <a:off x="850392" y="2896000"/>
            <a:ext cx="3700000" cy="24719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ko-KR" sz="1200" b="1" dirty="0">
                <a:solidFill>
                  <a:srgbClr val="0D1B3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4축 위험 점수 &amp; 접근 결과</a:t>
            </a:r>
          </a:p>
        </p:txBody>
      </p:sp>
      <p:sp>
        <p:nvSpPr>
          <p:cNvPr id="47" name="T"/>
          <p:cNvSpPr/>
          <p:nvPr/>
        </p:nvSpPr>
        <p:spPr>
          <a:xfrm>
            <a:off x="850392" y="3116000"/>
            <a:ext cx="7534656" cy="225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ko-KR" sz="92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점수 산정 방식  →  5단계 차등 접근 제어  →  마스킹 5레벨</a:t>
            </a:r>
          </a:p>
        </p:txBody>
      </p:sp>
      <p:sp>
        <p:nvSpPr>
          <p:cNvPr id="48" name="S"/>
          <p:cNvSpPr/>
          <p:nvPr/>
        </p:nvSpPr>
        <p:spPr>
          <a:xfrm>
            <a:off x="228600" y="3405000"/>
            <a:ext cx="8595360" cy="512000"/>
          </a:xfrm>
          <a:prstGeom prst="rect">
            <a:avLst/>
          </a:prstGeom>
          <a:solidFill>
            <a:srgbClr val="F1F5FB"/>
          </a:solidFill>
          <a:ln/>
        </p:spPr>
      </p:sp>
      <p:sp>
        <p:nvSpPr>
          <p:cNvPr id="49" name="S"/>
          <p:cNvSpPr/>
          <p:nvPr/>
        </p:nvSpPr>
        <p:spPr>
          <a:xfrm>
            <a:off x="228600" y="3405000"/>
            <a:ext cx="45720" cy="512000"/>
          </a:xfrm>
          <a:prstGeom prst="rect">
            <a:avLst/>
          </a:prstGeom>
          <a:solidFill>
            <a:srgbClr val="1E5FA8"/>
          </a:solidFill>
          <a:ln/>
        </p:spPr>
      </p:sp>
      <p:sp>
        <p:nvSpPr>
          <p:cNvPr id="50" name="S"/>
          <p:cNvSpPr/>
          <p:nvPr/>
        </p:nvSpPr>
        <p:spPr>
          <a:xfrm>
            <a:off x="301752" y="3520924"/>
            <a:ext cx="310896" cy="280152"/>
          </a:xfrm>
          <a:prstGeom prst="ellipse">
            <a:avLst/>
          </a:prstGeom>
          <a:solidFill>
            <a:srgbClr val="1E5FA8"/>
          </a:solidFill>
          <a:ln/>
        </p:spPr>
      </p:sp>
      <p:sp>
        <p:nvSpPr>
          <p:cNvPr id="51" name="T"/>
          <p:cNvSpPr/>
          <p:nvPr/>
        </p:nvSpPr>
        <p:spPr>
          <a:xfrm>
            <a:off x="301752" y="3520924"/>
            <a:ext cx="310896" cy="280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ko-KR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</a:t>
            </a:r>
          </a:p>
        </p:txBody>
      </p:sp>
      <p:sp>
        <p:nvSpPr>
          <p:cNvPr id="52" name="ln"/>
          <p:cNvSpPr/>
          <p:nvPr/>
        </p:nvSpPr>
        <p:spPr>
          <a:xfrm>
            <a:off x="722376" y="3457000"/>
            <a:ext cx="0" cy="408000"/>
          </a:xfrm>
          <a:prstGeom prst="line">
            <a:avLst/>
          </a:prstGeom>
          <a:ln w="12700">
            <a:solidFill>
              <a:srgbClr val="CBD5E1"/>
            </a:solidFill>
          </a:ln>
        </p:spPr>
      </p:sp>
      <p:sp>
        <p:nvSpPr>
          <p:cNvPr id="53" name="T"/>
          <p:cNvSpPr/>
          <p:nvPr/>
        </p:nvSpPr>
        <p:spPr>
          <a:xfrm>
            <a:off x="850392" y="3453000"/>
            <a:ext cx="3700000" cy="24719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ko-KR" sz="1200" b="1" dirty="0">
                <a:solidFill>
                  <a:srgbClr val="0D1B3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보안 메커니즘</a:t>
            </a:r>
          </a:p>
        </p:txBody>
      </p:sp>
      <p:sp>
        <p:nvSpPr>
          <p:cNvPr id="54" name="T"/>
          <p:cNvSpPr/>
          <p:nvPr/>
        </p:nvSpPr>
        <p:spPr>
          <a:xfrm>
            <a:off x="850392" y="3673000"/>
            <a:ext cx="7534656" cy="225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ko-KR" sz="92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즉시 차단 4규칙 · Confidence-Aware · Break-Glass · 감사 로그</a:t>
            </a:r>
          </a:p>
        </p:txBody>
      </p:sp>
      <p:sp>
        <p:nvSpPr>
          <p:cNvPr id="55" name="S"/>
          <p:cNvSpPr/>
          <p:nvPr/>
        </p:nvSpPr>
        <p:spPr>
          <a:xfrm>
            <a:off x="228600" y="3962000"/>
            <a:ext cx="8595360" cy="512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6" name="S"/>
          <p:cNvSpPr/>
          <p:nvPr/>
        </p:nvSpPr>
        <p:spPr>
          <a:xfrm>
            <a:off x="228600" y="3962000"/>
            <a:ext cx="45720" cy="512000"/>
          </a:xfrm>
          <a:prstGeom prst="rect">
            <a:avLst/>
          </a:prstGeom>
          <a:solidFill>
            <a:srgbClr val="1E5FA8"/>
          </a:solidFill>
          <a:ln/>
        </p:spPr>
      </p:sp>
      <p:sp>
        <p:nvSpPr>
          <p:cNvPr id="57" name="S"/>
          <p:cNvSpPr/>
          <p:nvPr/>
        </p:nvSpPr>
        <p:spPr>
          <a:xfrm>
            <a:off x="301752" y="4077924"/>
            <a:ext cx="310896" cy="280152"/>
          </a:xfrm>
          <a:prstGeom prst="ellipse">
            <a:avLst/>
          </a:prstGeom>
          <a:solidFill>
            <a:srgbClr val="1E5FA8"/>
          </a:solidFill>
          <a:ln/>
        </p:spPr>
      </p:sp>
      <p:sp>
        <p:nvSpPr>
          <p:cNvPr id="58" name="T"/>
          <p:cNvSpPr/>
          <p:nvPr/>
        </p:nvSpPr>
        <p:spPr>
          <a:xfrm>
            <a:off x="301752" y="4077924"/>
            <a:ext cx="310896" cy="280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ko-KR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7</a:t>
            </a:r>
          </a:p>
        </p:txBody>
      </p:sp>
      <p:sp>
        <p:nvSpPr>
          <p:cNvPr id="59" name="ln"/>
          <p:cNvSpPr/>
          <p:nvPr/>
        </p:nvSpPr>
        <p:spPr>
          <a:xfrm>
            <a:off x="722376" y="4014000"/>
            <a:ext cx="0" cy="408000"/>
          </a:xfrm>
          <a:prstGeom prst="line">
            <a:avLst/>
          </a:prstGeom>
          <a:ln w="12700">
            <a:solidFill>
              <a:srgbClr val="CBD5E1"/>
            </a:solidFill>
          </a:ln>
        </p:spPr>
      </p:sp>
      <p:sp>
        <p:nvSpPr>
          <p:cNvPr id="60" name="T"/>
          <p:cNvSpPr/>
          <p:nvPr/>
        </p:nvSpPr>
        <p:spPr>
          <a:xfrm>
            <a:off x="850392" y="4010000"/>
            <a:ext cx="3700000" cy="24719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ko-KR" sz="1200" b="1" dirty="0">
                <a:solidFill>
                  <a:srgbClr val="0D1B3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결론 · 기대 효과</a:t>
            </a:r>
          </a:p>
        </p:txBody>
      </p:sp>
      <p:sp>
        <p:nvSpPr>
          <p:cNvPr id="61" name="T"/>
          <p:cNvSpPr/>
          <p:nvPr/>
        </p:nvSpPr>
        <p:spPr>
          <a:xfrm>
            <a:off x="850392" y="4230000"/>
            <a:ext cx="7534656" cy="225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ko-KR" sz="92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정리와 기대 효과</a:t>
            </a:r>
          </a:p>
        </p:txBody>
      </p:sp>
      <p:sp>
        <p:nvSpPr>
          <p:cNvPr id="62" name="S"/>
          <p:cNvSpPr/>
          <p:nvPr/>
        </p:nvSpPr>
        <p:spPr>
          <a:xfrm>
            <a:off x="228600" y="4519000"/>
            <a:ext cx="8595360" cy="512000"/>
          </a:xfrm>
          <a:prstGeom prst="rect">
            <a:avLst/>
          </a:prstGeom>
          <a:solidFill>
            <a:srgbClr val="F1F5FB"/>
          </a:solidFill>
          <a:ln/>
        </p:spPr>
      </p:sp>
      <p:sp>
        <p:nvSpPr>
          <p:cNvPr id="63" name="S"/>
          <p:cNvSpPr/>
          <p:nvPr/>
        </p:nvSpPr>
        <p:spPr>
          <a:xfrm>
            <a:off x="228600" y="4519000"/>
            <a:ext cx="45720" cy="512000"/>
          </a:xfrm>
          <a:prstGeom prst="rect">
            <a:avLst/>
          </a:prstGeom>
          <a:solidFill>
            <a:srgbClr val="1E5FA8"/>
          </a:solidFill>
          <a:ln/>
        </p:spPr>
      </p:sp>
      <p:sp>
        <p:nvSpPr>
          <p:cNvPr id="64" name="S"/>
          <p:cNvSpPr/>
          <p:nvPr/>
        </p:nvSpPr>
        <p:spPr>
          <a:xfrm>
            <a:off x="301752" y="4634924"/>
            <a:ext cx="310896" cy="280152"/>
          </a:xfrm>
          <a:prstGeom prst="ellipse">
            <a:avLst/>
          </a:prstGeom>
          <a:solidFill>
            <a:srgbClr val="1E5FA8"/>
          </a:solidFill>
          <a:ln/>
        </p:spPr>
      </p:sp>
      <p:sp>
        <p:nvSpPr>
          <p:cNvPr id="65" name="T"/>
          <p:cNvSpPr/>
          <p:nvPr/>
        </p:nvSpPr>
        <p:spPr>
          <a:xfrm>
            <a:off x="301752" y="4634924"/>
            <a:ext cx="310896" cy="280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ko-KR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8</a:t>
            </a:r>
          </a:p>
        </p:txBody>
      </p:sp>
      <p:sp>
        <p:nvSpPr>
          <p:cNvPr id="66" name="ln"/>
          <p:cNvSpPr/>
          <p:nvPr/>
        </p:nvSpPr>
        <p:spPr>
          <a:xfrm>
            <a:off x="722376" y="4571000"/>
            <a:ext cx="0" cy="408000"/>
          </a:xfrm>
          <a:prstGeom prst="line">
            <a:avLst/>
          </a:prstGeom>
          <a:ln w="12700">
            <a:solidFill>
              <a:srgbClr val="CBD5E1"/>
            </a:solidFill>
          </a:ln>
        </p:spPr>
      </p:sp>
      <p:sp>
        <p:nvSpPr>
          <p:cNvPr id="67" name="T"/>
          <p:cNvSpPr/>
          <p:nvPr/>
        </p:nvSpPr>
        <p:spPr>
          <a:xfrm>
            <a:off x="850392" y="4567000"/>
            <a:ext cx="3700000" cy="24719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ko-KR" sz="1200" b="1" dirty="0">
                <a:solidFill>
                  <a:srgbClr val="0D1B3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시연 시나리오</a:t>
            </a:r>
          </a:p>
        </p:txBody>
      </p:sp>
      <p:sp>
        <p:nvSpPr>
          <p:cNvPr id="68" name="T"/>
          <p:cNvSpPr/>
          <p:nvPr/>
        </p:nvSpPr>
        <p:spPr>
          <a:xfrm>
            <a:off x="850392" y="4787000"/>
            <a:ext cx="7534656" cy="225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ko-KR" sz="92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실제 사건과 매핑한 시연  ·  비담당 유출 · 비허용 위치 · 반복 접근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0B1E3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64008"/>
            <a:ext cx="8595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  문제 정의  ·  반복되는 경찰 내부자 위협</a:t>
            </a:r>
            <a:endParaRPr lang="en-US" sz="1700" b="1" dirty="0"/>
          </a:p>
        </p:txBody>
      </p:sp>
      <p:sp>
        <p:nvSpPr>
          <p:cNvPr id="4" name="Shape 2"/>
          <p:cNvSpPr/>
          <p:nvPr/>
        </p:nvSpPr>
        <p:spPr>
          <a:xfrm>
            <a:off x="274320" y="530352"/>
            <a:ext cx="310896" cy="201168"/>
          </a:xfrm>
          <a:prstGeom prst="rect">
            <a:avLst/>
          </a:prstGeom>
          <a:solidFill>
            <a:srgbClr val="1E5FA8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530352"/>
            <a:ext cx="3108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58368" y="539496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실제 사건 사례  —  가해자는 모두 '인가된 내부자'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74320" y="786384"/>
            <a:ext cx="859536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877824"/>
            <a:ext cx="8595360" cy="1208532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877824"/>
            <a:ext cx="45720" cy="120853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0" name="Shape 8"/>
          <p:cNvSpPr/>
          <p:nvPr/>
        </p:nvSpPr>
        <p:spPr>
          <a:xfrm>
            <a:off x="402336" y="1024890"/>
            <a:ext cx="914400" cy="914400"/>
          </a:xfrm>
          <a:prstGeom prst="rect">
            <a:avLst/>
          </a:prstGeom>
          <a:solidFill>
            <a:srgbClr val="F0F4F9"/>
          </a:solidFill>
          <a:ln/>
        </p:spPr>
      </p:sp>
      <p:sp>
        <p:nvSpPr>
          <p:cNvPr id="11" name="Text 9"/>
          <p:cNvSpPr/>
          <p:nvPr/>
        </p:nvSpPr>
        <p:spPr>
          <a:xfrm>
            <a:off x="402336" y="102489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🚨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1408176" y="111633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C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수사정보 유출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408176" y="1591818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B3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도피 중인 친구에게 진행상황 전달</a:t>
            </a:r>
            <a:endParaRPr lang="en-US" sz="1150" dirty="0"/>
          </a:p>
        </p:txBody>
      </p:sp>
      <p:sp>
        <p:nvSpPr>
          <p:cNvPr id="14" name="Detail 14"/>
          <p:cNvSpPr/>
          <p:nvPr/>
        </p:nvSpPr>
        <p:spPr>
          <a:xfrm>
            <a:off x="4980000" y="877824"/>
            <a:ext cx="3650000" cy="12085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050" b="1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현직 경찰관 · 2026년</a:t>
            </a:r>
          </a:p>
          <a:p>
            <a:pPr marL="0" indent="0" algn="l">
              <a:lnSpc>
                <a:spcPct val="120000"/>
              </a:lnSpc>
              <a:spcBef>
                <a:spcPts val="300"/>
              </a:spcBef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항소심에서도 실형 선고</a:t>
            </a:r>
          </a:p>
          <a:p>
            <a:pPr marL="0" indent="0" algn="l">
              <a:lnSpc>
                <a:spcPct val="120000"/>
              </a:lnSpc>
              <a:spcBef>
                <a:spcPts val="300"/>
              </a:spcBef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공무상 비밀 누설</a:t>
            </a:r>
          </a:p>
        </p:txBody>
      </p:sp>
      <p:sp>
        <p:nvSpPr>
          <p:cNvPr id="15" name="Shape 13"/>
          <p:cNvSpPr/>
          <p:nvPr/>
        </p:nvSpPr>
        <p:spPr>
          <a:xfrm>
            <a:off x="274320" y="2141220"/>
            <a:ext cx="8595360" cy="1208532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" y="2141220"/>
            <a:ext cx="45720" cy="120853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7" name="Shape 15"/>
          <p:cNvSpPr/>
          <p:nvPr/>
        </p:nvSpPr>
        <p:spPr>
          <a:xfrm>
            <a:off x="402336" y="2288286"/>
            <a:ext cx="914400" cy="914400"/>
          </a:xfrm>
          <a:prstGeom prst="rect">
            <a:avLst/>
          </a:prstGeom>
          <a:solidFill>
            <a:srgbClr val="F0F4F9"/>
          </a:solidFill>
          <a:ln/>
        </p:spPr>
      </p:sp>
      <p:sp>
        <p:nvSpPr>
          <p:cNvPr id="18" name="Text 16"/>
          <p:cNvSpPr/>
          <p:nvPr/>
        </p:nvSpPr>
        <p:spPr>
          <a:xfrm>
            <a:off x="402336" y="2288286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⚠️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1408176" y="2379726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9770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관할 밖 조회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408176" y="2855214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B3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근무 관할 밖 사건 무단 조회</a:t>
            </a:r>
            <a:endParaRPr lang="en-US" sz="1150" dirty="0"/>
          </a:p>
        </p:txBody>
      </p:sp>
      <p:sp>
        <p:nvSpPr>
          <p:cNvPr id="21" name="Detail 21"/>
          <p:cNvSpPr/>
          <p:nvPr/>
        </p:nvSpPr>
        <p:spPr>
          <a:xfrm>
            <a:off x="4980000" y="2141220"/>
            <a:ext cx="3650000" cy="12085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spcBef>
                <a:spcPts val="0"/>
              </a:spcBef>
              <a:buNone/>
            </a:pPr>
            <a:r>
              <a:rPr lang="ko-KR" sz="1050" b="1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친구 부탁으로 타 관할 피의자 조회</a:t>
            </a:r>
          </a:p>
          <a:p>
            <a:pPr marL="0" indent="0" algn="l">
              <a:lnSpc>
                <a:spcPct val="120000"/>
              </a:lnSpc>
              <a:spcBef>
                <a:spcPts val="300"/>
              </a:spcBef>
              <a:buNone/>
            </a:pPr>
            <a:r>
              <a:rPr lang="ko-KR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KICS에 '관할관서: 전체'로 조회 — 권한 초과</a:t>
            </a:r>
          </a:p>
          <a:p>
            <a:pPr marL="0" indent="0" algn="l">
              <a:lnSpc>
                <a:spcPct val="120000"/>
              </a:lnSpc>
              <a:spcBef>
                <a:spcPts val="300"/>
              </a:spcBef>
              <a:buNone/>
            </a:pPr>
            <a:r>
              <a:rPr lang="ko-KR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대전고법 2019노189 · 직무유기·비밀누설 유죄</a:t>
            </a:r>
          </a:p>
        </p:txBody>
      </p:sp>
      <p:sp>
        <p:nvSpPr>
          <p:cNvPr id="22" name="Shape 20"/>
          <p:cNvSpPr/>
          <p:nvPr/>
        </p:nvSpPr>
        <p:spPr>
          <a:xfrm>
            <a:off x="274320" y="3404616"/>
            <a:ext cx="8595360" cy="1208532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74320" y="3404616"/>
            <a:ext cx="45720" cy="1208532"/>
          </a:xfrm>
          <a:prstGeom prst="rect">
            <a:avLst/>
          </a:prstGeom>
          <a:solidFill>
            <a:srgbClr val="1E5FA8"/>
          </a:solidFill>
          <a:ln/>
        </p:spPr>
      </p:sp>
      <p:sp>
        <p:nvSpPr>
          <p:cNvPr id="24" name="Shape 22"/>
          <p:cNvSpPr/>
          <p:nvPr/>
        </p:nvSpPr>
        <p:spPr>
          <a:xfrm>
            <a:off x="402336" y="3551682"/>
            <a:ext cx="914400" cy="914400"/>
          </a:xfrm>
          <a:prstGeom prst="rect">
            <a:avLst/>
          </a:prstGeom>
          <a:solidFill>
            <a:srgbClr val="F0F4F9"/>
          </a:solidFill>
          <a:ln/>
        </p:spPr>
      </p:sp>
      <p:sp>
        <p:nvSpPr>
          <p:cNvPr id="25" name="Text 23"/>
          <p:cNvSpPr/>
          <p:nvPr/>
        </p:nvSpPr>
        <p:spPr>
          <a:xfrm>
            <a:off x="402336" y="3551682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📋</a:t>
            </a:r>
            <a:endParaRPr lang="en-US" sz="3400" dirty="0"/>
          </a:p>
        </p:txBody>
      </p:sp>
      <p:sp>
        <p:nvSpPr>
          <p:cNvPr id="26" name="Text 24"/>
          <p:cNvSpPr/>
          <p:nvPr/>
        </p:nvSpPr>
        <p:spPr>
          <a:xfrm>
            <a:off x="1408176" y="3643122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5FA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반복 무단 열람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1408176" y="4118610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B3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비담당 사건정보 반복 조회</a:t>
            </a:r>
            <a:endParaRPr lang="en-US" sz="1150" dirty="0"/>
          </a:p>
        </p:txBody>
      </p:sp>
      <p:sp>
        <p:nvSpPr>
          <p:cNvPr id="28" name="Detail 28"/>
          <p:cNvSpPr/>
          <p:nvPr/>
        </p:nvSpPr>
        <p:spPr>
          <a:xfrm>
            <a:off x="4980000" y="3404616"/>
            <a:ext cx="3650000" cy="12085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050" b="1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형사사법정보시스템(KICS)</a:t>
            </a:r>
          </a:p>
          <a:p>
            <a:pPr marL="0" indent="0" algn="l">
              <a:lnSpc>
                <a:spcPct val="120000"/>
              </a:lnSpc>
              <a:spcBef>
                <a:spcPts val="300"/>
              </a:spcBef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전보·감찰 중에도 재차 열람</a:t>
            </a:r>
          </a:p>
          <a:p>
            <a:pPr marL="0" indent="0" algn="l">
              <a:lnSpc>
                <a:spcPct val="120000"/>
              </a:lnSpc>
              <a:spcBef>
                <a:spcPts val="300"/>
              </a:spcBef>
              <a:buNone/>
            </a:pPr>
            <a:r>
              <a:rPr lang="en-US" sz="10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수사 목적 외 사용 금지 위반 유죄</a:t>
            </a:r>
          </a:p>
        </p:txBody>
      </p:sp>
      <p:sp>
        <p:nvSpPr>
          <p:cNvPr id="29" name="Shape 27"/>
          <p:cNvSpPr/>
          <p:nvPr/>
        </p:nvSpPr>
        <p:spPr>
          <a:xfrm>
            <a:off x="274320" y="4668012"/>
            <a:ext cx="8595360" cy="475488"/>
          </a:xfrm>
          <a:prstGeom prst="rect">
            <a:avLst/>
          </a:prstGeom>
          <a:solidFill>
            <a:srgbClr val="FEF2F2"/>
          </a:solidFill>
          <a:ln w="9525">
            <a:solidFill>
              <a:srgbClr val="DC262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74320" y="4668012"/>
            <a:ext cx="45720" cy="47548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1" name="Text 29"/>
          <p:cNvSpPr/>
          <p:nvPr/>
        </p:nvSpPr>
        <p:spPr>
          <a:xfrm>
            <a:off x="402336" y="4722876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C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문제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02336" y="4924044"/>
            <a:ext cx="83393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3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로그인 후 행위에 대한 지속 검증 없음  →  인가된 내부자의 오남용을 사전 탐지·차단 불가  →  사후 징계 중심에서 사전 차단형 구조로 전환 필요</a:t>
            </a:r>
            <a:endParaRPr lang="en-US" sz="1000" dirty="0"/>
          </a:p>
        </p:txBody>
      </p:sp>
      <p:sp>
        <p:nvSpPr>
          <p:cNvPr id="40" name="Divider 40"/>
          <p:cNvSpPr/>
          <p:nvPr/>
        </p:nvSpPr>
        <p:spPr>
          <a:xfrm>
            <a:off x="4770000" y="1077824"/>
            <a:ext cx="9525" cy="808532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41" name="Divider 41"/>
          <p:cNvSpPr/>
          <p:nvPr/>
        </p:nvSpPr>
        <p:spPr>
          <a:xfrm>
            <a:off x="4770000" y="2341220"/>
            <a:ext cx="9525" cy="808532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42" name="Divider 42"/>
          <p:cNvSpPr/>
          <p:nvPr/>
        </p:nvSpPr>
        <p:spPr>
          <a:xfrm>
            <a:off x="4770000" y="3604616"/>
            <a:ext cx="9525" cy="808532"/>
          </a:xfrm>
          <a:prstGeom prst="rect">
            <a:avLst/>
          </a:prstGeom>
          <a:solidFill>
            <a:srgbClr val="CBD5E1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ifferentiation">
    <p:bg>
      <p:bgPr>
        <a:solidFill>
          <a:srgbClr val="F0F4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Header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0B1E3D"/>
          </a:solidFill>
          <a:ln/>
        </p:spPr>
      </p:sp>
      <p:sp>
        <p:nvSpPr>
          <p:cNvPr id="13" name="T"/>
          <p:cNvSpPr/>
          <p:nvPr/>
        </p:nvSpPr>
        <p:spPr>
          <a:xfrm>
            <a:off x="274320" y="64008"/>
            <a:ext cx="8595360" cy="329184"/>
          </a:xfrm>
          <a:prstGeom prst="rect">
            <a:avLst/>
          </a:prstGeom>
          <a:noFill/>
          <a:ln/>
        </p:spPr>
        <p:txBody>
          <a:bodyPr wrap="square" lIns="73152" rIns="36576" rtlCol="0" anchor="ctr"/>
          <a:lstStyle/>
          <a:p>
            <a:pPr marL="0" indent="0" algn="l">
              <a:buNone/>
            </a:pPr>
            <a:r>
              <a:rPr lang="ko-KR" sz="17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   차별점 · 신규성   ·   기존 시스템 vs 우리 시스템</a:t>
            </a:r>
          </a:p>
        </p:txBody>
      </p:sp>
      <p:sp>
        <p:nvSpPr>
          <p:cNvPr id="14" name="Badge"/>
          <p:cNvSpPr/>
          <p:nvPr/>
        </p:nvSpPr>
        <p:spPr>
          <a:xfrm>
            <a:off x="274320" y="530352"/>
            <a:ext cx="310896" cy="201168"/>
          </a:xfrm>
          <a:prstGeom prst="rect">
            <a:avLst/>
          </a:prstGeom>
          <a:solidFill>
            <a:srgbClr val="1E5FA8"/>
          </a:solidFill>
          <a:ln/>
        </p:spPr>
      </p:sp>
      <p:sp>
        <p:nvSpPr>
          <p:cNvPr id="15" name="T"/>
          <p:cNvSpPr/>
          <p:nvPr/>
        </p:nvSpPr>
        <p:spPr>
          <a:xfrm>
            <a:off x="274320" y="524000"/>
            <a:ext cx="310896" cy="210000"/>
          </a:xfrm>
          <a:prstGeom prst="rect">
            <a:avLst/>
          </a:prstGeom>
          <a:noFill/>
          <a:ln/>
        </p:spPr>
        <p:txBody>
          <a:bodyPr wrap="square" lIns="73152" rIns="36576" rtlCol="0" anchor="ctr"/>
          <a:lstStyle/>
          <a:p>
            <a:pPr marL="0" indent="0" algn="ctr">
              <a:buNone/>
            </a:pPr>
            <a:r>
              <a:rPr lang="ko-KR" sz="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</a:t>
            </a:r>
          </a:p>
        </p:txBody>
      </p:sp>
      <p:sp>
        <p:nvSpPr>
          <p:cNvPr id="16" name="T"/>
          <p:cNvSpPr/>
          <p:nvPr/>
        </p:nvSpPr>
        <p:spPr>
          <a:xfrm>
            <a:off x="658368" y="539496"/>
            <a:ext cx="8229600" cy="201168"/>
          </a:xfrm>
          <a:prstGeom prst="rect">
            <a:avLst/>
          </a:prstGeom>
          <a:noFill/>
          <a:ln/>
        </p:spPr>
        <p:txBody>
          <a:bodyPr wrap="square" lIns="73152" rIns="36576" rtlCol="0" anchor="ctr"/>
          <a:lstStyle/>
          <a:p>
            <a:pPr marL="0" indent="0" algn="l">
              <a:buNone/>
            </a:pPr>
            <a:r>
              <a:rPr lang="ko-KR" sz="105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정적 RBAC/ABAC 접근제어 → 동적 제로트러스트(ZTA)  ·  사후 징계를 사전 차단으로 전환</a:t>
            </a:r>
          </a:p>
        </p:txBody>
      </p:sp>
      <p:sp>
        <p:nvSpPr>
          <p:cNvPr id="17" name="h1"/>
          <p:cNvSpPr/>
          <p:nvPr/>
        </p:nvSpPr>
        <p:spPr>
          <a:xfrm>
            <a:off x="274320" y="880000"/>
            <a:ext cx="1400000" cy="330000"/>
          </a:xfrm>
          <a:prstGeom prst="rect">
            <a:avLst/>
          </a:prstGeom>
          <a:solidFill>
            <a:srgbClr val="0B1E3D"/>
          </a:solidFill>
          <a:ln w="12700">
            <a:solidFill>
              <a:srgbClr val="0B1E3D"/>
            </a:solidFill>
          </a:ln>
        </p:spPr>
      </p:sp>
      <p:sp>
        <p:nvSpPr>
          <p:cNvPr id="18" name="T"/>
          <p:cNvSpPr/>
          <p:nvPr/>
        </p:nvSpPr>
        <p:spPr>
          <a:xfrm>
            <a:off x="274320" y="880000"/>
            <a:ext cx="1400000" cy="330000"/>
          </a:xfrm>
          <a:prstGeom prst="rect">
            <a:avLst/>
          </a:prstGeom>
          <a:noFill/>
          <a:ln/>
        </p:spPr>
        <p:txBody>
          <a:bodyPr wrap="square" lIns="73152" rIns="36576" rtlCol="0" anchor="ctr"/>
          <a:lstStyle/>
          <a:p>
            <a:pPr marL="0" indent="0" algn="ctr">
              <a:buNone/>
            </a:pPr>
            <a:r>
              <a:rPr lang="ko-KR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구분</a:t>
            </a:r>
          </a:p>
        </p:txBody>
      </p:sp>
      <p:sp>
        <p:nvSpPr>
          <p:cNvPr id="19" name="h2"/>
          <p:cNvSpPr/>
          <p:nvPr/>
        </p:nvSpPr>
        <p:spPr>
          <a:xfrm>
            <a:off x="1674320" y="880000"/>
            <a:ext cx="3500000" cy="330000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</a:ln>
        </p:spPr>
      </p:sp>
      <p:sp>
        <p:nvSpPr>
          <p:cNvPr id="20" name="T"/>
          <p:cNvSpPr/>
          <p:nvPr/>
        </p:nvSpPr>
        <p:spPr>
          <a:xfrm>
            <a:off x="1674320" y="880000"/>
            <a:ext cx="3500000" cy="330000"/>
          </a:xfrm>
          <a:prstGeom prst="rect">
            <a:avLst/>
          </a:prstGeom>
          <a:noFill/>
          <a:ln/>
        </p:spPr>
        <p:txBody>
          <a:bodyPr wrap="square" lIns="73152" rIns="36576" rtlCol="0" anchor="ctr"/>
          <a:lstStyle/>
          <a:p>
            <a:pPr marL="0" indent="0" algn="ctr">
              <a:buNone/>
            </a:pPr>
            <a:r>
              <a:rPr lang="ko-KR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기존 경찰 시스템  (RBAC/ABAC)</a:t>
            </a:r>
          </a:p>
        </p:txBody>
      </p:sp>
      <p:sp>
        <p:nvSpPr>
          <p:cNvPr id="21" name="h3"/>
          <p:cNvSpPr/>
          <p:nvPr/>
        </p:nvSpPr>
        <p:spPr>
          <a:xfrm>
            <a:off x="5174320" y="880000"/>
            <a:ext cx="3695360" cy="33000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</a:ln>
        </p:spPr>
      </p:sp>
      <p:sp>
        <p:nvSpPr>
          <p:cNvPr id="22" name="T"/>
          <p:cNvSpPr/>
          <p:nvPr/>
        </p:nvSpPr>
        <p:spPr>
          <a:xfrm>
            <a:off x="5174320" y="880000"/>
            <a:ext cx="3695360" cy="330000"/>
          </a:xfrm>
          <a:prstGeom prst="rect">
            <a:avLst/>
          </a:prstGeom>
          <a:noFill/>
          <a:ln/>
        </p:spPr>
        <p:txBody>
          <a:bodyPr wrap="square" lIns="73152" rIns="36576" rtlCol="0" anchor="ctr"/>
          <a:lstStyle/>
          <a:p>
            <a:pPr marL="0" indent="0" algn="ctr">
              <a:buNone/>
            </a:pPr>
            <a:r>
              <a:rPr lang="ko-KR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ko-KR" altLang="en-US" sz="1000" b="1" dirty="0" err="1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제로트러스트</a:t>
            </a:r>
            <a:r>
              <a:rPr lang="ko-KR" alt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ko-KR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시스템  (동적 ZTA)</a:t>
            </a:r>
          </a:p>
        </p:txBody>
      </p:sp>
      <p:sp>
        <p:nvSpPr>
          <p:cNvPr id="23" name="c1_0"/>
          <p:cNvSpPr/>
          <p:nvPr/>
        </p:nvSpPr>
        <p:spPr>
          <a:xfrm>
            <a:off x="274320" y="1210000"/>
            <a:ext cx="1400000" cy="44800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</p:sp>
      <p:sp>
        <p:nvSpPr>
          <p:cNvPr id="24" name="T"/>
          <p:cNvSpPr/>
          <p:nvPr/>
        </p:nvSpPr>
        <p:spPr>
          <a:xfrm>
            <a:off x="274320" y="1210000"/>
            <a:ext cx="1400000" cy="448000"/>
          </a:xfrm>
          <a:prstGeom prst="rect">
            <a:avLst/>
          </a:prstGeom>
          <a:noFill/>
          <a:ln/>
        </p:spPr>
        <p:txBody>
          <a:bodyPr wrap="square" lIns="73152" rIns="36576" rtlCol="0" anchor="ctr"/>
          <a:lstStyle/>
          <a:p>
            <a:pPr marL="0" indent="0" algn="ctr">
              <a:buNone/>
            </a:pPr>
            <a:r>
              <a:rPr lang="ko-KR" sz="950" b="1" dirty="0">
                <a:solidFill>
                  <a:srgbClr val="0D1B3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신뢰 모델</a:t>
            </a:r>
          </a:p>
        </p:txBody>
      </p:sp>
      <p:sp>
        <p:nvSpPr>
          <p:cNvPr id="25" name="c2_0"/>
          <p:cNvSpPr/>
          <p:nvPr/>
        </p:nvSpPr>
        <p:spPr>
          <a:xfrm>
            <a:off x="1674320" y="1210000"/>
            <a:ext cx="3500000" cy="44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</p:sp>
      <p:sp>
        <p:nvSpPr>
          <p:cNvPr id="26" name="T"/>
          <p:cNvSpPr/>
          <p:nvPr/>
        </p:nvSpPr>
        <p:spPr>
          <a:xfrm>
            <a:off x="1674320" y="1210000"/>
            <a:ext cx="3500000" cy="448000"/>
          </a:xfrm>
          <a:prstGeom prst="rect">
            <a:avLst/>
          </a:prstGeom>
          <a:noFill/>
          <a:ln/>
        </p:spPr>
        <p:txBody>
          <a:bodyPr wrap="square" lIns="73152" rIns="36576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ko-KR" sz="9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로그인 성공 = 신뢰, 세션 내내 유지</a:t>
            </a:r>
          </a:p>
        </p:txBody>
      </p:sp>
      <p:sp>
        <p:nvSpPr>
          <p:cNvPr id="27" name="c3_0"/>
          <p:cNvSpPr/>
          <p:nvPr/>
        </p:nvSpPr>
        <p:spPr>
          <a:xfrm>
            <a:off x="5174320" y="1210000"/>
            <a:ext cx="3695360" cy="44800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7F2"/>
            </a:solidFill>
          </a:ln>
        </p:spPr>
      </p:sp>
      <p:sp>
        <p:nvSpPr>
          <p:cNvPr id="28" name="T"/>
          <p:cNvSpPr/>
          <p:nvPr/>
        </p:nvSpPr>
        <p:spPr>
          <a:xfrm>
            <a:off x="5174320" y="1210000"/>
            <a:ext cx="3695360" cy="448000"/>
          </a:xfrm>
          <a:prstGeom prst="rect">
            <a:avLst/>
          </a:prstGeom>
          <a:noFill/>
          <a:ln/>
        </p:spPr>
        <p:txBody>
          <a:bodyPr wrap="square" lIns="73152" rIns="36576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ko-KR" sz="900" b="1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매 요청마다 4축 재검증 (지속적 불신)</a:t>
            </a:r>
          </a:p>
        </p:txBody>
      </p:sp>
      <p:sp>
        <p:nvSpPr>
          <p:cNvPr id="29" name="c1_1"/>
          <p:cNvSpPr/>
          <p:nvPr/>
        </p:nvSpPr>
        <p:spPr>
          <a:xfrm>
            <a:off x="274320" y="1658000"/>
            <a:ext cx="1400000" cy="44800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</p:sp>
      <p:sp>
        <p:nvSpPr>
          <p:cNvPr id="30" name="T"/>
          <p:cNvSpPr/>
          <p:nvPr/>
        </p:nvSpPr>
        <p:spPr>
          <a:xfrm>
            <a:off x="274320" y="1658000"/>
            <a:ext cx="1400000" cy="448000"/>
          </a:xfrm>
          <a:prstGeom prst="rect">
            <a:avLst/>
          </a:prstGeom>
          <a:noFill/>
          <a:ln/>
        </p:spPr>
        <p:txBody>
          <a:bodyPr wrap="square" lIns="73152" rIns="36576" rtlCol="0" anchor="ctr"/>
          <a:lstStyle/>
          <a:p>
            <a:pPr marL="0" indent="0" algn="ctr">
              <a:buNone/>
            </a:pPr>
            <a:r>
              <a:rPr lang="ko-KR" sz="950" b="1" dirty="0">
                <a:solidFill>
                  <a:srgbClr val="0D1B3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접근 통제</a:t>
            </a:r>
          </a:p>
        </p:txBody>
      </p:sp>
      <p:sp>
        <p:nvSpPr>
          <p:cNvPr id="31" name="c2_1"/>
          <p:cNvSpPr/>
          <p:nvPr/>
        </p:nvSpPr>
        <p:spPr>
          <a:xfrm>
            <a:off x="1674320" y="1658000"/>
            <a:ext cx="3500000" cy="44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</p:sp>
      <p:sp>
        <p:nvSpPr>
          <p:cNvPr id="32" name="T"/>
          <p:cNvSpPr/>
          <p:nvPr/>
        </p:nvSpPr>
        <p:spPr>
          <a:xfrm>
            <a:off x="1674320" y="1658000"/>
            <a:ext cx="3500000" cy="448000"/>
          </a:xfrm>
          <a:prstGeom prst="rect">
            <a:avLst/>
          </a:prstGeom>
          <a:noFill/>
          <a:ln/>
        </p:spPr>
        <p:txBody>
          <a:bodyPr wrap="square" lIns="73152" rIns="36576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ko-KR" sz="9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역할 기반</a:t>
            </a:r>
            <a:r>
              <a:rPr lang="en-US" altLang="ko-KR" sz="9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(RBAC/ABAC)</a:t>
            </a:r>
            <a:endParaRPr lang="ko-KR" sz="900" dirty="0">
              <a:solidFill>
                <a:srgbClr val="64748B"/>
              </a:solidFill>
              <a:latin typeface="Noto Sans KR" pitchFamily="34" charset="0"/>
              <a:ea typeface="Noto Sans KR" pitchFamily="34" charset="-122"/>
              <a:cs typeface="Noto Sans KR" pitchFamily="34" charset="-120"/>
            </a:endParaRPr>
          </a:p>
        </p:txBody>
      </p:sp>
      <p:sp>
        <p:nvSpPr>
          <p:cNvPr id="33" name="c3_1"/>
          <p:cNvSpPr/>
          <p:nvPr/>
        </p:nvSpPr>
        <p:spPr>
          <a:xfrm>
            <a:off x="5174320" y="1658000"/>
            <a:ext cx="3695360" cy="44800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7F2"/>
            </a:solidFill>
          </a:ln>
        </p:spPr>
      </p:sp>
      <p:sp>
        <p:nvSpPr>
          <p:cNvPr id="34" name="T"/>
          <p:cNvSpPr/>
          <p:nvPr/>
        </p:nvSpPr>
        <p:spPr>
          <a:xfrm>
            <a:off x="5174320" y="1658000"/>
            <a:ext cx="3695360" cy="448000"/>
          </a:xfrm>
          <a:prstGeom prst="rect">
            <a:avLst/>
          </a:prstGeom>
          <a:noFill/>
          <a:ln/>
        </p:spPr>
        <p:txBody>
          <a:bodyPr wrap="square" lIns="73152" rIns="36576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ko-KR" sz="900" b="1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위험 점수 기반 5단계 + 마스킹 5레벨</a:t>
            </a:r>
          </a:p>
        </p:txBody>
      </p:sp>
      <p:sp>
        <p:nvSpPr>
          <p:cNvPr id="35" name="c1_2"/>
          <p:cNvSpPr/>
          <p:nvPr/>
        </p:nvSpPr>
        <p:spPr>
          <a:xfrm>
            <a:off x="274320" y="2106000"/>
            <a:ext cx="1400000" cy="44800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</p:sp>
      <p:sp>
        <p:nvSpPr>
          <p:cNvPr id="36" name="T"/>
          <p:cNvSpPr/>
          <p:nvPr/>
        </p:nvSpPr>
        <p:spPr>
          <a:xfrm>
            <a:off x="274320" y="2106000"/>
            <a:ext cx="1400000" cy="448000"/>
          </a:xfrm>
          <a:prstGeom prst="rect">
            <a:avLst/>
          </a:prstGeom>
          <a:noFill/>
          <a:ln/>
        </p:spPr>
        <p:txBody>
          <a:bodyPr wrap="square" lIns="73152" rIns="36576" rtlCol="0" anchor="ctr"/>
          <a:lstStyle/>
          <a:p>
            <a:pPr marL="0" indent="0" algn="ctr">
              <a:buNone/>
            </a:pPr>
            <a:r>
              <a:rPr lang="ko-KR" sz="950" b="1" dirty="0">
                <a:solidFill>
                  <a:srgbClr val="0D1B3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위협 대응</a:t>
            </a:r>
          </a:p>
        </p:txBody>
      </p:sp>
      <p:sp>
        <p:nvSpPr>
          <p:cNvPr id="37" name="c2_2"/>
          <p:cNvSpPr/>
          <p:nvPr/>
        </p:nvSpPr>
        <p:spPr>
          <a:xfrm>
            <a:off x="1674320" y="2106000"/>
            <a:ext cx="3500000" cy="44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</p:sp>
      <p:sp>
        <p:nvSpPr>
          <p:cNvPr id="38" name="T"/>
          <p:cNvSpPr/>
          <p:nvPr/>
        </p:nvSpPr>
        <p:spPr>
          <a:xfrm>
            <a:off x="1674320" y="2106000"/>
            <a:ext cx="3500000" cy="448000"/>
          </a:xfrm>
          <a:prstGeom prst="rect">
            <a:avLst/>
          </a:prstGeom>
          <a:noFill/>
          <a:ln/>
        </p:spPr>
        <p:txBody>
          <a:bodyPr wrap="square" lIns="73152" rIns="36576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ko-KR" sz="9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사후 적발·징계 중심</a:t>
            </a:r>
          </a:p>
        </p:txBody>
      </p:sp>
      <p:sp>
        <p:nvSpPr>
          <p:cNvPr id="39" name="c3_2"/>
          <p:cNvSpPr/>
          <p:nvPr/>
        </p:nvSpPr>
        <p:spPr>
          <a:xfrm>
            <a:off x="5174320" y="2106000"/>
            <a:ext cx="3695360" cy="44800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7F2"/>
            </a:solidFill>
          </a:ln>
        </p:spPr>
      </p:sp>
      <p:sp>
        <p:nvSpPr>
          <p:cNvPr id="40" name="T"/>
          <p:cNvSpPr/>
          <p:nvPr/>
        </p:nvSpPr>
        <p:spPr>
          <a:xfrm>
            <a:off x="5174320" y="2106000"/>
            <a:ext cx="3695360" cy="448000"/>
          </a:xfrm>
          <a:prstGeom prst="rect">
            <a:avLst/>
          </a:prstGeom>
          <a:noFill/>
          <a:ln/>
        </p:spPr>
        <p:txBody>
          <a:bodyPr wrap="square" lIns="73152" rIns="36576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ko-KR" sz="900" b="1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사전 탐지·즉시 차단 (행위 단계에서)</a:t>
            </a:r>
          </a:p>
        </p:txBody>
      </p:sp>
      <p:sp>
        <p:nvSpPr>
          <p:cNvPr id="41" name="c1_3"/>
          <p:cNvSpPr/>
          <p:nvPr/>
        </p:nvSpPr>
        <p:spPr>
          <a:xfrm>
            <a:off x="274320" y="2554000"/>
            <a:ext cx="1400000" cy="44800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</p:sp>
      <p:sp>
        <p:nvSpPr>
          <p:cNvPr id="42" name="T"/>
          <p:cNvSpPr/>
          <p:nvPr/>
        </p:nvSpPr>
        <p:spPr>
          <a:xfrm>
            <a:off x="274320" y="2554000"/>
            <a:ext cx="1400000" cy="448000"/>
          </a:xfrm>
          <a:prstGeom prst="rect">
            <a:avLst/>
          </a:prstGeom>
          <a:noFill/>
          <a:ln/>
        </p:spPr>
        <p:txBody>
          <a:bodyPr wrap="square" lIns="73152" rIns="36576" rtlCol="0" anchor="ctr"/>
          <a:lstStyle/>
          <a:p>
            <a:pPr marL="0" indent="0" algn="ctr">
              <a:buNone/>
            </a:pPr>
            <a:r>
              <a:rPr lang="ko-KR" sz="950" b="1" dirty="0">
                <a:solidFill>
                  <a:srgbClr val="0D1B3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감사 추적</a:t>
            </a:r>
          </a:p>
        </p:txBody>
      </p:sp>
      <p:sp>
        <p:nvSpPr>
          <p:cNvPr id="43" name="c2_3"/>
          <p:cNvSpPr/>
          <p:nvPr/>
        </p:nvSpPr>
        <p:spPr>
          <a:xfrm>
            <a:off x="1674320" y="2554000"/>
            <a:ext cx="3500000" cy="44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</p:sp>
      <p:sp>
        <p:nvSpPr>
          <p:cNvPr id="44" name="T"/>
          <p:cNvSpPr/>
          <p:nvPr/>
        </p:nvSpPr>
        <p:spPr>
          <a:xfrm>
            <a:off x="1674320" y="2554000"/>
            <a:ext cx="3500000" cy="448000"/>
          </a:xfrm>
          <a:prstGeom prst="rect">
            <a:avLst/>
          </a:prstGeom>
          <a:noFill/>
          <a:ln/>
        </p:spPr>
        <p:txBody>
          <a:bodyPr wrap="square" lIns="73152" rIns="36576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ko-KR" sz="9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단일 접근 로그, 사후 수정 가능</a:t>
            </a:r>
          </a:p>
        </p:txBody>
      </p:sp>
      <p:sp>
        <p:nvSpPr>
          <p:cNvPr id="45" name="c3_3"/>
          <p:cNvSpPr/>
          <p:nvPr/>
        </p:nvSpPr>
        <p:spPr>
          <a:xfrm>
            <a:off x="5174320" y="2554000"/>
            <a:ext cx="3695360" cy="44800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7F2"/>
            </a:solidFill>
          </a:ln>
        </p:spPr>
      </p:sp>
      <p:sp>
        <p:nvSpPr>
          <p:cNvPr id="46" name="T"/>
          <p:cNvSpPr/>
          <p:nvPr/>
        </p:nvSpPr>
        <p:spPr>
          <a:xfrm>
            <a:off x="5174320" y="2554000"/>
            <a:ext cx="3695360" cy="448000"/>
          </a:xfrm>
          <a:prstGeom prst="rect">
            <a:avLst/>
          </a:prstGeom>
          <a:noFill/>
          <a:ln/>
        </p:spPr>
        <p:txBody>
          <a:bodyPr wrap="square" lIns="73152" rIns="36576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ko-KR" sz="900" b="1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3계층 append-only 로그, 무결성 보장</a:t>
            </a:r>
          </a:p>
        </p:txBody>
      </p:sp>
      <p:sp>
        <p:nvSpPr>
          <p:cNvPr id="47" name="c1_4"/>
          <p:cNvSpPr/>
          <p:nvPr/>
        </p:nvSpPr>
        <p:spPr>
          <a:xfrm>
            <a:off x="274320" y="3002000"/>
            <a:ext cx="1400000" cy="44800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</p:sp>
      <p:sp>
        <p:nvSpPr>
          <p:cNvPr id="48" name="T"/>
          <p:cNvSpPr/>
          <p:nvPr/>
        </p:nvSpPr>
        <p:spPr>
          <a:xfrm>
            <a:off x="274320" y="3002000"/>
            <a:ext cx="1400000" cy="448000"/>
          </a:xfrm>
          <a:prstGeom prst="rect">
            <a:avLst/>
          </a:prstGeom>
          <a:noFill/>
          <a:ln/>
        </p:spPr>
        <p:txBody>
          <a:bodyPr wrap="square" lIns="73152" rIns="36576" rtlCol="0" anchor="ctr"/>
          <a:lstStyle/>
          <a:p>
            <a:pPr marL="0" indent="0" algn="ctr">
              <a:buNone/>
            </a:pPr>
            <a:r>
              <a:rPr lang="ko-KR" sz="950" b="1" dirty="0">
                <a:solidFill>
                  <a:srgbClr val="0D1B3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비상 접근</a:t>
            </a:r>
          </a:p>
        </p:txBody>
      </p:sp>
      <p:sp>
        <p:nvSpPr>
          <p:cNvPr id="49" name="c2_4"/>
          <p:cNvSpPr/>
          <p:nvPr/>
        </p:nvSpPr>
        <p:spPr>
          <a:xfrm>
            <a:off x="1674320" y="3002000"/>
            <a:ext cx="3500000" cy="44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</p:sp>
      <p:sp>
        <p:nvSpPr>
          <p:cNvPr id="50" name="T"/>
          <p:cNvSpPr/>
          <p:nvPr/>
        </p:nvSpPr>
        <p:spPr>
          <a:xfrm>
            <a:off x="1674320" y="3002000"/>
            <a:ext cx="3500000" cy="448000"/>
          </a:xfrm>
          <a:prstGeom prst="rect">
            <a:avLst/>
          </a:prstGeom>
          <a:noFill/>
          <a:ln/>
        </p:spPr>
        <p:txBody>
          <a:bodyPr wrap="square" lIns="73152" rIns="36576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ko-KR" sz="9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명시적 통제 체계 미흡</a:t>
            </a:r>
          </a:p>
        </p:txBody>
      </p:sp>
      <p:sp>
        <p:nvSpPr>
          <p:cNvPr id="51" name="c3_4"/>
          <p:cNvSpPr/>
          <p:nvPr/>
        </p:nvSpPr>
        <p:spPr>
          <a:xfrm>
            <a:off x="5174320" y="3002000"/>
            <a:ext cx="3695360" cy="44800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7F2"/>
            </a:solidFill>
          </a:ln>
        </p:spPr>
      </p:sp>
      <p:sp>
        <p:nvSpPr>
          <p:cNvPr id="52" name="T"/>
          <p:cNvSpPr/>
          <p:nvPr/>
        </p:nvSpPr>
        <p:spPr>
          <a:xfrm>
            <a:off x="5174320" y="3002000"/>
            <a:ext cx="3695360" cy="448000"/>
          </a:xfrm>
          <a:prstGeom prst="rect">
            <a:avLst/>
          </a:prstGeom>
          <a:noFill/>
          <a:ln/>
        </p:spPr>
        <p:txBody>
          <a:bodyPr wrap="square" lIns="73152" rIns="36576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ko-KR" sz="900" b="1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Break-Glass: MFA·범위 제한·이중감독</a:t>
            </a:r>
          </a:p>
        </p:txBody>
      </p:sp>
      <p:sp>
        <p:nvSpPr>
          <p:cNvPr id="53" name="nlbl"/>
          <p:cNvSpPr/>
          <p:nvPr/>
        </p:nvSpPr>
        <p:spPr>
          <a:xfrm>
            <a:off x="274320" y="3570000"/>
            <a:ext cx="54864" cy="2500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4" name="T"/>
          <p:cNvSpPr/>
          <p:nvPr/>
        </p:nvSpPr>
        <p:spPr>
          <a:xfrm>
            <a:off x="380000" y="3570000"/>
            <a:ext cx="5000000" cy="250000"/>
          </a:xfrm>
          <a:prstGeom prst="rect">
            <a:avLst/>
          </a:prstGeom>
          <a:noFill/>
          <a:ln/>
        </p:spPr>
        <p:txBody>
          <a:bodyPr wrap="square" lIns="73152" rIns="36576" rtlCol="0" anchor="ctr"/>
          <a:lstStyle/>
          <a:p>
            <a:pPr marL="0" indent="0" algn="l">
              <a:buNone/>
            </a:pPr>
            <a:r>
              <a:rPr lang="ko-KR" sz="1150" b="1" dirty="0">
                <a:solidFill>
                  <a:srgbClr val="0D1B3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신규성 </a:t>
            </a:r>
            <a:r>
              <a:rPr lang="ko-KR" sz="95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(Novelty) — 기존 ZTA 연구와도 차별화되는 설계</a:t>
            </a:r>
          </a:p>
        </p:txBody>
      </p:sp>
      <p:sp>
        <p:nvSpPr>
          <p:cNvPr id="55" name="nc0"/>
          <p:cNvSpPr/>
          <p:nvPr/>
        </p:nvSpPr>
        <p:spPr>
          <a:xfrm>
            <a:off x="274320" y="3900000"/>
            <a:ext cx="2758453" cy="107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</p:sp>
      <p:sp>
        <p:nvSpPr>
          <p:cNvPr id="56" name="nt0"/>
          <p:cNvSpPr/>
          <p:nvPr/>
        </p:nvSpPr>
        <p:spPr>
          <a:xfrm>
            <a:off x="274320" y="3900000"/>
            <a:ext cx="2758453" cy="6400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57" name="T"/>
          <p:cNvSpPr/>
          <p:nvPr/>
        </p:nvSpPr>
        <p:spPr>
          <a:xfrm>
            <a:off x="424320" y="4030000"/>
            <a:ext cx="520000" cy="420000"/>
          </a:xfrm>
          <a:prstGeom prst="rect">
            <a:avLst/>
          </a:prstGeom>
          <a:noFill/>
          <a:ln/>
        </p:spPr>
        <p:txBody>
          <a:bodyPr wrap="square" lIns="73152" rIns="36576" rtlCol="0" anchor="ctr"/>
          <a:lstStyle/>
          <a:p>
            <a:pPr marL="0" indent="0" algn="l">
              <a:buNone/>
            </a:pPr>
            <a:r>
              <a:rPr lang="ko-KR" sz="2000" dirty="0">
                <a:solidFill>
                  <a:srgbClr val="0D1B3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🧠</a:t>
            </a:r>
          </a:p>
        </p:txBody>
      </p:sp>
      <p:sp>
        <p:nvSpPr>
          <p:cNvPr id="58" name="T"/>
          <p:cNvSpPr/>
          <p:nvPr/>
        </p:nvSpPr>
        <p:spPr>
          <a:xfrm>
            <a:off x="1034320" y="4050000"/>
            <a:ext cx="1938453" cy="400000"/>
          </a:xfrm>
          <a:prstGeom prst="rect">
            <a:avLst/>
          </a:prstGeom>
          <a:noFill/>
          <a:ln/>
        </p:spPr>
        <p:txBody>
          <a:bodyPr wrap="square" lIns="73152" rIns="36576" rtlCol="0" anchor="ctr"/>
          <a:lstStyle/>
          <a:p>
            <a:pPr marL="0" indent="0" algn="l">
              <a:buNone/>
            </a:pPr>
            <a:r>
              <a:rPr lang="ko-KR" sz="105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Confidence-Aware 결정</a:t>
            </a:r>
          </a:p>
        </p:txBody>
      </p:sp>
      <p:sp>
        <p:nvSpPr>
          <p:cNvPr id="59" name="T"/>
          <p:cNvSpPr/>
          <p:nvPr/>
        </p:nvSpPr>
        <p:spPr>
          <a:xfrm>
            <a:off x="424320" y="4460000"/>
            <a:ext cx="2458453" cy="470000"/>
          </a:xfrm>
          <a:prstGeom prst="rect">
            <a:avLst/>
          </a:prstGeom>
          <a:noFill/>
          <a:ln/>
        </p:spPr>
        <p:txBody>
          <a:bodyPr wrap="square" lIns="73152" rIns="36576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ko-KR" sz="87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판단이 불확실할 때 차단·허용이 아닌 "검증"으로 수렴 → 오탐·미탐 동시 개선</a:t>
            </a:r>
          </a:p>
        </p:txBody>
      </p:sp>
      <p:sp>
        <p:nvSpPr>
          <p:cNvPr id="60" name="nc1"/>
          <p:cNvSpPr/>
          <p:nvPr/>
        </p:nvSpPr>
        <p:spPr>
          <a:xfrm>
            <a:off x="3192773" y="3900000"/>
            <a:ext cx="2758453" cy="107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</p:sp>
      <p:sp>
        <p:nvSpPr>
          <p:cNvPr id="61" name="nt1"/>
          <p:cNvSpPr/>
          <p:nvPr/>
        </p:nvSpPr>
        <p:spPr>
          <a:xfrm>
            <a:off x="3192773" y="3900000"/>
            <a:ext cx="2758453" cy="64008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62" name="T"/>
          <p:cNvSpPr/>
          <p:nvPr/>
        </p:nvSpPr>
        <p:spPr>
          <a:xfrm>
            <a:off x="3342773" y="4030000"/>
            <a:ext cx="520000" cy="420000"/>
          </a:xfrm>
          <a:prstGeom prst="rect">
            <a:avLst/>
          </a:prstGeom>
          <a:noFill/>
          <a:ln/>
        </p:spPr>
        <p:txBody>
          <a:bodyPr wrap="square" lIns="73152" rIns="36576" rtlCol="0" anchor="ctr"/>
          <a:lstStyle/>
          <a:p>
            <a:pPr marL="0" indent="0" algn="l">
              <a:buNone/>
            </a:pPr>
            <a:r>
              <a:rPr lang="ko-KR" sz="2000" dirty="0">
                <a:solidFill>
                  <a:srgbClr val="0D1B3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🎯</a:t>
            </a:r>
          </a:p>
        </p:txBody>
      </p:sp>
      <p:sp>
        <p:nvSpPr>
          <p:cNvPr id="63" name="T"/>
          <p:cNvSpPr/>
          <p:nvPr/>
        </p:nvSpPr>
        <p:spPr>
          <a:xfrm>
            <a:off x="3952773" y="4050000"/>
            <a:ext cx="1938453" cy="400000"/>
          </a:xfrm>
          <a:prstGeom prst="rect">
            <a:avLst/>
          </a:prstGeom>
          <a:noFill/>
          <a:ln/>
        </p:spPr>
        <p:txBody>
          <a:bodyPr wrap="square" lIns="73152" rIns="36576" rtlCol="0" anchor="ctr"/>
          <a:lstStyle/>
          <a:p>
            <a:pPr marL="0" indent="0" algn="l">
              <a:buNone/>
            </a:pPr>
            <a:r>
              <a:rPr lang="ko-KR" sz="1050" b="1" dirty="0">
                <a:solidFill>
                  <a:srgbClr val="16A3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4축 분리 점수화</a:t>
            </a:r>
          </a:p>
        </p:txBody>
      </p:sp>
      <p:sp>
        <p:nvSpPr>
          <p:cNvPr id="64" name="T"/>
          <p:cNvSpPr/>
          <p:nvPr/>
        </p:nvSpPr>
        <p:spPr>
          <a:xfrm>
            <a:off x="3342773" y="4460000"/>
            <a:ext cx="2458453" cy="470000"/>
          </a:xfrm>
          <a:prstGeom prst="rect">
            <a:avLst/>
          </a:prstGeom>
          <a:noFill/>
          <a:ln/>
        </p:spPr>
        <p:txBody>
          <a:bodyPr wrap="square" lIns="73152" rIns="36576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ko-KR" sz="87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위험(객체·환경·행위) 가산과 업무적합도 감산을 결합한 정량 평가</a:t>
            </a:r>
          </a:p>
        </p:txBody>
      </p:sp>
      <p:sp>
        <p:nvSpPr>
          <p:cNvPr id="65" name="nc2"/>
          <p:cNvSpPr/>
          <p:nvPr/>
        </p:nvSpPr>
        <p:spPr>
          <a:xfrm>
            <a:off x="6111226" y="3900000"/>
            <a:ext cx="2758453" cy="107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</p:sp>
      <p:sp>
        <p:nvSpPr>
          <p:cNvPr id="66" name="nt2"/>
          <p:cNvSpPr/>
          <p:nvPr/>
        </p:nvSpPr>
        <p:spPr>
          <a:xfrm>
            <a:off x="6111226" y="3900000"/>
            <a:ext cx="2758453" cy="6400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67" name="T"/>
          <p:cNvSpPr/>
          <p:nvPr/>
        </p:nvSpPr>
        <p:spPr>
          <a:xfrm>
            <a:off x="6261226" y="4030000"/>
            <a:ext cx="520000" cy="420000"/>
          </a:xfrm>
          <a:prstGeom prst="rect">
            <a:avLst/>
          </a:prstGeom>
          <a:noFill/>
          <a:ln/>
        </p:spPr>
        <p:txBody>
          <a:bodyPr wrap="square" lIns="73152" rIns="36576" rtlCol="0" anchor="ctr"/>
          <a:lstStyle/>
          <a:p>
            <a:pPr marL="0" indent="0" algn="l">
              <a:buNone/>
            </a:pPr>
            <a:r>
              <a:rPr lang="ko-KR" sz="2000" dirty="0">
                <a:solidFill>
                  <a:srgbClr val="0D1B3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⚙️</a:t>
            </a:r>
          </a:p>
        </p:txBody>
      </p:sp>
      <p:sp>
        <p:nvSpPr>
          <p:cNvPr id="68" name="T"/>
          <p:cNvSpPr/>
          <p:nvPr/>
        </p:nvSpPr>
        <p:spPr>
          <a:xfrm>
            <a:off x="6871226" y="4050000"/>
            <a:ext cx="1938453" cy="400000"/>
          </a:xfrm>
          <a:prstGeom prst="rect">
            <a:avLst/>
          </a:prstGeom>
          <a:noFill/>
          <a:ln/>
        </p:spPr>
        <p:txBody>
          <a:bodyPr wrap="square" lIns="73152" rIns="36576" rtlCol="0" anchor="ctr"/>
          <a:lstStyle/>
          <a:p>
            <a:pPr marL="0" indent="0" algn="l">
              <a:buNone/>
            </a:pPr>
            <a:r>
              <a:rPr lang="ko-KR" sz="1050" b="1" dirty="0">
                <a:solidFill>
                  <a:srgbClr val="D9770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정책 임계값 외부화</a:t>
            </a:r>
          </a:p>
        </p:txBody>
      </p:sp>
      <p:sp>
        <p:nvSpPr>
          <p:cNvPr id="69" name="T"/>
          <p:cNvSpPr/>
          <p:nvPr/>
        </p:nvSpPr>
        <p:spPr>
          <a:xfrm>
            <a:off x="6261226" y="4460000"/>
            <a:ext cx="2458453" cy="470000"/>
          </a:xfrm>
          <a:prstGeom prst="rect">
            <a:avLst/>
          </a:prstGeom>
          <a:noFill/>
          <a:ln/>
        </p:spPr>
        <p:txBody>
          <a:bodyPr wrap="square" lIns="73152" rIns="36576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ko-KR" sz="87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코드 배포 없이 운영 중 튜닝(5분 TTL) + 부서별 가중치 override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0B1E3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64008"/>
            <a:ext cx="8595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  제로트러스트 원칙  ·  6대 원칙과 시스템 기능 매핑</a:t>
            </a:r>
            <a:endParaRPr lang="en-US" sz="1700" b="1" dirty="0"/>
          </a:p>
        </p:txBody>
      </p:sp>
      <p:sp>
        <p:nvSpPr>
          <p:cNvPr id="4" name="Shape 2"/>
          <p:cNvSpPr/>
          <p:nvPr/>
        </p:nvSpPr>
        <p:spPr>
          <a:xfrm>
            <a:off x="274320" y="530352"/>
            <a:ext cx="310896" cy="201168"/>
          </a:xfrm>
          <a:prstGeom prst="rect">
            <a:avLst/>
          </a:prstGeom>
          <a:solidFill>
            <a:srgbClr val="1E5FA8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530352"/>
            <a:ext cx="3108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58368" y="539496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NIST SP 800-207 원칙  →  실제 구현 기능 연결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74320" y="786384"/>
            <a:ext cx="859536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877824"/>
            <a:ext cx="2560320" cy="292608"/>
          </a:xfrm>
          <a:prstGeom prst="rect">
            <a:avLst/>
          </a:prstGeom>
          <a:solidFill>
            <a:srgbClr val="0B1E3D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877824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ZT 원칙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907792" y="877824"/>
            <a:ext cx="3054096" cy="292608"/>
          </a:xfrm>
          <a:prstGeom prst="rect">
            <a:avLst/>
          </a:prstGeom>
          <a:solidFill>
            <a:srgbClr val="1E5FA8"/>
          </a:solidFill>
          <a:ln/>
        </p:spPr>
      </p:sp>
      <p:sp>
        <p:nvSpPr>
          <p:cNvPr id="11" name="Text 9"/>
          <p:cNvSpPr/>
          <p:nvPr/>
        </p:nvSpPr>
        <p:spPr>
          <a:xfrm>
            <a:off x="2980944" y="877824"/>
            <a:ext cx="29626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경찰 환경 맥락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035040" y="877824"/>
            <a:ext cx="2834640" cy="292608"/>
          </a:xfrm>
          <a:prstGeom prst="rect">
            <a:avLst/>
          </a:prstGeom>
          <a:solidFill>
            <a:srgbClr val="3B9FE8"/>
          </a:solidFill>
          <a:ln/>
        </p:spPr>
      </p:sp>
      <p:sp>
        <p:nvSpPr>
          <p:cNvPr id="13" name="Text 11"/>
          <p:cNvSpPr/>
          <p:nvPr/>
        </p:nvSpPr>
        <p:spPr>
          <a:xfrm>
            <a:off x="6108192" y="877824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구현 기능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1170432"/>
            <a:ext cx="2560320" cy="643890"/>
          </a:xfrm>
          <a:prstGeom prst="rect">
            <a:avLst/>
          </a:prstGeom>
          <a:solidFill>
            <a:srgbClr val="EEF3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907792" y="1170432"/>
            <a:ext cx="3054096" cy="64389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035040" y="1170432"/>
            <a:ext cx="2834640" cy="64389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1225296"/>
            <a:ext cx="2432304" cy="552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3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🔒 Never Trust</a:t>
            </a:r>
            <a:endParaRPr lang="en-US" sz="1000" dirty="0"/>
          </a:p>
          <a:p>
            <a:pPr marL="0" indent="0">
              <a:spcBef>
                <a:spcPts val="300"/>
              </a:spcBef>
              <a:buNone/>
            </a:pPr>
            <a:r>
              <a:rPr lang="ko-KR" sz="85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절대 신뢰하지 않음</a:t>
            </a:r>
          </a:p>
        </p:txBody>
      </p:sp>
      <p:sp>
        <p:nvSpPr>
          <p:cNvPr id="18" name="Text 16"/>
          <p:cNvSpPr/>
          <p:nvPr/>
        </p:nvSpPr>
        <p:spPr>
          <a:xfrm>
            <a:off x="2999232" y="1225296"/>
            <a:ext cx="2926080" cy="552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로그인 성공 ≠ 신뢰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126480" y="1225296"/>
            <a:ext cx="2706624" cy="552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3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매 요청 4축 재검증 / 세션 지속 감시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74320" y="1832610"/>
            <a:ext cx="2560320" cy="643890"/>
          </a:xfrm>
          <a:prstGeom prst="rect">
            <a:avLst/>
          </a:prstGeom>
          <a:solidFill>
            <a:srgbClr val="E2EBFA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907792" y="1832610"/>
            <a:ext cx="3054096" cy="643890"/>
          </a:xfrm>
          <a:prstGeom prst="rect">
            <a:avLst/>
          </a:prstGeom>
          <a:solidFill>
            <a:srgbClr val="F7FA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035040" y="1832610"/>
            <a:ext cx="2834640" cy="643890"/>
          </a:xfrm>
          <a:prstGeom prst="rect">
            <a:avLst/>
          </a:prstGeom>
          <a:solidFill>
            <a:srgbClr val="F7FA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1887474"/>
            <a:ext cx="2432304" cy="552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3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🔄 Continuous Verify</a:t>
            </a:r>
            <a:endParaRPr lang="en-US" sz="1000" dirty="0"/>
          </a:p>
          <a:p>
            <a:pPr marL="0" indent="0">
              <a:spcBef>
                <a:spcPts val="300"/>
              </a:spcBef>
              <a:buNone/>
            </a:pPr>
            <a:r>
              <a:rPr lang="ko-KR" sz="85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지속적으로 검증</a:t>
            </a:r>
          </a:p>
        </p:txBody>
      </p:sp>
      <p:sp>
        <p:nvSpPr>
          <p:cNvPr id="24" name="Text 22"/>
          <p:cNvSpPr/>
          <p:nvPr/>
        </p:nvSpPr>
        <p:spPr>
          <a:xfrm>
            <a:off x="2999232" y="1887474"/>
            <a:ext cx="2926080" cy="552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내부자도 상시 의심 대상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126480" y="1887474"/>
            <a:ext cx="2706624" cy="552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3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이상행동 실시간 감지 + 위험 점수 동적 갱신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74320" y="2494788"/>
            <a:ext cx="2560320" cy="643890"/>
          </a:xfrm>
          <a:prstGeom prst="rect">
            <a:avLst/>
          </a:prstGeom>
          <a:solidFill>
            <a:srgbClr val="EEF3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907792" y="2494788"/>
            <a:ext cx="3054096" cy="64389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035040" y="2494788"/>
            <a:ext cx="2834640" cy="64389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2549652"/>
            <a:ext cx="2432304" cy="552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3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🎚 Least Privilege</a:t>
            </a:r>
            <a:endParaRPr lang="en-US" sz="1000" dirty="0"/>
          </a:p>
          <a:p>
            <a:pPr marL="0" indent="0">
              <a:spcBef>
                <a:spcPts val="300"/>
              </a:spcBef>
              <a:buNone/>
            </a:pPr>
            <a:r>
              <a:rPr lang="ko-KR" sz="85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최소 권한만 부여</a:t>
            </a:r>
          </a:p>
        </p:txBody>
      </p:sp>
      <p:sp>
        <p:nvSpPr>
          <p:cNvPr id="30" name="Text 28"/>
          <p:cNvSpPr/>
          <p:nvPr/>
        </p:nvSpPr>
        <p:spPr>
          <a:xfrm>
            <a:off x="2999232" y="2549652"/>
            <a:ext cx="2926080" cy="552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직책별 최소 정보 접근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126480" y="2549652"/>
            <a:ext cx="2706624" cy="552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3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5단계 점진적 접근 + 마스킹 5레벨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274320" y="3156966"/>
            <a:ext cx="2560320" cy="643890"/>
          </a:xfrm>
          <a:prstGeom prst="rect">
            <a:avLst/>
          </a:prstGeom>
          <a:solidFill>
            <a:srgbClr val="E2EBFA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907792" y="3156966"/>
            <a:ext cx="3054096" cy="643890"/>
          </a:xfrm>
          <a:prstGeom prst="rect">
            <a:avLst/>
          </a:prstGeom>
          <a:solidFill>
            <a:srgbClr val="F7FA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035040" y="3156966"/>
            <a:ext cx="2834640" cy="643890"/>
          </a:xfrm>
          <a:prstGeom prst="rect">
            <a:avLst/>
          </a:prstGeom>
          <a:solidFill>
            <a:srgbClr val="F7FA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" y="3211830"/>
            <a:ext cx="2432304" cy="552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3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📡 Assume Breach</a:t>
            </a:r>
            <a:endParaRPr lang="en-US" sz="1000" dirty="0"/>
          </a:p>
          <a:p>
            <a:pPr marL="0" indent="0">
              <a:spcBef>
                <a:spcPts val="300"/>
              </a:spcBef>
              <a:buNone/>
            </a:pPr>
            <a:r>
              <a:rPr lang="ko-KR" sz="85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이미 침해됐다고 가정</a:t>
            </a:r>
          </a:p>
        </p:txBody>
      </p:sp>
      <p:sp>
        <p:nvSpPr>
          <p:cNvPr id="36" name="Text 34"/>
          <p:cNvSpPr/>
          <p:nvPr/>
        </p:nvSpPr>
        <p:spPr>
          <a:xfrm>
            <a:off x="2999232" y="3211830"/>
            <a:ext cx="2926080" cy="552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내부망도 항상 침해 전제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126480" y="3211830"/>
            <a:ext cx="2706624" cy="552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3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즉시 차단 4규칙 + 불가능 이동 탐지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274320" y="3819144"/>
            <a:ext cx="2560320" cy="643890"/>
          </a:xfrm>
          <a:prstGeom prst="rect">
            <a:avLst/>
          </a:prstGeom>
          <a:solidFill>
            <a:srgbClr val="EEF3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907792" y="3819144"/>
            <a:ext cx="3054096" cy="64389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035040" y="3819144"/>
            <a:ext cx="2834640" cy="64389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5760" y="3874008"/>
            <a:ext cx="2432304" cy="552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3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✅ Verify Explicitly</a:t>
            </a:r>
            <a:endParaRPr lang="en-US" sz="1000" dirty="0"/>
          </a:p>
          <a:p>
            <a:pPr marL="0" indent="0">
              <a:spcBef>
                <a:spcPts val="300"/>
              </a:spcBef>
              <a:buNone/>
            </a:pPr>
            <a:r>
              <a:rPr lang="ko-KR" sz="85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명시적으로 검증</a:t>
            </a:r>
          </a:p>
        </p:txBody>
      </p:sp>
      <p:sp>
        <p:nvSpPr>
          <p:cNvPr id="42" name="Text 40"/>
          <p:cNvSpPr/>
          <p:nvPr/>
        </p:nvSpPr>
        <p:spPr>
          <a:xfrm>
            <a:off x="2999232" y="3874008"/>
            <a:ext cx="2926080" cy="552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맥락·장치·위치 복합 검증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6126480" y="3874008"/>
            <a:ext cx="2706624" cy="552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3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4축 점수: 객체·환경·행위·업무적합도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274320" y="4481322"/>
            <a:ext cx="2560320" cy="643890"/>
          </a:xfrm>
          <a:prstGeom prst="rect">
            <a:avLst/>
          </a:prstGeom>
          <a:solidFill>
            <a:srgbClr val="E2EBFA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907792" y="4481322"/>
            <a:ext cx="3054096" cy="643890"/>
          </a:xfrm>
          <a:prstGeom prst="rect">
            <a:avLst/>
          </a:prstGeom>
          <a:solidFill>
            <a:srgbClr val="F7FA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035040" y="4481322"/>
            <a:ext cx="2834640" cy="643890"/>
          </a:xfrm>
          <a:prstGeom prst="rect">
            <a:avLst/>
          </a:prstGeom>
          <a:solidFill>
            <a:srgbClr val="F7FA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65760" y="4536186"/>
            <a:ext cx="2432304" cy="552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3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📝 Audit Everything</a:t>
            </a:r>
            <a:endParaRPr lang="en-US" sz="1000" dirty="0"/>
          </a:p>
          <a:p>
            <a:pPr marL="0" indent="0">
              <a:spcBef>
                <a:spcPts val="300"/>
              </a:spcBef>
              <a:buNone/>
            </a:pPr>
            <a:r>
              <a:rPr lang="ko-KR" sz="85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모든 활동을 기록·감사</a:t>
            </a:r>
          </a:p>
        </p:txBody>
      </p:sp>
      <p:sp>
        <p:nvSpPr>
          <p:cNvPr id="48" name="Text 46"/>
          <p:cNvSpPr/>
          <p:nvPr/>
        </p:nvSpPr>
        <p:spPr>
          <a:xfrm>
            <a:off x="2999232" y="4536186"/>
            <a:ext cx="2926080" cy="552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사후 분쟁·수사 대비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6126480" y="4536186"/>
            <a:ext cx="2706624" cy="552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3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3계층 감사 로그 + append-only trigger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061525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64008"/>
            <a:ext cx="8595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bg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  시스템 구성도  ·  전체 처리 흐름</a:t>
            </a:r>
            <a:endParaRPr lang="en-US" sz="1700" b="1" dirty="0">
              <a:solidFill>
                <a:schemeClr val="bg1"/>
              </a:solidFill>
            </a:endParaRPr>
          </a:p>
        </p:txBody>
      </p:sp>
      <p:pic>
        <p:nvPicPr>
          <p:cNvPr id="4" name="Image 0" descr="/sessions/amazing-affectionate-thompson/mnt/outputs/slide_imgs/arch.png"/>
          <p:cNvPicPr>
            <a:picLocks noChangeAspect="1"/>
          </p:cNvPicPr>
          <p:nvPr/>
        </p:nvPicPr>
        <p:blipFill>
          <a:blip r:embed="rId3"/>
          <a:srcRect t="-2" b="28278"/>
          <a:stretch>
            <a:fillRect/>
          </a:stretch>
        </p:blipFill>
        <p:spPr>
          <a:xfrm>
            <a:off x="359603" y="776937"/>
            <a:ext cx="8424794" cy="395583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0B1E3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64008"/>
            <a:ext cx="8595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05  4축 위험 점수  ·  매 요청마다 실시간 산정</a:t>
            </a:r>
            <a:endParaRPr lang="en-US" sz="1700" b="1" dirty="0"/>
          </a:p>
        </p:txBody>
      </p:sp>
      <p:sp>
        <p:nvSpPr>
          <p:cNvPr id="4" name="Shape 2"/>
          <p:cNvSpPr/>
          <p:nvPr/>
        </p:nvSpPr>
        <p:spPr>
          <a:xfrm>
            <a:off x="274320" y="530352"/>
            <a:ext cx="310896" cy="201168"/>
          </a:xfrm>
          <a:prstGeom prst="rect">
            <a:avLst/>
          </a:prstGeom>
          <a:solidFill>
            <a:srgbClr val="1E5FA8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530352"/>
            <a:ext cx="3108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05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58368" y="539496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scoring_engine.py 기반  —  4개 축의 합산이 곧 접근 등급 결정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74320" y="786384"/>
            <a:ext cx="859536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877824"/>
            <a:ext cx="914400" cy="585216"/>
          </a:xfrm>
          <a:prstGeom prst="rect">
            <a:avLst/>
          </a:prstGeom>
          <a:solidFill>
            <a:srgbClr val="F0F4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969264"/>
            <a:ext cx="914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위험점수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207008" y="914400"/>
            <a:ext cx="2743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1E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=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146304" y="877824"/>
            <a:ext cx="1828800" cy="585216"/>
          </a:xfrm>
          <a:prstGeom prst="rect">
            <a:avLst/>
          </a:prstGeom>
          <a:solidFill>
            <a:srgbClr val="0B1E3D"/>
          </a:solidFill>
          <a:ln/>
        </p:spPr>
      </p:sp>
      <p:sp>
        <p:nvSpPr>
          <p:cNvPr id="12" name="Text 10"/>
          <p:cNvSpPr/>
          <p:nvPr/>
        </p:nvSpPr>
        <p:spPr>
          <a:xfrm>
            <a:off x="146304" y="91440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객체민감도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146304" y="1225296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8E0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Object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2103120" y="932688"/>
            <a:ext cx="25603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1E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2487168" y="877824"/>
            <a:ext cx="1828800" cy="585216"/>
          </a:xfrm>
          <a:prstGeom prst="rect">
            <a:avLst/>
          </a:prstGeom>
          <a:solidFill>
            <a:srgbClr val="1E5FA8"/>
          </a:solidFill>
          <a:ln/>
        </p:spPr>
      </p:sp>
      <p:sp>
        <p:nvSpPr>
          <p:cNvPr id="16" name="Text 14"/>
          <p:cNvSpPr/>
          <p:nvPr/>
        </p:nvSpPr>
        <p:spPr>
          <a:xfrm>
            <a:off x="2487168" y="91440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환경위험도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2487168" y="1225296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8E0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Env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443984" y="932688"/>
            <a:ext cx="25603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1E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4828032" y="877824"/>
            <a:ext cx="1828800" cy="585216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0" name="Text 18"/>
          <p:cNvSpPr/>
          <p:nvPr/>
        </p:nvSpPr>
        <p:spPr>
          <a:xfrm>
            <a:off x="4828032" y="91440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행위위험도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828032" y="1225296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8E0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Action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6784848" y="932688"/>
            <a:ext cx="25603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1E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−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7168896" y="877824"/>
            <a:ext cx="1828800" cy="58521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4" name="Text 22"/>
          <p:cNvSpPr/>
          <p:nvPr/>
        </p:nvSpPr>
        <p:spPr>
          <a:xfrm>
            <a:off x="7168896" y="91440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업무적합도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7168896" y="1225296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8E0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Fitness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274320" y="1572768"/>
            <a:ext cx="2148840" cy="310896"/>
          </a:xfrm>
          <a:prstGeom prst="rect">
            <a:avLst/>
          </a:prstGeom>
          <a:solidFill>
            <a:srgbClr val="0B1E3D"/>
          </a:solidFill>
          <a:ln/>
        </p:spPr>
      </p:sp>
      <p:sp>
        <p:nvSpPr>
          <p:cNvPr id="27" name="Text 25"/>
          <p:cNvSpPr/>
          <p:nvPr/>
        </p:nvSpPr>
        <p:spPr>
          <a:xfrm>
            <a:off x="347472" y="1572768"/>
            <a:ext cx="2057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🗂️ 객체 민감도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74320" y="1883664"/>
            <a:ext cx="2148840" cy="3259836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84048" y="2011680"/>
            <a:ext cx="1453896" cy="42911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3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L1 일반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1783080" y="2011680"/>
            <a:ext cx="603504" cy="42911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DC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+10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384048" y="2440795"/>
            <a:ext cx="1453896" cy="42911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3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L2 제한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1783080" y="2440795"/>
            <a:ext cx="603504" cy="42911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DC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+20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384048" y="2869910"/>
            <a:ext cx="1453896" cy="42911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3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L3 비밀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1783080" y="2869910"/>
            <a:ext cx="603504" cy="42911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DC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+30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384048" y="3299025"/>
            <a:ext cx="1453896" cy="42911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3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L4 극비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1783080" y="3299025"/>
            <a:ext cx="603504" cy="42911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DC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+40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384048" y="3728139"/>
            <a:ext cx="1453896" cy="42911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3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L5 최극비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1783080" y="3728139"/>
            <a:ext cx="603504" cy="42911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DC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+50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384048" y="4157254"/>
            <a:ext cx="1453896" cy="42911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3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원본 문서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1783080" y="4157254"/>
            <a:ext cx="603504" cy="42911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DC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+10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384048" y="4586369"/>
            <a:ext cx="1453896" cy="42911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3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증거 자료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1783080" y="4586369"/>
            <a:ext cx="603504" cy="42911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DC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+15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2423160" y="1572768"/>
            <a:ext cx="2148840" cy="310896"/>
          </a:xfrm>
          <a:prstGeom prst="rect">
            <a:avLst/>
          </a:prstGeom>
          <a:solidFill>
            <a:srgbClr val="1E5FA8"/>
          </a:solidFill>
          <a:ln/>
        </p:spPr>
      </p:sp>
      <p:sp>
        <p:nvSpPr>
          <p:cNvPr id="44" name="Text 42"/>
          <p:cNvSpPr/>
          <p:nvPr/>
        </p:nvSpPr>
        <p:spPr>
          <a:xfrm>
            <a:off x="2496312" y="1572768"/>
            <a:ext cx="2057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🌐 환경 위험도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2423160" y="1883664"/>
            <a:ext cx="2148840" cy="3259836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532888" y="2011680"/>
            <a:ext cx="1453896" cy="75095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3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미등록 장치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3931920" y="2011680"/>
            <a:ext cx="603504" cy="75095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DC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+20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2532888" y="2762631"/>
            <a:ext cx="1453896" cy="75095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3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허용 외 위치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3931920" y="2762631"/>
            <a:ext cx="603504" cy="75095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DC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+20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2532888" y="3513582"/>
            <a:ext cx="1453896" cy="75095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3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심야 접근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3931920" y="3513582"/>
            <a:ext cx="603504" cy="75095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DC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+15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2532888" y="4264533"/>
            <a:ext cx="1453896" cy="75095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3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불가능 이동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3931920" y="4264533"/>
            <a:ext cx="603504" cy="75095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DC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+15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4572000" y="1572768"/>
            <a:ext cx="2148840" cy="310896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55" name="Text 53"/>
          <p:cNvSpPr/>
          <p:nvPr/>
        </p:nvSpPr>
        <p:spPr>
          <a:xfrm>
            <a:off x="4645152" y="1572768"/>
            <a:ext cx="2057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⚡ 행위 위험도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4572000" y="1883664"/>
            <a:ext cx="2148840" cy="3259836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681728" y="2011680"/>
            <a:ext cx="1453896" cy="75095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3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대량 다운로드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6080760" y="2011680"/>
            <a:ext cx="603504" cy="75095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DC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+30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4681728" y="2762631"/>
            <a:ext cx="1453896" cy="75095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3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연속 인증 실패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6080760" y="2762631"/>
            <a:ext cx="603504" cy="75095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DC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+20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4681728" y="3513582"/>
            <a:ext cx="1453896" cy="75095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3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급속 열람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6080760" y="3513582"/>
            <a:ext cx="603504" cy="75095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DC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+25</a:t>
            </a:r>
            <a:endParaRPr lang="en-US" sz="950" dirty="0"/>
          </a:p>
        </p:txBody>
      </p:sp>
      <p:sp>
        <p:nvSpPr>
          <p:cNvPr id="63" name="Text 61"/>
          <p:cNvSpPr/>
          <p:nvPr/>
        </p:nvSpPr>
        <p:spPr>
          <a:xfrm>
            <a:off x="4681728" y="4264533"/>
            <a:ext cx="1453896" cy="75095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3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세션·단말 이상</a:t>
            </a:r>
            <a:endParaRPr lang="en-US" sz="950" dirty="0"/>
          </a:p>
        </p:txBody>
      </p:sp>
      <p:sp>
        <p:nvSpPr>
          <p:cNvPr id="64" name="Text 62"/>
          <p:cNvSpPr/>
          <p:nvPr/>
        </p:nvSpPr>
        <p:spPr>
          <a:xfrm>
            <a:off x="6080760" y="4264533"/>
            <a:ext cx="603504" cy="750951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DC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+15~+20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6720840" y="1572768"/>
            <a:ext cx="2148840" cy="31089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66" name="Text 64"/>
          <p:cNvSpPr/>
          <p:nvPr/>
        </p:nvSpPr>
        <p:spPr>
          <a:xfrm>
            <a:off x="6793992" y="1572768"/>
            <a:ext cx="2057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✅ 업무 적합도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6720840" y="1883664"/>
            <a:ext cx="2148840" cy="3259836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830568" y="2011680"/>
            <a:ext cx="1453896" cy="75095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3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담당 사건</a:t>
            </a:r>
            <a:endParaRPr lang="en-US" sz="950" dirty="0"/>
          </a:p>
        </p:txBody>
      </p:sp>
      <p:sp>
        <p:nvSpPr>
          <p:cNvPr id="69" name="Text 67"/>
          <p:cNvSpPr/>
          <p:nvPr/>
        </p:nvSpPr>
        <p:spPr>
          <a:xfrm>
            <a:off x="8229600" y="2011680"/>
            <a:ext cx="603504" cy="75095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6A3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−20</a:t>
            </a:r>
            <a:endParaRPr lang="en-US" sz="950" dirty="0"/>
          </a:p>
        </p:txBody>
      </p:sp>
      <p:sp>
        <p:nvSpPr>
          <p:cNvPr id="70" name="Text 68"/>
          <p:cNvSpPr/>
          <p:nvPr/>
        </p:nvSpPr>
        <p:spPr>
          <a:xfrm>
            <a:off x="6830568" y="2762631"/>
            <a:ext cx="1453896" cy="75095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3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동일 부서</a:t>
            </a:r>
            <a:endParaRPr lang="en-US" sz="950" dirty="0"/>
          </a:p>
        </p:txBody>
      </p:sp>
      <p:sp>
        <p:nvSpPr>
          <p:cNvPr id="71" name="Text 69"/>
          <p:cNvSpPr/>
          <p:nvPr/>
        </p:nvSpPr>
        <p:spPr>
          <a:xfrm>
            <a:off x="8229600" y="2762631"/>
            <a:ext cx="603504" cy="75095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6A3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−10</a:t>
            </a:r>
            <a:endParaRPr lang="en-US" sz="950" dirty="0"/>
          </a:p>
        </p:txBody>
      </p:sp>
      <p:sp>
        <p:nvSpPr>
          <p:cNvPr id="72" name="Text 70"/>
          <p:cNvSpPr/>
          <p:nvPr/>
        </p:nvSpPr>
        <p:spPr>
          <a:xfrm>
            <a:off x="6830568" y="3513582"/>
            <a:ext cx="1453896" cy="75095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3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관할 일치</a:t>
            </a:r>
            <a:endParaRPr lang="en-US" sz="950" dirty="0"/>
          </a:p>
        </p:txBody>
      </p:sp>
      <p:sp>
        <p:nvSpPr>
          <p:cNvPr id="73" name="Text 71"/>
          <p:cNvSpPr/>
          <p:nvPr/>
        </p:nvSpPr>
        <p:spPr>
          <a:xfrm>
            <a:off x="8229600" y="3513582"/>
            <a:ext cx="603504" cy="75095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6A3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−5</a:t>
            </a:r>
            <a:endParaRPr lang="en-US" sz="950" dirty="0"/>
          </a:p>
        </p:txBody>
      </p:sp>
      <p:sp>
        <p:nvSpPr>
          <p:cNvPr id="74" name="Text 72"/>
          <p:cNvSpPr/>
          <p:nvPr/>
        </p:nvSpPr>
        <p:spPr>
          <a:xfrm>
            <a:off x="6830568" y="4264533"/>
            <a:ext cx="1453896" cy="75095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3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직무 연관성</a:t>
            </a:r>
            <a:endParaRPr lang="en-US" sz="950" dirty="0"/>
          </a:p>
        </p:txBody>
      </p:sp>
      <p:sp>
        <p:nvSpPr>
          <p:cNvPr id="75" name="Text 73"/>
          <p:cNvSpPr/>
          <p:nvPr/>
        </p:nvSpPr>
        <p:spPr>
          <a:xfrm>
            <a:off x="8229600" y="4264533"/>
            <a:ext cx="603504" cy="750951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6A3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−10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0B1E3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64008"/>
            <a:ext cx="8595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05  5단계 접근 결과  ·  위험 점수  →  행동권한 차등  →  마스킹</a:t>
            </a:r>
            <a:endParaRPr lang="en-US" sz="1700" b="1" dirty="0"/>
          </a:p>
        </p:txBody>
      </p:sp>
      <p:sp>
        <p:nvSpPr>
          <p:cNvPr id="4" name="Shape 2"/>
          <p:cNvSpPr/>
          <p:nvPr/>
        </p:nvSpPr>
        <p:spPr>
          <a:xfrm>
            <a:off x="274320" y="530352"/>
            <a:ext cx="310896" cy="201168"/>
          </a:xfrm>
          <a:prstGeom prst="rect">
            <a:avLst/>
          </a:prstGeom>
          <a:solidFill>
            <a:srgbClr val="1E5FA8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530352"/>
            <a:ext cx="3108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05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58368" y="539496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decision_engine.py + masking_engine.py  —  5개 구간 완전 분리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74320" y="786384"/>
            <a:ext cx="859536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877824"/>
            <a:ext cx="8595360" cy="774497"/>
          </a:xfrm>
          <a:prstGeom prst="rect">
            <a:avLst/>
          </a:prstGeom>
          <a:solidFill>
            <a:srgbClr val="F0FDF4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877824"/>
            <a:ext cx="530352" cy="774497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" y="877824"/>
            <a:ext cx="530352" cy="77449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4400" y="932688"/>
            <a:ext cx="1463040" cy="6647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A3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 – 25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2468880" y="950976"/>
            <a:ext cx="0" cy="628193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15184" y="932688"/>
            <a:ext cx="2377440" cy="6647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완전 허용</a:t>
            </a:r>
            <a:endParaRPr lang="en-US" sz="1200" dirty="0"/>
          </a:p>
          <a:p>
            <a:pPr marL="0" indent="0">
              <a:spcBef>
                <a:spcPts val="300"/>
              </a:spcBef>
              <a:buNone/>
            </a:pPr>
            <a:r>
              <a:rPr lang="ko-KR" sz="85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열람·다운로드·복사·출력</a:t>
            </a:r>
          </a:p>
        </p:txBody>
      </p:sp>
      <p:sp>
        <p:nvSpPr>
          <p:cNvPr id="14" name="Shape 12"/>
          <p:cNvSpPr/>
          <p:nvPr/>
        </p:nvSpPr>
        <p:spPr>
          <a:xfrm>
            <a:off x="5102352" y="950976"/>
            <a:ext cx="0" cy="628193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48656" y="914400"/>
            <a:ext cx="6217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마스킹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248656" y="1115568"/>
            <a:ext cx="2560320" cy="4818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6A3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마스킹 없음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74320" y="1670609"/>
            <a:ext cx="8595360" cy="774497"/>
          </a:xfrm>
          <a:prstGeom prst="rect">
            <a:avLst/>
          </a:prstGeom>
          <a:solidFill>
            <a:srgbClr val="F4F8E6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1670609"/>
            <a:ext cx="530352" cy="774497"/>
          </a:xfrm>
          <a:prstGeom prst="rect">
            <a:avLst/>
          </a:prstGeom>
          <a:solidFill>
            <a:srgbClr val="6FA214"/>
          </a:solidFill>
          <a:ln/>
        </p:spPr>
      </p:sp>
      <p:sp>
        <p:nvSpPr>
          <p:cNvPr id="19" name="Text 17"/>
          <p:cNvSpPr/>
          <p:nvPr/>
        </p:nvSpPr>
        <p:spPr>
          <a:xfrm>
            <a:off x="274320" y="1670609"/>
            <a:ext cx="530352" cy="77449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L2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14400" y="1725473"/>
            <a:ext cx="1463040" cy="6647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6FA21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26 – 50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2468880" y="1743761"/>
            <a:ext cx="0" cy="628193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15184" y="1725473"/>
            <a:ext cx="2377440" cy="6647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열람 전용</a:t>
            </a:r>
            <a:endParaRPr lang="en-US" sz="1200" dirty="0"/>
          </a:p>
          <a:p>
            <a:pPr marL="0" indent="0">
              <a:spcBef>
                <a:spcPts val="300"/>
              </a:spcBef>
              <a:buNone/>
            </a:pPr>
            <a:r>
              <a:rPr lang="ko-KR" sz="85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다운로드·복사·출력 차단</a:t>
            </a:r>
          </a:p>
        </p:txBody>
      </p:sp>
      <p:sp>
        <p:nvSpPr>
          <p:cNvPr id="23" name="Shape 21"/>
          <p:cNvSpPr/>
          <p:nvPr/>
        </p:nvSpPr>
        <p:spPr>
          <a:xfrm>
            <a:off x="5102352" y="1743761"/>
            <a:ext cx="0" cy="628193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48656" y="1707185"/>
            <a:ext cx="6217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마스킹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248656" y="1908353"/>
            <a:ext cx="2560320" cy="4818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FA21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워터마크 삽입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274320" y="2463394"/>
            <a:ext cx="8595360" cy="774497"/>
          </a:xfrm>
          <a:prstGeom prst="rect">
            <a:avLst/>
          </a:prstGeom>
          <a:solidFill>
            <a:srgbClr val="FFFBEB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74320" y="2463394"/>
            <a:ext cx="530352" cy="774497"/>
          </a:xfrm>
          <a:prstGeom prst="rect">
            <a:avLst/>
          </a:prstGeom>
          <a:solidFill>
            <a:srgbClr val="C98A04"/>
          </a:solidFill>
          <a:ln/>
        </p:spPr>
      </p:sp>
      <p:sp>
        <p:nvSpPr>
          <p:cNvPr id="29" name="Text 27"/>
          <p:cNvSpPr/>
          <p:nvPr/>
        </p:nvSpPr>
        <p:spPr>
          <a:xfrm>
            <a:off x="274320" y="2463394"/>
            <a:ext cx="530352" cy="77449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L3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914400" y="2518258"/>
            <a:ext cx="1463040" cy="6647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C98A0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51 – 75</a:t>
            </a:r>
            <a:endParaRPr lang="en-US" sz="1700" dirty="0"/>
          </a:p>
        </p:txBody>
      </p:sp>
      <p:sp>
        <p:nvSpPr>
          <p:cNvPr id="31" name="Shape 29"/>
          <p:cNvSpPr/>
          <p:nvPr/>
        </p:nvSpPr>
        <p:spPr>
          <a:xfrm>
            <a:off x="2468880" y="2536546"/>
            <a:ext cx="0" cy="628193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615184" y="2518258"/>
            <a:ext cx="2377440" cy="6647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재인증 요구</a:t>
            </a:r>
            <a:endParaRPr lang="en-US" sz="1200" dirty="0"/>
          </a:p>
          <a:p>
            <a:pPr marL="0" indent="0">
              <a:spcBef>
                <a:spcPts val="300"/>
              </a:spcBef>
              <a:buNone/>
            </a:pPr>
            <a:r>
              <a:rPr lang="ko-KR" sz="85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재인증 후 열람 허용</a:t>
            </a:r>
          </a:p>
        </p:txBody>
      </p:sp>
      <p:sp>
        <p:nvSpPr>
          <p:cNvPr id="33" name="Shape 31"/>
          <p:cNvSpPr/>
          <p:nvPr/>
        </p:nvSpPr>
        <p:spPr>
          <a:xfrm>
            <a:off x="5102352" y="2536546"/>
            <a:ext cx="0" cy="628193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248656" y="2499970"/>
            <a:ext cx="6217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마스킹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248656" y="2701138"/>
            <a:ext cx="2560320" cy="4818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98A0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부분 마스킹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274320" y="3256178"/>
            <a:ext cx="8595360" cy="774497"/>
          </a:xfrm>
          <a:prstGeom prst="rect">
            <a:avLst/>
          </a:prstGeom>
          <a:solidFill>
            <a:srgbClr val="FFF7ED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74320" y="3256178"/>
            <a:ext cx="530352" cy="774497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38" name="Text 36"/>
          <p:cNvSpPr/>
          <p:nvPr/>
        </p:nvSpPr>
        <p:spPr>
          <a:xfrm>
            <a:off x="274320" y="3256178"/>
            <a:ext cx="530352" cy="77449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L4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914400" y="3311042"/>
            <a:ext cx="1463040" cy="6647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A580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76 – 90</a:t>
            </a:r>
            <a:endParaRPr lang="en-US" sz="1700" dirty="0"/>
          </a:p>
        </p:txBody>
      </p:sp>
      <p:sp>
        <p:nvSpPr>
          <p:cNvPr id="40" name="Shape 38"/>
          <p:cNvSpPr/>
          <p:nvPr/>
        </p:nvSpPr>
        <p:spPr>
          <a:xfrm>
            <a:off x="2468880" y="3329330"/>
            <a:ext cx="0" cy="628193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615184" y="3311042"/>
            <a:ext cx="2377440" cy="6647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관리자 승인 필요</a:t>
            </a:r>
            <a:endParaRPr lang="en-US" sz="1200" dirty="0"/>
          </a:p>
          <a:p>
            <a:pPr marL="0" indent="0">
              <a:spcBef>
                <a:spcPts val="300"/>
              </a:spcBef>
              <a:buNone/>
            </a:pPr>
            <a:r>
              <a:rPr lang="ko-KR" sz="85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승인 시에만 다운로드</a:t>
            </a:r>
          </a:p>
        </p:txBody>
      </p:sp>
      <p:sp>
        <p:nvSpPr>
          <p:cNvPr id="42" name="Shape 40"/>
          <p:cNvSpPr/>
          <p:nvPr/>
        </p:nvSpPr>
        <p:spPr>
          <a:xfrm>
            <a:off x="5102352" y="3329330"/>
            <a:ext cx="0" cy="628193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248656" y="3292754"/>
            <a:ext cx="6217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마스킹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5248656" y="3493922"/>
            <a:ext cx="2560320" cy="4818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A580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요약만 노출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274320" y="4048963"/>
            <a:ext cx="8595360" cy="774497"/>
          </a:xfrm>
          <a:prstGeom prst="rect">
            <a:avLst/>
          </a:prstGeom>
          <a:solidFill>
            <a:srgbClr val="FEF2F2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74320" y="4048963"/>
            <a:ext cx="530352" cy="774497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8" name="Text 46"/>
          <p:cNvSpPr/>
          <p:nvPr/>
        </p:nvSpPr>
        <p:spPr>
          <a:xfrm>
            <a:off x="274320" y="4048963"/>
            <a:ext cx="530352" cy="77449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L5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914400" y="4103827"/>
            <a:ext cx="1463040" cy="6647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DC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91 +</a:t>
            </a:r>
            <a:endParaRPr lang="en-US" sz="1700" dirty="0"/>
          </a:p>
        </p:txBody>
      </p:sp>
      <p:sp>
        <p:nvSpPr>
          <p:cNvPr id="50" name="Shape 48"/>
          <p:cNvSpPr/>
          <p:nvPr/>
        </p:nvSpPr>
        <p:spPr>
          <a:xfrm>
            <a:off x="2468880" y="4122115"/>
            <a:ext cx="0" cy="628193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615184" y="4103827"/>
            <a:ext cx="2377440" cy="6647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즉시 차단</a:t>
            </a:r>
            <a:endParaRPr lang="en-US" sz="1200" dirty="0"/>
          </a:p>
          <a:p>
            <a:pPr marL="0" indent="0">
              <a:spcBef>
                <a:spcPts val="300"/>
              </a:spcBef>
              <a:buNone/>
            </a:pPr>
            <a:r>
              <a:rPr lang="ko-KR" sz="85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모든 행동 차단</a:t>
            </a:r>
          </a:p>
        </p:txBody>
      </p:sp>
      <p:sp>
        <p:nvSpPr>
          <p:cNvPr id="52" name="Shape 50"/>
          <p:cNvSpPr/>
          <p:nvPr/>
        </p:nvSpPr>
        <p:spPr>
          <a:xfrm>
            <a:off x="5102352" y="4122115"/>
            <a:ext cx="0" cy="628193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248656" y="4085539"/>
            <a:ext cx="6217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마스킹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5248656" y="4286707"/>
            <a:ext cx="2560320" cy="4818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C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완전 차단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274320" y="4768596"/>
            <a:ext cx="8595360" cy="301752"/>
          </a:xfrm>
          <a:prstGeom prst="rect">
            <a:avLst/>
          </a:prstGeom>
          <a:solidFill>
            <a:srgbClr val="EFF6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02336" y="4796028"/>
            <a:ext cx="833932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5FA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Confidence-Aware  :  신뢰도 &lt; 0.85  →  DENY는 ADMIN_APPROVAL로,  ALLOW는 VIEW_ONLY로 상향 통제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0B1E3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64008"/>
            <a:ext cx="8595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06  핵심 보안  ·  즉시 차단 규칙  &amp;  신뢰도 기반 결정</a:t>
            </a:r>
            <a:endParaRPr lang="en-US" sz="1700" b="1" dirty="0"/>
          </a:p>
        </p:txBody>
      </p:sp>
      <p:sp>
        <p:nvSpPr>
          <p:cNvPr id="4" name="Shape 2"/>
          <p:cNvSpPr/>
          <p:nvPr/>
        </p:nvSpPr>
        <p:spPr>
          <a:xfrm>
            <a:off x="274320" y="530352"/>
            <a:ext cx="310896" cy="201168"/>
          </a:xfrm>
          <a:prstGeom prst="rect">
            <a:avLst/>
          </a:prstGeom>
          <a:solidFill>
            <a:srgbClr val="1E5FA8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530352"/>
            <a:ext cx="3108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58368" y="539496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policy_engine.py  —  점수 산정 이전에 우선 처리되는 즉시 차단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74320" y="786384"/>
            <a:ext cx="859536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877824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즉시 차단 규칙  (4가지)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1170432"/>
            <a:ext cx="5394960" cy="890397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1170432"/>
            <a:ext cx="45720" cy="890397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1" name="Text 9"/>
          <p:cNvSpPr/>
          <p:nvPr/>
        </p:nvSpPr>
        <p:spPr>
          <a:xfrm>
            <a:off x="384048" y="1396175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🚫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877824" y="1225296"/>
            <a:ext cx="471830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3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CONCURRENT_DEVICE_AUTH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77824" y="1481328"/>
            <a:ext cx="47183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조건  동시 접속 + 장치 불일치 + 인증 실패  (AND 조건)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877824" y="1768221"/>
            <a:ext cx="471830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C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 양측 세션 즉시 잠금 → pending_reauth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74320" y="2088261"/>
            <a:ext cx="5394960" cy="890397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" y="2088261"/>
            <a:ext cx="45720" cy="890397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7" name="Text 15"/>
          <p:cNvSpPr/>
          <p:nvPr/>
        </p:nvSpPr>
        <p:spPr>
          <a:xfrm>
            <a:off x="384048" y="2314003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⬇️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877824" y="2143125"/>
            <a:ext cx="471830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3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HIGH_RISK_DOWNLOAD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77824" y="2399157"/>
            <a:ext cx="47183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조건  미허용 위치 + 미등록 장치 + 4등급 이상 + 다운로드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877824" y="2686050"/>
            <a:ext cx="471830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C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 즉시 차단 + 감사 로그 기록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74320" y="3006090"/>
            <a:ext cx="5394960" cy="890397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3006090"/>
            <a:ext cx="45720" cy="890397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3" name="Text 21"/>
          <p:cNvSpPr/>
          <p:nvPr/>
        </p:nvSpPr>
        <p:spPr>
          <a:xfrm>
            <a:off x="384048" y="3231833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✈️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877824" y="3060954"/>
            <a:ext cx="471830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3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IMPOSSIBLE_TRAVEL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77824" y="3316986"/>
            <a:ext cx="47183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조건  Haversine 거리 / 이동 시간  &gt;  800km/h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877824" y="3603879"/>
            <a:ext cx="471830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C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 즉시 차단 + 관리자 알림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274320" y="3923919"/>
            <a:ext cx="5394960" cy="890397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74320" y="3923919"/>
            <a:ext cx="45720" cy="890397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9" name="Text 27"/>
          <p:cNvSpPr/>
          <p:nvPr/>
        </p:nvSpPr>
        <p:spPr>
          <a:xfrm>
            <a:off x="384048" y="414966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📍</a:t>
            </a:r>
            <a:endParaRPr lang="en-US" sz="2600" dirty="0"/>
          </a:p>
        </p:txBody>
      </p:sp>
      <p:sp>
        <p:nvSpPr>
          <p:cNvPr id="30" name="Text 28"/>
          <p:cNvSpPr/>
          <p:nvPr/>
        </p:nvSpPr>
        <p:spPr>
          <a:xfrm>
            <a:off x="877824" y="3978783"/>
            <a:ext cx="471830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3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LOCATION_NOT_ALLOWED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77824" y="4234815"/>
            <a:ext cx="47183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조건  허용 위치 목록 외 접속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877824" y="4521708"/>
            <a:ext cx="471830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C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 즉시 차단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5852160" y="877824"/>
            <a:ext cx="3017520" cy="3963924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852160" y="877824"/>
            <a:ext cx="3017520" cy="347472"/>
          </a:xfrm>
          <a:prstGeom prst="rect">
            <a:avLst/>
          </a:prstGeom>
          <a:solidFill>
            <a:srgbClr val="1E5FA8"/>
          </a:solidFill>
          <a:ln/>
        </p:spPr>
      </p:sp>
      <p:sp>
        <p:nvSpPr>
          <p:cNvPr id="35" name="Text 33"/>
          <p:cNvSpPr/>
          <p:nvPr/>
        </p:nvSpPr>
        <p:spPr>
          <a:xfrm>
            <a:off x="5943600" y="896112"/>
            <a:ext cx="288950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🧠  Confidence-Aware 결정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980176" y="1298448"/>
            <a:ext cx="279806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기준 임계값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980176" y="1536192"/>
            <a:ext cx="2798064" cy="53835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0D1B3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confidence  &lt;  0.85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980176" y="2129409"/>
            <a:ext cx="2761488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980176" y="2202561"/>
            <a:ext cx="279806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DENY  →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980176" y="2440305"/>
            <a:ext cx="2798064" cy="53835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0D1B3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ADMIN_APPROVAL 전환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980176" y="3033522"/>
            <a:ext cx="2761488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980176" y="3106674"/>
            <a:ext cx="279806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ALLOW  →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980176" y="3344418"/>
            <a:ext cx="2798064" cy="53835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0D1B3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VIEW_ONLY 강제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5980176" y="3937635"/>
            <a:ext cx="2761488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980176" y="4010787"/>
            <a:ext cx="279806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목적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980176" y="4248531"/>
            <a:ext cx="2798064" cy="53835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0D1B3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불확실한 판단의 경우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0D1B3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보수적 결정으로 안전 확보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274320" y="4768596"/>
            <a:ext cx="8595360" cy="301752"/>
          </a:xfrm>
          <a:prstGeom prst="rect">
            <a:avLst/>
          </a:prstGeom>
          <a:solidFill>
            <a:srgbClr val="EFF6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02336" y="4796028"/>
            <a:ext cx="833932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5FA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이중 안전망  :  즉시 차단 규칙은 점수 산정 이전에 우선 적용  →  신뢰도까지 고려한 2단계 결정 구조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0B1E3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64008"/>
            <a:ext cx="8595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06  핵심 보안  ·  Break-Glass 비상 접근  &amp;  3계층 감사 로그</a:t>
            </a:r>
            <a:endParaRPr lang="en-US" sz="1700" b="1" dirty="0"/>
          </a:p>
        </p:txBody>
      </p:sp>
      <p:sp>
        <p:nvSpPr>
          <p:cNvPr id="4" name="Shape 2"/>
          <p:cNvSpPr/>
          <p:nvPr/>
        </p:nvSpPr>
        <p:spPr>
          <a:xfrm>
            <a:off x="274320" y="530352"/>
            <a:ext cx="310896" cy="201168"/>
          </a:xfrm>
          <a:prstGeom prst="rect">
            <a:avLst/>
          </a:prstGeom>
          <a:solidFill>
            <a:srgbClr val="1E5FA8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530352"/>
            <a:ext cx="3108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58368" y="539496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break_glass.py + audit_trigger  —  비상 접근과 무결성 감사의 두 축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74320" y="786384"/>
            <a:ext cx="859536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877824"/>
            <a:ext cx="4206240" cy="4210812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877824"/>
            <a:ext cx="4206240" cy="34747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0" name="Text 8"/>
          <p:cNvSpPr/>
          <p:nvPr/>
        </p:nvSpPr>
        <p:spPr>
          <a:xfrm>
            <a:off x="402336" y="914400"/>
            <a:ext cx="3986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🚨  Break-Glass  비상 접근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02336" y="1298448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MFA 필수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02336" y="1554480"/>
            <a:ext cx="3931920" cy="3703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0D1B3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mfa_secret 등록된 장치만 활성화 가능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02336" y="1997964"/>
            <a:ext cx="3913632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02336" y="20711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범위 선택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02336" y="2327148"/>
            <a:ext cx="3931920" cy="3703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0D1B3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resource (단일)  /  broad (4등급 이상 전체)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02336" y="2770632"/>
            <a:ext cx="3913632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02336" y="2843784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TTL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02336" y="3099816"/>
            <a:ext cx="3931920" cy="3703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0D1B3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30분 + 유휴 5분 자동 만료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02336" y="3543300"/>
            <a:ext cx="3913632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02336" y="3616452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사후 심사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02336" y="3872484"/>
            <a:ext cx="3931920" cy="3703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0D1B3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사유 기재 필수  —  미기재 시 −30 trust_score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02336" y="4315968"/>
            <a:ext cx="3913632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02336" y="4389120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자기 승인 차단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02336" y="4645152"/>
            <a:ext cx="3931920" cy="3703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0D1B3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SELF_ACTION_BLOCKED  (이중 감독 원칙)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63440" y="877824"/>
            <a:ext cx="4206240" cy="4210812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63440" y="877824"/>
            <a:ext cx="4206240" cy="347472"/>
          </a:xfrm>
          <a:prstGeom prst="rect">
            <a:avLst/>
          </a:prstGeom>
          <a:solidFill>
            <a:srgbClr val="0B1E3D"/>
          </a:solidFill>
          <a:ln/>
        </p:spPr>
      </p:sp>
      <p:sp>
        <p:nvSpPr>
          <p:cNvPr id="27" name="Text 25"/>
          <p:cNvSpPr/>
          <p:nvPr/>
        </p:nvSpPr>
        <p:spPr>
          <a:xfrm>
            <a:off x="4791456" y="914400"/>
            <a:ext cx="3986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📋  3계층 감사 로그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663440" y="1298448"/>
            <a:ext cx="45720" cy="1141476"/>
          </a:xfrm>
          <a:prstGeom prst="rect">
            <a:avLst/>
          </a:prstGeom>
          <a:solidFill>
            <a:srgbClr val="3B9FE8"/>
          </a:solidFill>
          <a:ln/>
        </p:spPr>
      </p:sp>
      <p:sp>
        <p:nvSpPr>
          <p:cNvPr id="29" name="Text 27"/>
          <p:cNvSpPr/>
          <p:nvPr/>
        </p:nvSpPr>
        <p:spPr>
          <a:xfrm>
            <a:off x="4791456" y="1316736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Layer 1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660000" y="1316736"/>
            <a:ext cx="311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3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operation_logs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791456" y="1627632"/>
            <a:ext cx="3950208" cy="775716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32" name="Text 30"/>
          <p:cNvSpPr/>
          <p:nvPr/>
        </p:nvSpPr>
        <p:spPr>
          <a:xfrm>
            <a:off x="4882896" y="1645920"/>
            <a:ext cx="3822192" cy="7391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모든 접근 요청 기록  —  실시간 운영 감시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791456" y="2513076"/>
            <a:ext cx="3913632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663440" y="2586228"/>
            <a:ext cx="45720" cy="114147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5" name="Text 33"/>
          <p:cNvSpPr/>
          <p:nvPr/>
        </p:nvSpPr>
        <p:spPr>
          <a:xfrm>
            <a:off x="4791456" y="2604516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Layer 2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5660000" y="2604516"/>
            <a:ext cx="311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3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audit_logs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791456" y="2915412"/>
            <a:ext cx="3950208" cy="775716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38" name="Text 36"/>
          <p:cNvSpPr/>
          <p:nvPr/>
        </p:nvSpPr>
        <p:spPr>
          <a:xfrm>
            <a:off x="4882896" y="2933700"/>
            <a:ext cx="3822192" cy="7391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append-only PostgreSQL trigger</a:t>
            </a:r>
            <a:endParaRPr lang="en-US" sz="9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삭제·수정 원천 불가  —  감사 무결성 보장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791456" y="3800856"/>
            <a:ext cx="3913632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663440" y="3874008"/>
            <a:ext cx="45720" cy="114147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1" name="Text 39"/>
          <p:cNvSpPr/>
          <p:nvPr/>
        </p:nvSpPr>
        <p:spPr>
          <a:xfrm>
            <a:off x="4791456" y="3892296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Layer 3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5660000" y="3892296"/>
            <a:ext cx="311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3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sensitive_logs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791456" y="4203192"/>
            <a:ext cx="3950208" cy="775716"/>
          </a:xfrm>
          <a:prstGeom prst="rect">
            <a:avLst/>
          </a:prstGeom>
          <a:solidFill>
            <a:srgbClr val="F5F3FF"/>
          </a:solidFill>
          <a:ln/>
        </p:spPr>
      </p:sp>
      <p:sp>
        <p:nvSpPr>
          <p:cNvPr id="44" name="Text 42"/>
          <p:cNvSpPr/>
          <p:nvPr/>
        </p:nvSpPr>
        <p:spPr>
          <a:xfrm>
            <a:off x="4882896" y="4221480"/>
            <a:ext cx="3822192" cy="7391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RLS(Row-Level Security) 적용</a:t>
            </a:r>
            <a:endParaRPr lang="en-US" sz="9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사용자 삭제 후에도 로그 영구 보존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nclusion">
    <p:bg>
      <p:bgPr>
        <a:solidFill>
          <a:srgbClr val="F0F4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Header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0B1E3D"/>
          </a:solidFill>
          <a:ln/>
        </p:spPr>
      </p:sp>
      <p:sp>
        <p:nvSpPr>
          <p:cNvPr id="13" name="Txt"/>
          <p:cNvSpPr/>
          <p:nvPr/>
        </p:nvSpPr>
        <p:spPr>
          <a:xfrm>
            <a:off x="274320" y="64008"/>
            <a:ext cx="8595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ko-KR" sz="17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07   결론  ·  핵심 정리와 기대 효과</a:t>
            </a:r>
          </a:p>
        </p:txBody>
      </p:sp>
      <p:sp>
        <p:nvSpPr>
          <p:cNvPr id="14" name="Badge"/>
          <p:cNvSpPr/>
          <p:nvPr/>
        </p:nvSpPr>
        <p:spPr>
          <a:xfrm>
            <a:off x="274320" y="530352"/>
            <a:ext cx="310896" cy="201168"/>
          </a:xfrm>
          <a:prstGeom prst="rect">
            <a:avLst/>
          </a:prstGeom>
          <a:solidFill>
            <a:srgbClr val="1E5FA8"/>
          </a:solidFill>
          <a:ln/>
        </p:spPr>
      </p:sp>
      <p:sp>
        <p:nvSpPr>
          <p:cNvPr id="15" name="Txt"/>
          <p:cNvSpPr/>
          <p:nvPr/>
        </p:nvSpPr>
        <p:spPr>
          <a:xfrm>
            <a:off x="274320" y="530352"/>
            <a:ext cx="3108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ko-KR" sz="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07</a:t>
            </a:r>
          </a:p>
        </p:txBody>
      </p:sp>
      <p:sp>
        <p:nvSpPr>
          <p:cNvPr id="16" name="Txt"/>
          <p:cNvSpPr/>
          <p:nvPr/>
        </p:nvSpPr>
        <p:spPr>
          <a:xfrm>
            <a:off x="658368" y="539496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ko-KR" sz="105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사후 적발·징계 중심에서 매 요청을 검증·차단하는 사전 예방 체계로</a:t>
            </a:r>
          </a:p>
        </p:txBody>
      </p:sp>
      <p:sp>
        <p:nvSpPr>
          <p:cNvPr id="17" name="Card"/>
          <p:cNvSpPr/>
          <p:nvPr/>
        </p:nvSpPr>
        <p:spPr>
          <a:xfrm>
            <a:off x="274320" y="900000"/>
            <a:ext cx="8595360" cy="7700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7F2"/>
            </a:solidFill>
          </a:ln>
        </p:spPr>
      </p:sp>
      <p:sp>
        <p:nvSpPr>
          <p:cNvPr id="18" name="SumAccent"/>
          <p:cNvSpPr/>
          <p:nvPr/>
        </p:nvSpPr>
        <p:spPr>
          <a:xfrm>
            <a:off x="274320" y="900000"/>
            <a:ext cx="54864" cy="770000"/>
          </a:xfrm>
          <a:prstGeom prst="rect">
            <a:avLst/>
          </a:prstGeom>
          <a:solidFill>
            <a:srgbClr val="1E5FA8"/>
          </a:solidFill>
          <a:ln/>
        </p:spPr>
      </p:sp>
      <p:sp>
        <p:nvSpPr>
          <p:cNvPr id="19" name="Txt"/>
          <p:cNvSpPr/>
          <p:nvPr/>
        </p:nvSpPr>
        <p:spPr>
          <a:xfrm>
            <a:off x="460000" y="960000"/>
            <a:ext cx="8200000" cy="23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ko-KR" sz="950" b="1" dirty="0">
                <a:solidFill>
                  <a:srgbClr val="1E5FA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요약</a:t>
            </a:r>
          </a:p>
        </p:txBody>
      </p:sp>
      <p:sp>
        <p:nvSpPr>
          <p:cNvPr id="20" name="Txt"/>
          <p:cNvSpPr/>
          <p:nvPr/>
        </p:nvSpPr>
        <p:spPr>
          <a:xfrm>
            <a:off x="460000" y="1190000"/>
            <a:ext cx="8000000" cy="4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ko-KR" sz="1100" dirty="0">
                <a:solidFill>
                  <a:srgbClr val="0D1B3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로그인 성공을 신뢰의 끝으로 보던 구조를, 매 요청을 4축(객체·환경·행위·업무적합도)으로 재검증하고 위험 시 즉시 차단하는 </a:t>
            </a:r>
            <a:r>
              <a:rPr lang="ko-KR" sz="1100" b="1" dirty="0">
                <a:solidFill>
                  <a:srgbClr val="0D1B3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동적 제로트러스트 접근제어 체계</a:t>
            </a:r>
            <a:r>
              <a:rPr lang="ko-KR" sz="1100" dirty="0">
                <a:solidFill>
                  <a:srgbClr val="0D1B3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 전환했다.</a:t>
            </a:r>
          </a:p>
        </p:txBody>
      </p:sp>
      <p:sp>
        <p:nvSpPr>
          <p:cNvPr id="21" name="LblAccent"/>
          <p:cNvSpPr/>
          <p:nvPr/>
        </p:nvSpPr>
        <p:spPr>
          <a:xfrm>
            <a:off x="274320" y="1870000"/>
            <a:ext cx="54864" cy="250000"/>
          </a:xfrm>
          <a:prstGeom prst="rect">
            <a:avLst/>
          </a:prstGeom>
          <a:solidFill>
            <a:srgbClr val="0B1E3D"/>
          </a:solidFill>
          <a:ln/>
        </p:spPr>
      </p:sp>
      <p:sp>
        <p:nvSpPr>
          <p:cNvPr id="22" name="Txt"/>
          <p:cNvSpPr/>
          <p:nvPr/>
        </p:nvSpPr>
        <p:spPr>
          <a:xfrm>
            <a:off x="380000" y="1870000"/>
            <a:ext cx="4000000" cy="25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ko-KR" sz="1150" b="1" dirty="0">
                <a:solidFill>
                  <a:srgbClr val="0D1B3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기대 효과</a:t>
            </a:r>
          </a:p>
        </p:txBody>
      </p:sp>
      <p:sp>
        <p:nvSpPr>
          <p:cNvPr id="23" name="Card"/>
          <p:cNvSpPr/>
          <p:nvPr/>
        </p:nvSpPr>
        <p:spPr>
          <a:xfrm>
            <a:off x="274320" y="2200000"/>
            <a:ext cx="2028840" cy="223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</p:sp>
      <p:sp>
        <p:nvSpPr>
          <p:cNvPr id="24" name="CardTop"/>
          <p:cNvSpPr/>
          <p:nvPr/>
        </p:nvSpPr>
        <p:spPr>
          <a:xfrm>
            <a:off x="274320" y="2200000"/>
            <a:ext cx="2028840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5" name="Txt"/>
          <p:cNvSpPr/>
          <p:nvPr/>
        </p:nvSpPr>
        <p:spPr>
          <a:xfrm>
            <a:off x="274320" y="2350000"/>
            <a:ext cx="2028840" cy="5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ko-KR" sz="2600" dirty="0">
                <a:solidFill>
                  <a:srgbClr val="0D1B3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🛡️</a:t>
            </a:r>
          </a:p>
        </p:txBody>
      </p:sp>
      <p:sp>
        <p:nvSpPr>
          <p:cNvPr id="26" name="Txt"/>
          <p:cNvSpPr/>
          <p:nvPr/>
        </p:nvSpPr>
        <p:spPr>
          <a:xfrm>
            <a:off x="274320" y="3020000"/>
            <a:ext cx="2028840" cy="3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사전 차단</a:t>
            </a:r>
          </a:p>
        </p:txBody>
      </p:sp>
      <p:sp>
        <p:nvSpPr>
          <p:cNvPr id="27" name="Txt"/>
          <p:cNvSpPr/>
          <p:nvPr/>
        </p:nvSpPr>
        <p:spPr>
          <a:xfrm>
            <a:off x="384320" y="3380000"/>
            <a:ext cx="1808840" cy="95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35000"/>
              </a:lnSpc>
              <a:buNone/>
            </a:pPr>
            <a:r>
              <a:rPr lang="ko-KR" sz="9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내부자 오남용을 행위 단계에서 실시간 탐지·차단 (사후 적발 → 사전 예방)</a:t>
            </a:r>
          </a:p>
        </p:txBody>
      </p:sp>
      <p:sp>
        <p:nvSpPr>
          <p:cNvPr id="28" name="Card"/>
          <p:cNvSpPr/>
          <p:nvPr/>
        </p:nvSpPr>
        <p:spPr>
          <a:xfrm>
            <a:off x="2463160" y="2200000"/>
            <a:ext cx="2028840" cy="223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</p:sp>
      <p:sp>
        <p:nvSpPr>
          <p:cNvPr id="29" name="CardTop"/>
          <p:cNvSpPr/>
          <p:nvPr/>
        </p:nvSpPr>
        <p:spPr>
          <a:xfrm>
            <a:off x="2463160" y="2200000"/>
            <a:ext cx="2028840" cy="7315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0" name="Txt"/>
          <p:cNvSpPr/>
          <p:nvPr/>
        </p:nvSpPr>
        <p:spPr>
          <a:xfrm>
            <a:off x="2463160" y="2350000"/>
            <a:ext cx="2028840" cy="5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ko-KR" sz="2600" dirty="0">
                <a:solidFill>
                  <a:srgbClr val="0D1B3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🎚️</a:t>
            </a:r>
          </a:p>
        </p:txBody>
      </p:sp>
      <p:sp>
        <p:nvSpPr>
          <p:cNvPr id="31" name="Txt"/>
          <p:cNvSpPr/>
          <p:nvPr/>
        </p:nvSpPr>
        <p:spPr>
          <a:xfrm>
            <a:off x="2463160" y="3020000"/>
            <a:ext cx="2028840" cy="3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16A3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최소 노출</a:t>
            </a:r>
          </a:p>
        </p:txBody>
      </p:sp>
      <p:sp>
        <p:nvSpPr>
          <p:cNvPr id="32" name="Txt"/>
          <p:cNvSpPr/>
          <p:nvPr/>
        </p:nvSpPr>
        <p:spPr>
          <a:xfrm>
            <a:off x="2573160" y="3380000"/>
            <a:ext cx="1808840" cy="95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35000"/>
              </a:lnSpc>
              <a:buNone/>
            </a:pPr>
            <a:r>
              <a:rPr lang="ko-KR" sz="9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위험도 기반 5단계 접근과 마스킹 5레벨로 정보 노출 범위 최소화</a:t>
            </a:r>
          </a:p>
        </p:txBody>
      </p:sp>
      <p:sp>
        <p:nvSpPr>
          <p:cNvPr id="33" name="Card"/>
          <p:cNvSpPr/>
          <p:nvPr/>
        </p:nvSpPr>
        <p:spPr>
          <a:xfrm>
            <a:off x="4652000" y="2200000"/>
            <a:ext cx="2028840" cy="223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</p:sp>
      <p:sp>
        <p:nvSpPr>
          <p:cNvPr id="34" name="CardTop"/>
          <p:cNvSpPr/>
          <p:nvPr/>
        </p:nvSpPr>
        <p:spPr>
          <a:xfrm>
            <a:off x="4652000" y="2200000"/>
            <a:ext cx="2028840" cy="7315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5" name="Txt"/>
          <p:cNvSpPr/>
          <p:nvPr/>
        </p:nvSpPr>
        <p:spPr>
          <a:xfrm>
            <a:off x="4652000" y="2350000"/>
            <a:ext cx="2028840" cy="5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ko-KR" sz="2600" dirty="0">
                <a:solidFill>
                  <a:srgbClr val="0D1B3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🔄</a:t>
            </a:r>
          </a:p>
        </p:txBody>
      </p:sp>
      <p:sp>
        <p:nvSpPr>
          <p:cNvPr id="36" name="Txt"/>
          <p:cNvSpPr/>
          <p:nvPr/>
        </p:nvSpPr>
        <p:spPr>
          <a:xfrm>
            <a:off x="4652000" y="3020000"/>
            <a:ext cx="2028840" cy="3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D9770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지속 검증</a:t>
            </a:r>
          </a:p>
        </p:txBody>
      </p:sp>
      <p:sp>
        <p:nvSpPr>
          <p:cNvPr id="37" name="Txt"/>
          <p:cNvSpPr/>
          <p:nvPr/>
        </p:nvSpPr>
        <p:spPr>
          <a:xfrm>
            <a:off x="4762000" y="3380000"/>
            <a:ext cx="1808840" cy="95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35000"/>
              </a:lnSpc>
              <a:buNone/>
            </a:pPr>
            <a:r>
              <a:rPr lang="ko-KR" sz="9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로그인 이후에도 세션 전반을 동적으로 재평가·재인증</a:t>
            </a:r>
          </a:p>
        </p:txBody>
      </p:sp>
      <p:sp>
        <p:nvSpPr>
          <p:cNvPr id="38" name="Card"/>
          <p:cNvSpPr/>
          <p:nvPr/>
        </p:nvSpPr>
        <p:spPr>
          <a:xfrm>
            <a:off x="6840840" y="2200000"/>
            <a:ext cx="2028840" cy="223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</p:sp>
      <p:sp>
        <p:nvSpPr>
          <p:cNvPr id="39" name="CardTop"/>
          <p:cNvSpPr/>
          <p:nvPr/>
        </p:nvSpPr>
        <p:spPr>
          <a:xfrm>
            <a:off x="6840840" y="2200000"/>
            <a:ext cx="2028840" cy="7315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0" name="Txt"/>
          <p:cNvSpPr/>
          <p:nvPr/>
        </p:nvSpPr>
        <p:spPr>
          <a:xfrm>
            <a:off x="6840840" y="2350000"/>
            <a:ext cx="2028840" cy="5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ko-KR" sz="2600" dirty="0">
                <a:solidFill>
                  <a:srgbClr val="0D1B3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📋</a:t>
            </a:r>
          </a:p>
        </p:txBody>
      </p:sp>
      <p:sp>
        <p:nvSpPr>
          <p:cNvPr id="41" name="Txt"/>
          <p:cNvSpPr/>
          <p:nvPr/>
        </p:nvSpPr>
        <p:spPr>
          <a:xfrm>
            <a:off x="6840840" y="3020000"/>
            <a:ext cx="2028840" cy="3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ko-KR" sz="1300" b="1" dirty="0">
                <a:solidFill>
                  <a:srgbClr val="7C3AE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완전 감사</a:t>
            </a:r>
          </a:p>
        </p:txBody>
      </p:sp>
      <p:sp>
        <p:nvSpPr>
          <p:cNvPr id="42" name="Txt"/>
          <p:cNvSpPr/>
          <p:nvPr/>
        </p:nvSpPr>
        <p:spPr>
          <a:xfrm>
            <a:off x="6950840" y="3380000"/>
            <a:ext cx="1808840" cy="95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35000"/>
              </a:lnSpc>
              <a:buNone/>
            </a:pPr>
            <a:r>
              <a:rPr lang="ko-KR" sz="95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3계층 append-only 로그로 모든 접근을 추적·무결성 보장</a:t>
            </a:r>
          </a:p>
        </p:txBody>
      </p:sp>
      <p:sp>
        <p:nvSpPr>
          <p:cNvPr id="43" name="Card"/>
          <p:cNvSpPr/>
          <p:nvPr/>
        </p:nvSpPr>
        <p:spPr>
          <a:xfrm>
            <a:off x="274320" y="4560000"/>
            <a:ext cx="8595360" cy="440000"/>
          </a:xfrm>
          <a:prstGeom prst="roundRect">
            <a:avLst/>
          </a:prstGeom>
          <a:solidFill>
            <a:srgbClr val="0B1E3D"/>
          </a:solidFill>
          <a:ln w="12700">
            <a:solidFill>
              <a:srgbClr val="0B1E3D"/>
            </a:solidFill>
          </a:ln>
        </p:spPr>
      </p:sp>
      <p:sp>
        <p:nvSpPr>
          <p:cNvPr id="44" name="Txt"/>
          <p:cNvSpPr/>
          <p:nvPr/>
        </p:nvSpPr>
        <p:spPr>
          <a:xfrm>
            <a:off x="440000" y="4560000"/>
            <a:ext cx="8300000" cy="44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ko-KR" sz="1100" b="1" dirty="0">
                <a:solidFill>
                  <a:srgbClr val="3B9FE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결론   </a:t>
            </a:r>
            <a:r>
              <a:rPr lang="ko-KR" sz="105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“신뢰하지 않고, 항상 검증한다(Never Trust, Always Verify)” — 사후 적발 의존 구조를 행위 기반 실시간 통제로 전환한다.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mo">
    <p:bg>
      <p:bgPr>
        <a:solidFill>
          <a:srgbClr val="F0F4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3B9FE8"/>
          </a:solidFill>
          <a:ln/>
        </p:spPr>
      </p:sp>
      <p:sp>
        <p:nvSpPr>
          <p:cNvPr id="12" name="S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0B1E3D"/>
          </a:solidFill>
          <a:ln/>
        </p:spPr>
      </p:sp>
      <p:sp>
        <p:nvSpPr>
          <p:cNvPr id="13" name="T"/>
          <p:cNvSpPr/>
          <p:nvPr/>
        </p:nvSpPr>
        <p:spPr>
          <a:xfrm>
            <a:off x="274320" y="64008"/>
            <a:ext cx="8595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spcBef>
                <a:spcPts val="200"/>
              </a:spcBef>
              <a:buNone/>
            </a:pPr>
            <a:r>
              <a:rPr lang="ko-KR" sz="17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08   시연 ①   ·   비담당 사건 정보 유출</a:t>
            </a:r>
          </a:p>
        </p:txBody>
      </p:sp>
      <p:sp>
        <p:nvSpPr>
          <p:cNvPr id="14" name="S"/>
          <p:cNvSpPr/>
          <p:nvPr/>
        </p:nvSpPr>
        <p:spPr>
          <a:xfrm>
            <a:off x="274320" y="530352"/>
            <a:ext cx="310896" cy="201168"/>
          </a:xfrm>
          <a:prstGeom prst="rect">
            <a:avLst/>
          </a:prstGeom>
          <a:solidFill>
            <a:srgbClr val="1E5FA8"/>
          </a:solidFill>
          <a:ln/>
        </p:spPr>
      </p:sp>
      <p:sp>
        <p:nvSpPr>
          <p:cNvPr id="15" name="T"/>
          <p:cNvSpPr/>
          <p:nvPr/>
        </p:nvSpPr>
        <p:spPr>
          <a:xfrm>
            <a:off x="274320" y="524000"/>
            <a:ext cx="310896" cy="21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spcBef>
                <a:spcPts val="200"/>
              </a:spcBef>
              <a:buNone/>
            </a:pPr>
            <a:r>
              <a:rPr lang="ko-KR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▶</a:t>
            </a:r>
          </a:p>
        </p:txBody>
      </p:sp>
      <p:sp>
        <p:nvSpPr>
          <p:cNvPr id="16" name="T"/>
          <p:cNvSpPr/>
          <p:nvPr/>
        </p:nvSpPr>
        <p:spPr>
          <a:xfrm>
            <a:off x="658368" y="539496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spcBef>
                <a:spcPts val="200"/>
              </a:spcBef>
              <a:buNone/>
            </a:pPr>
            <a:r>
              <a:rPr lang="ko-KR" sz="105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실제 사건과 매핑 — 시연으로 시스템의 실시간 대응을 확인</a:t>
            </a:r>
          </a:p>
        </p:txBody>
      </p:sp>
      <p:sp>
        <p:nvSpPr>
          <p:cNvPr id="17" name="S"/>
          <p:cNvSpPr/>
          <p:nvPr/>
        </p:nvSpPr>
        <p:spPr>
          <a:xfrm>
            <a:off x="274320" y="920000"/>
            <a:ext cx="3265680" cy="406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</p:sp>
      <p:sp>
        <p:nvSpPr>
          <p:cNvPr id="18" name="S"/>
          <p:cNvSpPr/>
          <p:nvPr/>
        </p:nvSpPr>
        <p:spPr>
          <a:xfrm>
            <a:off x="274320" y="920000"/>
            <a:ext cx="3265680" cy="7315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9" name="T"/>
          <p:cNvSpPr/>
          <p:nvPr/>
        </p:nvSpPr>
        <p:spPr>
          <a:xfrm>
            <a:off x="274320" y="1040000"/>
            <a:ext cx="3265680" cy="2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spcBef>
                <a:spcPts val="200"/>
              </a:spcBef>
              <a:buNone/>
            </a:pPr>
            <a:r>
              <a:rPr lang="ko-KR" sz="1150" b="1" dirty="0">
                <a:solidFill>
                  <a:srgbClr val="DC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실제 사건</a:t>
            </a:r>
          </a:p>
        </p:txBody>
      </p:sp>
      <p:sp>
        <p:nvSpPr>
          <p:cNvPr id="20" name="T"/>
          <p:cNvSpPr/>
          <p:nvPr/>
        </p:nvSpPr>
        <p:spPr>
          <a:xfrm>
            <a:off x="274320" y="1350000"/>
            <a:ext cx="3265680" cy="6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spcBef>
                <a:spcPts val="200"/>
              </a:spcBef>
              <a:buNone/>
            </a:pPr>
            <a:r>
              <a:rPr lang="ko-KR" sz="2600" dirty="0">
                <a:solidFill>
                  <a:srgbClr val="0D1B3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⚖️</a:t>
            </a:r>
          </a:p>
        </p:txBody>
      </p:sp>
      <p:sp>
        <p:nvSpPr>
          <p:cNvPr id="21" name="T"/>
          <p:cNvSpPr/>
          <p:nvPr/>
        </p:nvSpPr>
        <p:spPr>
          <a:xfrm>
            <a:off x="454320" y="2040000"/>
            <a:ext cx="2905680" cy="5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spcBef>
                <a:spcPts val="200"/>
              </a:spcBef>
              <a:buNone/>
            </a:pPr>
            <a:r>
              <a:rPr lang="ko-KR" sz="1300" b="1" dirty="0">
                <a:solidFill>
                  <a:srgbClr val="0D1B3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도피</a:t>
            </a:r>
            <a:r>
              <a:rPr lang="ko-KR" altLang="en-US" sz="1300" b="1" dirty="0">
                <a:solidFill>
                  <a:srgbClr val="0D1B3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중인</a:t>
            </a:r>
            <a:r>
              <a:rPr lang="ko-KR" sz="1300" b="1" dirty="0">
                <a:solidFill>
                  <a:srgbClr val="0D1B3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친구에게 수사정보 전달</a:t>
            </a:r>
          </a:p>
        </p:txBody>
      </p:sp>
      <p:sp>
        <p:nvSpPr>
          <p:cNvPr id="22" name="T"/>
          <p:cNvSpPr/>
          <p:nvPr/>
        </p:nvSpPr>
        <p:spPr>
          <a:xfrm>
            <a:off x="454320" y="2680000"/>
            <a:ext cx="2905680" cy="11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30000"/>
              </a:lnSpc>
              <a:spcBef>
                <a:spcPts val="200"/>
              </a:spcBef>
              <a:buNone/>
            </a:pPr>
            <a:r>
              <a:rPr lang="ko-KR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피의자 신분 친구에게 수사 내용 전달</a:t>
            </a:r>
          </a:p>
          <a:p>
            <a:pPr marL="0" indent="0" algn="ctr">
              <a:lnSpc>
                <a:spcPct val="130000"/>
              </a:lnSpc>
              <a:spcBef>
                <a:spcPts val="200"/>
              </a:spcBef>
              <a:buNone/>
            </a:pPr>
            <a:r>
              <a:rPr lang="ko-KR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수배 여부까지 임의로 조회</a:t>
            </a:r>
          </a:p>
          <a:p>
            <a:pPr marL="0" indent="0" algn="ctr">
              <a:lnSpc>
                <a:spcPct val="130000"/>
              </a:lnSpc>
              <a:spcBef>
                <a:spcPts val="200"/>
              </a:spcBef>
              <a:buNone/>
            </a:pPr>
            <a:r>
              <a:rPr lang="ko-KR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금전 아닌 개인적 친분에 의한 유출</a:t>
            </a:r>
          </a:p>
        </p:txBody>
      </p:sp>
      <p:sp>
        <p:nvSpPr>
          <p:cNvPr id="23" name="S"/>
          <p:cNvSpPr/>
          <p:nvPr/>
        </p:nvSpPr>
        <p:spPr>
          <a:xfrm>
            <a:off x="534320" y="4440000"/>
            <a:ext cx="2745680" cy="360000"/>
          </a:xfrm>
          <a:prstGeom prst="roundRect">
            <a:avLst/>
          </a:prstGeom>
          <a:solidFill>
            <a:srgbClr val="FEF2F2"/>
          </a:solidFill>
          <a:ln w="9525">
            <a:solidFill>
              <a:srgbClr val="FECACA"/>
            </a:solidFill>
          </a:ln>
        </p:spPr>
      </p:sp>
      <p:sp>
        <p:nvSpPr>
          <p:cNvPr id="24" name="T"/>
          <p:cNvSpPr/>
          <p:nvPr/>
        </p:nvSpPr>
        <p:spPr>
          <a:xfrm>
            <a:off x="534320" y="4440000"/>
            <a:ext cx="2745680" cy="3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spcBef>
                <a:spcPts val="200"/>
              </a:spcBef>
              <a:buNone/>
            </a:pPr>
            <a:r>
              <a:rPr lang="ko-KR" sz="870" b="1" dirty="0">
                <a:solidFill>
                  <a:srgbClr val="B9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2026년 4월 보도 · 항소심 실형 선고</a:t>
            </a:r>
          </a:p>
        </p:txBody>
      </p:sp>
      <p:sp>
        <p:nvSpPr>
          <p:cNvPr id="25" name="S"/>
          <p:cNvSpPr/>
          <p:nvPr/>
        </p:nvSpPr>
        <p:spPr>
          <a:xfrm>
            <a:off x="3680000" y="920000"/>
            <a:ext cx="5189680" cy="194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</p:sp>
      <p:sp>
        <p:nvSpPr>
          <p:cNvPr id="26" name="S"/>
          <p:cNvSpPr/>
          <p:nvPr/>
        </p:nvSpPr>
        <p:spPr>
          <a:xfrm>
            <a:off x="3680000" y="920000"/>
            <a:ext cx="5189680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7" name="T"/>
          <p:cNvSpPr/>
          <p:nvPr/>
        </p:nvSpPr>
        <p:spPr>
          <a:xfrm>
            <a:off x="3880000" y="1025000"/>
            <a:ext cx="4789680" cy="2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spcBef>
                <a:spcPts val="200"/>
              </a:spcBef>
              <a:buNone/>
            </a:pPr>
            <a:r>
              <a:rPr lang="ko-KR" sz="115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시연 시나리오</a:t>
            </a:r>
            <a:r>
              <a:rPr lang="ko-KR" sz="9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   이렇게 재현합니다</a:t>
            </a:r>
          </a:p>
        </p:txBody>
      </p:sp>
      <p:sp>
        <p:nvSpPr>
          <p:cNvPr id="28" name="S"/>
          <p:cNvSpPr/>
          <p:nvPr/>
        </p:nvSpPr>
        <p:spPr>
          <a:xfrm>
            <a:off x="3880000" y="1390000"/>
            <a:ext cx="300000" cy="3000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9" name="T"/>
          <p:cNvSpPr/>
          <p:nvPr/>
        </p:nvSpPr>
        <p:spPr>
          <a:xfrm>
            <a:off x="3880000" y="1378000"/>
            <a:ext cx="300000" cy="3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spcBef>
                <a:spcPts val="200"/>
              </a:spcBef>
              <a:buNone/>
            </a:pPr>
            <a:r>
              <a:rPr lang="ko-KR" sz="10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</a:p>
        </p:txBody>
      </p:sp>
      <p:sp>
        <p:nvSpPr>
          <p:cNvPr id="30" name="T"/>
          <p:cNvSpPr/>
          <p:nvPr/>
        </p:nvSpPr>
        <p:spPr>
          <a:xfrm>
            <a:off x="4280000" y="1360000"/>
            <a:ext cx="4350000" cy="3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5000"/>
              </a:lnSpc>
              <a:spcBef>
                <a:spcPts val="200"/>
              </a:spcBef>
              <a:buNone/>
            </a:pPr>
            <a:r>
              <a:rPr lang="ko-KR" sz="10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의심 계정(patrol_jung) 로그인 → 승인 게이트</a:t>
            </a:r>
          </a:p>
        </p:txBody>
      </p:sp>
      <p:sp>
        <p:nvSpPr>
          <p:cNvPr id="31" name="S"/>
          <p:cNvSpPr/>
          <p:nvPr/>
        </p:nvSpPr>
        <p:spPr>
          <a:xfrm>
            <a:off x="3880000" y="1850000"/>
            <a:ext cx="300000" cy="3000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2" name="T"/>
          <p:cNvSpPr/>
          <p:nvPr/>
        </p:nvSpPr>
        <p:spPr>
          <a:xfrm>
            <a:off x="3880000" y="1838000"/>
            <a:ext cx="300000" cy="3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spcBef>
                <a:spcPts val="200"/>
              </a:spcBef>
              <a:buNone/>
            </a:pPr>
            <a:r>
              <a:rPr lang="ko-KR" sz="10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</a:p>
        </p:txBody>
      </p:sp>
      <p:sp>
        <p:nvSpPr>
          <p:cNvPr id="33" name="T"/>
          <p:cNvSpPr/>
          <p:nvPr/>
        </p:nvSpPr>
        <p:spPr>
          <a:xfrm>
            <a:off x="4280000" y="1820000"/>
            <a:ext cx="4350000" cy="3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5000"/>
              </a:lnSpc>
              <a:spcBef>
                <a:spcPts val="200"/>
              </a:spcBef>
              <a:buNone/>
            </a:pPr>
            <a:r>
              <a:rPr lang="ko-KR" sz="10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정상 순찰 자료(2026-PTR-0001)는 허용</a:t>
            </a:r>
          </a:p>
        </p:txBody>
      </p:sp>
      <p:sp>
        <p:nvSpPr>
          <p:cNvPr id="34" name="S"/>
          <p:cNvSpPr/>
          <p:nvPr/>
        </p:nvSpPr>
        <p:spPr>
          <a:xfrm>
            <a:off x="3880000" y="2310000"/>
            <a:ext cx="300000" cy="3000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5" name="T"/>
          <p:cNvSpPr/>
          <p:nvPr/>
        </p:nvSpPr>
        <p:spPr>
          <a:xfrm>
            <a:off x="3880000" y="2298000"/>
            <a:ext cx="300000" cy="3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spcBef>
                <a:spcPts val="200"/>
              </a:spcBef>
              <a:buNone/>
            </a:pPr>
            <a:r>
              <a:rPr lang="ko-KR" sz="10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</a:p>
        </p:txBody>
      </p:sp>
      <p:sp>
        <p:nvSpPr>
          <p:cNvPr id="36" name="T"/>
          <p:cNvSpPr/>
          <p:nvPr/>
        </p:nvSpPr>
        <p:spPr>
          <a:xfrm>
            <a:off x="4280000" y="2280000"/>
            <a:ext cx="4350000" cy="3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5000"/>
              </a:lnSpc>
              <a:spcBef>
                <a:spcPts val="200"/>
              </a:spcBef>
              <a:buNone/>
            </a:pPr>
            <a:r>
              <a:rPr lang="ko-KR" sz="10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비담당 피해자 진술서·수배 자료 조회 시도</a:t>
            </a:r>
          </a:p>
        </p:txBody>
      </p:sp>
      <p:sp>
        <p:nvSpPr>
          <p:cNvPr id="37" name="S"/>
          <p:cNvSpPr/>
          <p:nvPr/>
        </p:nvSpPr>
        <p:spPr>
          <a:xfrm>
            <a:off x="3680000" y="3060000"/>
            <a:ext cx="5189680" cy="192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</p:sp>
      <p:sp>
        <p:nvSpPr>
          <p:cNvPr id="38" name="S"/>
          <p:cNvSpPr/>
          <p:nvPr/>
        </p:nvSpPr>
        <p:spPr>
          <a:xfrm>
            <a:off x="3680000" y="3060000"/>
            <a:ext cx="5189680" cy="7315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9" name="T"/>
          <p:cNvSpPr/>
          <p:nvPr/>
        </p:nvSpPr>
        <p:spPr>
          <a:xfrm>
            <a:off x="3880000" y="3165000"/>
            <a:ext cx="4789680" cy="2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spcBef>
                <a:spcPts val="200"/>
              </a:spcBef>
              <a:buNone/>
            </a:pPr>
            <a:r>
              <a:rPr lang="ko-KR" sz="1150" b="1" dirty="0">
                <a:solidFill>
                  <a:srgbClr val="16A3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시스템 대응</a:t>
            </a:r>
            <a:r>
              <a:rPr lang="ko-KR" sz="9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   남용 가능 접근을 통제</a:t>
            </a:r>
          </a:p>
        </p:txBody>
      </p:sp>
      <p:sp>
        <p:nvSpPr>
          <p:cNvPr id="40" name="T"/>
          <p:cNvSpPr/>
          <p:nvPr/>
        </p:nvSpPr>
        <p:spPr>
          <a:xfrm>
            <a:off x="3880000" y="3500000"/>
            <a:ext cx="300000" cy="34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spcBef>
                <a:spcPts val="200"/>
              </a:spcBef>
              <a:buNone/>
            </a:pPr>
            <a:r>
              <a:rPr lang="ko-KR" sz="1100" b="1" dirty="0">
                <a:solidFill>
                  <a:srgbClr val="16A3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✓</a:t>
            </a:r>
          </a:p>
        </p:txBody>
      </p:sp>
      <p:sp>
        <p:nvSpPr>
          <p:cNvPr id="41" name="T"/>
          <p:cNvSpPr/>
          <p:nvPr/>
        </p:nvSpPr>
        <p:spPr>
          <a:xfrm>
            <a:off x="4210000" y="3500000"/>
            <a:ext cx="4400000" cy="3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5000"/>
              </a:lnSpc>
              <a:spcBef>
                <a:spcPts val="200"/>
              </a:spcBef>
              <a:buNone/>
            </a:pPr>
            <a:r>
              <a:rPr lang="ko-KR" sz="10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낮은 신뢰도·위반 이력 → 로그인 단계부터 통제</a:t>
            </a:r>
          </a:p>
        </p:txBody>
      </p:sp>
      <p:sp>
        <p:nvSpPr>
          <p:cNvPr id="42" name="T"/>
          <p:cNvSpPr/>
          <p:nvPr/>
        </p:nvSpPr>
        <p:spPr>
          <a:xfrm>
            <a:off x="3880000" y="3840000"/>
            <a:ext cx="300000" cy="34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spcBef>
                <a:spcPts val="200"/>
              </a:spcBef>
              <a:buNone/>
            </a:pPr>
            <a:r>
              <a:rPr lang="ko-KR" sz="1100" b="1" dirty="0">
                <a:solidFill>
                  <a:srgbClr val="16A3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✓</a:t>
            </a:r>
          </a:p>
        </p:txBody>
      </p:sp>
      <p:sp>
        <p:nvSpPr>
          <p:cNvPr id="43" name="T"/>
          <p:cNvSpPr/>
          <p:nvPr/>
        </p:nvSpPr>
        <p:spPr>
          <a:xfrm>
            <a:off x="4210000" y="3840000"/>
            <a:ext cx="4400000" cy="3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5000"/>
              </a:lnSpc>
              <a:spcBef>
                <a:spcPts val="200"/>
              </a:spcBef>
              <a:buNone/>
            </a:pPr>
            <a:r>
              <a:rPr lang="ko-KR" sz="10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개인정보·비담당 자료 → 마스킹·워터마크</a:t>
            </a:r>
          </a:p>
        </p:txBody>
      </p:sp>
      <p:sp>
        <p:nvSpPr>
          <p:cNvPr id="44" name="T"/>
          <p:cNvSpPr/>
          <p:nvPr/>
        </p:nvSpPr>
        <p:spPr>
          <a:xfrm>
            <a:off x="3880000" y="4180000"/>
            <a:ext cx="300000" cy="34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spcBef>
                <a:spcPts val="200"/>
              </a:spcBef>
              <a:buNone/>
            </a:pPr>
            <a:r>
              <a:rPr lang="ko-KR" sz="1100" b="1" dirty="0">
                <a:solidFill>
                  <a:srgbClr val="16A3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✓</a:t>
            </a:r>
          </a:p>
        </p:txBody>
      </p:sp>
      <p:sp>
        <p:nvSpPr>
          <p:cNvPr id="45" name="T"/>
          <p:cNvSpPr/>
          <p:nvPr/>
        </p:nvSpPr>
        <p:spPr>
          <a:xfrm>
            <a:off x="4210000" y="4180000"/>
            <a:ext cx="4400000" cy="3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5000"/>
              </a:lnSpc>
              <a:spcBef>
                <a:spcPts val="200"/>
              </a:spcBef>
              <a:buNone/>
            </a:pPr>
            <a:r>
              <a:rPr lang="ko-KR" sz="10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다운로드 차단 또는 재인증 요구</a:t>
            </a:r>
          </a:p>
        </p:txBody>
      </p:sp>
      <p:sp>
        <p:nvSpPr>
          <p:cNvPr id="46" name="T"/>
          <p:cNvSpPr/>
          <p:nvPr/>
        </p:nvSpPr>
        <p:spPr>
          <a:xfrm>
            <a:off x="3880000" y="4520000"/>
            <a:ext cx="300000" cy="34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spcBef>
                <a:spcPts val="200"/>
              </a:spcBef>
              <a:buNone/>
            </a:pPr>
            <a:r>
              <a:rPr lang="ko-KR" sz="1100" b="1" dirty="0">
                <a:solidFill>
                  <a:srgbClr val="16A3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✓</a:t>
            </a:r>
          </a:p>
        </p:txBody>
      </p:sp>
      <p:sp>
        <p:nvSpPr>
          <p:cNvPr id="47" name="T"/>
          <p:cNvSpPr/>
          <p:nvPr/>
        </p:nvSpPr>
        <p:spPr>
          <a:xfrm>
            <a:off x="4210000" y="4520000"/>
            <a:ext cx="4400000" cy="3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5000"/>
              </a:lnSpc>
              <a:spcBef>
                <a:spcPts val="200"/>
              </a:spcBef>
              <a:buNone/>
            </a:pPr>
            <a:r>
              <a:rPr lang="ko-KR" sz="10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반복 조회 누적 → 사후 검토·신뢰도 하락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mo">
    <p:bg>
      <p:bgPr>
        <a:solidFill>
          <a:srgbClr val="F0F4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3B9FE8"/>
          </a:solidFill>
          <a:ln/>
        </p:spPr>
      </p:sp>
      <p:sp>
        <p:nvSpPr>
          <p:cNvPr id="12" name="S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0B1E3D"/>
          </a:solidFill>
          <a:ln/>
        </p:spPr>
      </p:sp>
      <p:sp>
        <p:nvSpPr>
          <p:cNvPr id="13" name="T"/>
          <p:cNvSpPr/>
          <p:nvPr/>
        </p:nvSpPr>
        <p:spPr>
          <a:xfrm>
            <a:off x="274320" y="64008"/>
            <a:ext cx="8595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spcBef>
                <a:spcPts val="200"/>
              </a:spcBef>
              <a:buNone/>
            </a:pPr>
            <a:r>
              <a:rPr lang="ko-KR" sz="17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08   시연 ②   ·   비허용 위치 접근</a:t>
            </a:r>
          </a:p>
        </p:txBody>
      </p:sp>
      <p:sp>
        <p:nvSpPr>
          <p:cNvPr id="14" name="S"/>
          <p:cNvSpPr/>
          <p:nvPr/>
        </p:nvSpPr>
        <p:spPr>
          <a:xfrm>
            <a:off x="274320" y="530352"/>
            <a:ext cx="310896" cy="201168"/>
          </a:xfrm>
          <a:prstGeom prst="rect">
            <a:avLst/>
          </a:prstGeom>
          <a:solidFill>
            <a:srgbClr val="1E5FA8"/>
          </a:solidFill>
          <a:ln/>
        </p:spPr>
      </p:sp>
      <p:sp>
        <p:nvSpPr>
          <p:cNvPr id="15" name="T"/>
          <p:cNvSpPr/>
          <p:nvPr/>
        </p:nvSpPr>
        <p:spPr>
          <a:xfrm>
            <a:off x="274320" y="524000"/>
            <a:ext cx="310896" cy="21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spcBef>
                <a:spcPts val="200"/>
              </a:spcBef>
              <a:buNone/>
            </a:pPr>
            <a:r>
              <a:rPr lang="ko-KR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▶</a:t>
            </a:r>
          </a:p>
        </p:txBody>
      </p:sp>
      <p:sp>
        <p:nvSpPr>
          <p:cNvPr id="16" name="T"/>
          <p:cNvSpPr/>
          <p:nvPr/>
        </p:nvSpPr>
        <p:spPr>
          <a:xfrm>
            <a:off x="658368" y="539496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spcBef>
                <a:spcPts val="200"/>
              </a:spcBef>
              <a:buNone/>
            </a:pPr>
            <a:r>
              <a:rPr lang="ko-KR" sz="105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실제 사건과 매핑 — 시연으로 시스템의 실시간 대응을 확인</a:t>
            </a:r>
          </a:p>
        </p:txBody>
      </p:sp>
      <p:sp>
        <p:nvSpPr>
          <p:cNvPr id="17" name="S"/>
          <p:cNvSpPr/>
          <p:nvPr/>
        </p:nvSpPr>
        <p:spPr>
          <a:xfrm>
            <a:off x="274320" y="920000"/>
            <a:ext cx="3265680" cy="406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</p:sp>
      <p:sp>
        <p:nvSpPr>
          <p:cNvPr id="18" name="S"/>
          <p:cNvSpPr/>
          <p:nvPr/>
        </p:nvSpPr>
        <p:spPr>
          <a:xfrm>
            <a:off x="274320" y="920000"/>
            <a:ext cx="3265680" cy="7315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9" name="T"/>
          <p:cNvSpPr/>
          <p:nvPr/>
        </p:nvSpPr>
        <p:spPr>
          <a:xfrm>
            <a:off x="274320" y="1040000"/>
            <a:ext cx="3265680" cy="2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spcBef>
                <a:spcPts val="200"/>
              </a:spcBef>
              <a:buNone/>
            </a:pPr>
            <a:r>
              <a:rPr lang="ko-KR" sz="1150" b="1" dirty="0">
                <a:solidFill>
                  <a:srgbClr val="DC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실제 사건</a:t>
            </a:r>
          </a:p>
        </p:txBody>
      </p:sp>
      <p:sp>
        <p:nvSpPr>
          <p:cNvPr id="21" name="T"/>
          <p:cNvSpPr/>
          <p:nvPr/>
        </p:nvSpPr>
        <p:spPr>
          <a:xfrm>
            <a:off x="454320" y="2040000"/>
            <a:ext cx="2905680" cy="5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spcBef>
                <a:spcPts val="200"/>
              </a:spcBef>
              <a:buNone/>
            </a:pPr>
            <a:r>
              <a:rPr lang="ko-KR" sz="1300" b="1" dirty="0">
                <a:solidFill>
                  <a:srgbClr val="0D1B3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근무 관할(위치) 밖 무단 조회</a:t>
            </a:r>
          </a:p>
        </p:txBody>
      </p:sp>
      <p:sp>
        <p:nvSpPr>
          <p:cNvPr id="22" name="T"/>
          <p:cNvSpPr/>
          <p:nvPr/>
        </p:nvSpPr>
        <p:spPr>
          <a:xfrm>
            <a:off x="454320" y="2680000"/>
            <a:ext cx="2905680" cy="11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30000"/>
              </a:lnSpc>
              <a:spcBef>
                <a:spcPts val="200"/>
              </a:spcBef>
              <a:buNone/>
            </a:pPr>
            <a:r>
              <a:rPr lang="ko-KR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친구 부탁으로 타 관할 피의자 수배·체포 정보 조회</a:t>
            </a:r>
          </a:p>
          <a:p>
            <a:pPr marL="0" indent="0" algn="ctr">
              <a:lnSpc>
                <a:spcPct val="130000"/>
              </a:lnSpc>
              <a:spcBef>
                <a:spcPts val="200"/>
              </a:spcBef>
              <a:buNone/>
            </a:pPr>
            <a:r>
              <a:rPr lang="ko-KR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KICS에 '관할관서: 전체' 입력 — 권한 위치 범위 초과</a:t>
            </a:r>
          </a:p>
          <a:p>
            <a:pPr marL="0" indent="0" algn="ctr">
              <a:lnSpc>
                <a:spcPct val="130000"/>
              </a:lnSpc>
              <a:spcBef>
                <a:spcPts val="200"/>
              </a:spcBef>
              <a:buNone/>
            </a:pPr>
            <a:r>
              <a:rPr lang="ko-KR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확인한 수사정보를 외부에 누설</a:t>
            </a:r>
          </a:p>
        </p:txBody>
      </p:sp>
      <p:sp>
        <p:nvSpPr>
          <p:cNvPr id="23" name="S"/>
          <p:cNvSpPr/>
          <p:nvPr/>
        </p:nvSpPr>
        <p:spPr>
          <a:xfrm>
            <a:off x="534320" y="4440000"/>
            <a:ext cx="2745680" cy="360000"/>
          </a:xfrm>
          <a:prstGeom prst="roundRect">
            <a:avLst/>
          </a:prstGeom>
          <a:solidFill>
            <a:srgbClr val="FEF2F2"/>
          </a:solidFill>
          <a:ln w="9525">
            <a:solidFill>
              <a:srgbClr val="FECACA"/>
            </a:solidFill>
          </a:ln>
        </p:spPr>
      </p:sp>
      <p:sp>
        <p:nvSpPr>
          <p:cNvPr id="24" name="T"/>
          <p:cNvSpPr/>
          <p:nvPr/>
        </p:nvSpPr>
        <p:spPr>
          <a:xfrm>
            <a:off x="534320" y="4440000"/>
            <a:ext cx="2745680" cy="3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spcBef>
                <a:spcPts val="200"/>
              </a:spcBef>
              <a:buNone/>
            </a:pPr>
            <a:r>
              <a:rPr lang="ko-KR" sz="870" b="1" dirty="0">
                <a:solidFill>
                  <a:srgbClr val="B9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대전고법 2019노189 · 직무유기·비밀누설 유죄</a:t>
            </a:r>
          </a:p>
        </p:txBody>
      </p:sp>
      <p:sp>
        <p:nvSpPr>
          <p:cNvPr id="25" name="S"/>
          <p:cNvSpPr/>
          <p:nvPr/>
        </p:nvSpPr>
        <p:spPr>
          <a:xfrm>
            <a:off x="3680000" y="920000"/>
            <a:ext cx="5189680" cy="194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</p:sp>
      <p:sp>
        <p:nvSpPr>
          <p:cNvPr id="26" name="S"/>
          <p:cNvSpPr/>
          <p:nvPr/>
        </p:nvSpPr>
        <p:spPr>
          <a:xfrm>
            <a:off x="3680000" y="920000"/>
            <a:ext cx="5189680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7" name="T"/>
          <p:cNvSpPr/>
          <p:nvPr/>
        </p:nvSpPr>
        <p:spPr>
          <a:xfrm>
            <a:off x="3880000" y="1025000"/>
            <a:ext cx="4789680" cy="2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spcBef>
                <a:spcPts val="200"/>
              </a:spcBef>
              <a:buNone/>
            </a:pPr>
            <a:r>
              <a:rPr lang="ko-KR" sz="115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시연 시나리오</a:t>
            </a:r>
            <a:r>
              <a:rPr lang="ko-KR" sz="9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   이렇게 재현합니다</a:t>
            </a:r>
          </a:p>
        </p:txBody>
      </p:sp>
      <p:sp>
        <p:nvSpPr>
          <p:cNvPr id="28" name="S"/>
          <p:cNvSpPr/>
          <p:nvPr/>
        </p:nvSpPr>
        <p:spPr>
          <a:xfrm>
            <a:off x="3880000" y="1390000"/>
            <a:ext cx="300000" cy="3000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9" name="T"/>
          <p:cNvSpPr/>
          <p:nvPr/>
        </p:nvSpPr>
        <p:spPr>
          <a:xfrm>
            <a:off x="3880000" y="1378000"/>
            <a:ext cx="300000" cy="3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spcBef>
                <a:spcPts val="200"/>
              </a:spcBef>
              <a:buNone/>
            </a:pPr>
            <a:r>
              <a:rPr lang="ko-KR" sz="10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</a:p>
        </p:txBody>
      </p:sp>
      <p:sp>
        <p:nvSpPr>
          <p:cNvPr id="30" name="T"/>
          <p:cNvSpPr/>
          <p:nvPr/>
        </p:nvSpPr>
        <p:spPr>
          <a:xfrm>
            <a:off x="4280000" y="1360000"/>
            <a:ext cx="4350000" cy="3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5000"/>
              </a:lnSpc>
              <a:spcBef>
                <a:spcPts val="200"/>
              </a:spcBef>
              <a:buNone/>
            </a:pPr>
            <a:r>
              <a:rPr lang="ko-KR" sz="10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김형사가 관할 밖(비허용 위치)에서 로그인 시도</a:t>
            </a:r>
          </a:p>
        </p:txBody>
      </p:sp>
      <p:sp>
        <p:nvSpPr>
          <p:cNvPr id="31" name="S"/>
          <p:cNvSpPr/>
          <p:nvPr/>
        </p:nvSpPr>
        <p:spPr>
          <a:xfrm>
            <a:off x="3880000" y="1850000"/>
            <a:ext cx="300000" cy="3000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2" name="T"/>
          <p:cNvSpPr/>
          <p:nvPr/>
        </p:nvSpPr>
        <p:spPr>
          <a:xfrm>
            <a:off x="3880000" y="1838000"/>
            <a:ext cx="300000" cy="3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spcBef>
                <a:spcPts val="200"/>
              </a:spcBef>
              <a:buNone/>
            </a:pPr>
            <a:r>
              <a:rPr lang="ko-KR" sz="10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</a:p>
        </p:txBody>
      </p:sp>
      <p:sp>
        <p:nvSpPr>
          <p:cNvPr id="33" name="T"/>
          <p:cNvSpPr/>
          <p:nvPr/>
        </p:nvSpPr>
        <p:spPr>
          <a:xfrm>
            <a:off x="4280000" y="1820000"/>
            <a:ext cx="4350000" cy="3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5000"/>
              </a:lnSpc>
              <a:spcBef>
                <a:spcPts val="200"/>
              </a:spcBef>
              <a:buNone/>
            </a:pPr>
            <a:r>
              <a:rPr lang="ko-KR" sz="10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위치 검증 단계에서 로그인 즉시 차단</a:t>
            </a:r>
          </a:p>
        </p:txBody>
      </p:sp>
      <p:sp>
        <p:nvSpPr>
          <p:cNvPr id="34" name="S"/>
          <p:cNvSpPr/>
          <p:nvPr/>
        </p:nvSpPr>
        <p:spPr>
          <a:xfrm>
            <a:off x="3880000" y="2310000"/>
            <a:ext cx="300000" cy="3000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5" name="T"/>
          <p:cNvSpPr/>
          <p:nvPr/>
        </p:nvSpPr>
        <p:spPr>
          <a:xfrm>
            <a:off x="3880000" y="2298000"/>
            <a:ext cx="300000" cy="3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spcBef>
                <a:spcPts val="200"/>
              </a:spcBef>
              <a:buNone/>
            </a:pPr>
            <a:r>
              <a:rPr lang="ko-KR" sz="10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</a:p>
        </p:txBody>
      </p:sp>
      <p:sp>
        <p:nvSpPr>
          <p:cNvPr id="36" name="T"/>
          <p:cNvSpPr/>
          <p:nvPr/>
        </p:nvSpPr>
        <p:spPr>
          <a:xfrm>
            <a:off x="4280000" y="2280000"/>
            <a:ext cx="4350000" cy="3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5000"/>
              </a:lnSpc>
              <a:spcBef>
                <a:spcPts val="200"/>
              </a:spcBef>
              <a:buNone/>
            </a:pPr>
            <a:r>
              <a:rPr lang="ko-KR" sz="10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등록된 근무지·단말에서만 접속 가능 확인</a:t>
            </a:r>
          </a:p>
        </p:txBody>
      </p:sp>
      <p:sp>
        <p:nvSpPr>
          <p:cNvPr id="37" name="S"/>
          <p:cNvSpPr/>
          <p:nvPr/>
        </p:nvSpPr>
        <p:spPr>
          <a:xfrm>
            <a:off x="3680000" y="3060000"/>
            <a:ext cx="5189680" cy="192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</p:sp>
      <p:sp>
        <p:nvSpPr>
          <p:cNvPr id="38" name="S"/>
          <p:cNvSpPr/>
          <p:nvPr/>
        </p:nvSpPr>
        <p:spPr>
          <a:xfrm>
            <a:off x="3680000" y="3060000"/>
            <a:ext cx="5189680" cy="7315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9" name="T"/>
          <p:cNvSpPr/>
          <p:nvPr/>
        </p:nvSpPr>
        <p:spPr>
          <a:xfrm>
            <a:off x="3880000" y="3165000"/>
            <a:ext cx="4789680" cy="2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spcBef>
                <a:spcPts val="200"/>
              </a:spcBef>
              <a:buNone/>
            </a:pPr>
            <a:r>
              <a:rPr lang="ko-KR" sz="1150" b="1" dirty="0">
                <a:solidFill>
                  <a:srgbClr val="16A3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시스템 대응</a:t>
            </a:r>
            <a:r>
              <a:rPr lang="ko-KR" sz="9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   남용 가능 접근을 통제</a:t>
            </a:r>
          </a:p>
        </p:txBody>
      </p:sp>
      <p:sp>
        <p:nvSpPr>
          <p:cNvPr id="40" name="T"/>
          <p:cNvSpPr/>
          <p:nvPr/>
        </p:nvSpPr>
        <p:spPr>
          <a:xfrm>
            <a:off x="3880000" y="3500000"/>
            <a:ext cx="300000" cy="34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spcBef>
                <a:spcPts val="200"/>
              </a:spcBef>
              <a:buNone/>
            </a:pPr>
            <a:r>
              <a:rPr lang="ko-KR" sz="1100" b="1" dirty="0">
                <a:solidFill>
                  <a:srgbClr val="16A3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✓</a:t>
            </a:r>
          </a:p>
        </p:txBody>
      </p:sp>
      <p:sp>
        <p:nvSpPr>
          <p:cNvPr id="41" name="T"/>
          <p:cNvSpPr/>
          <p:nvPr/>
        </p:nvSpPr>
        <p:spPr>
          <a:xfrm>
            <a:off x="4210000" y="3500000"/>
            <a:ext cx="4400000" cy="3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5000"/>
              </a:lnSpc>
              <a:spcBef>
                <a:spcPts val="200"/>
              </a:spcBef>
              <a:buNone/>
            </a:pPr>
            <a:r>
              <a:rPr lang="ko-KR" sz="10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등록되지 않은 위치는 로그인 단계부터 차단</a:t>
            </a:r>
          </a:p>
        </p:txBody>
      </p:sp>
      <p:sp>
        <p:nvSpPr>
          <p:cNvPr id="42" name="T"/>
          <p:cNvSpPr/>
          <p:nvPr/>
        </p:nvSpPr>
        <p:spPr>
          <a:xfrm>
            <a:off x="3880000" y="3840000"/>
            <a:ext cx="300000" cy="34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spcBef>
                <a:spcPts val="200"/>
              </a:spcBef>
              <a:buNone/>
            </a:pPr>
            <a:r>
              <a:rPr lang="ko-KR" sz="1100" b="1" dirty="0">
                <a:solidFill>
                  <a:srgbClr val="16A3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✓</a:t>
            </a:r>
          </a:p>
        </p:txBody>
      </p:sp>
      <p:sp>
        <p:nvSpPr>
          <p:cNvPr id="43" name="T"/>
          <p:cNvSpPr/>
          <p:nvPr/>
        </p:nvSpPr>
        <p:spPr>
          <a:xfrm>
            <a:off x="4210000" y="3840000"/>
            <a:ext cx="4400000" cy="3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5000"/>
              </a:lnSpc>
              <a:spcBef>
                <a:spcPts val="200"/>
              </a:spcBef>
              <a:buNone/>
            </a:pPr>
            <a:r>
              <a:rPr lang="ko-KR" sz="10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신원이 유효해도 위치 검증 통과가 필수</a:t>
            </a:r>
          </a:p>
        </p:txBody>
      </p:sp>
      <p:sp>
        <p:nvSpPr>
          <p:cNvPr id="44" name="T"/>
          <p:cNvSpPr/>
          <p:nvPr/>
        </p:nvSpPr>
        <p:spPr>
          <a:xfrm>
            <a:off x="3880000" y="4180000"/>
            <a:ext cx="300000" cy="34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spcBef>
                <a:spcPts val="200"/>
              </a:spcBef>
              <a:buNone/>
            </a:pPr>
            <a:r>
              <a:rPr lang="ko-KR" sz="1100" b="1" dirty="0">
                <a:solidFill>
                  <a:srgbClr val="16A3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✓</a:t>
            </a:r>
          </a:p>
        </p:txBody>
      </p:sp>
      <p:sp>
        <p:nvSpPr>
          <p:cNvPr id="45" name="T"/>
          <p:cNvSpPr/>
          <p:nvPr/>
        </p:nvSpPr>
        <p:spPr>
          <a:xfrm>
            <a:off x="4210000" y="4180000"/>
            <a:ext cx="4400000" cy="3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5000"/>
              </a:lnSpc>
              <a:spcBef>
                <a:spcPts val="200"/>
              </a:spcBef>
              <a:buNone/>
            </a:pPr>
            <a:r>
              <a:rPr lang="ko-KR" sz="10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관할·근무지 밖 접근은 환경 위험으로 즉시 거부</a:t>
            </a:r>
          </a:p>
        </p:txBody>
      </p:sp>
      <p:sp>
        <p:nvSpPr>
          <p:cNvPr id="46" name="T"/>
          <p:cNvSpPr/>
          <p:nvPr/>
        </p:nvSpPr>
        <p:spPr>
          <a:xfrm>
            <a:off x="3880000" y="4520000"/>
            <a:ext cx="300000" cy="34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spcBef>
                <a:spcPts val="200"/>
              </a:spcBef>
              <a:buNone/>
            </a:pPr>
            <a:r>
              <a:rPr lang="ko-KR" sz="1100" b="1" dirty="0">
                <a:solidFill>
                  <a:srgbClr val="16A3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✓</a:t>
            </a:r>
          </a:p>
        </p:txBody>
      </p:sp>
      <p:sp>
        <p:nvSpPr>
          <p:cNvPr id="47" name="T"/>
          <p:cNvSpPr/>
          <p:nvPr/>
        </p:nvSpPr>
        <p:spPr>
          <a:xfrm>
            <a:off x="4210000" y="4520000"/>
            <a:ext cx="4400000" cy="3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5000"/>
              </a:lnSpc>
              <a:spcBef>
                <a:spcPts val="200"/>
              </a:spcBef>
              <a:buNone/>
            </a:pPr>
            <a:r>
              <a:rPr lang="ko-KR" sz="10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차단된 로그인 시도도 전부 감사 로그 기록</a:t>
            </a:r>
          </a:p>
        </p:txBody>
      </p:sp>
      <p:sp>
        <p:nvSpPr>
          <p:cNvPr id="2" name="T">
            <a:extLst>
              <a:ext uri="{FF2B5EF4-FFF2-40B4-BE49-F238E27FC236}">
                <a16:creationId xmlns:a16="http://schemas.microsoft.com/office/drawing/2014/main" id="{CCC94660-AB36-7363-0D1C-0B79DFBCDFA0}"/>
              </a:ext>
            </a:extLst>
          </p:cNvPr>
          <p:cNvSpPr/>
          <p:nvPr/>
        </p:nvSpPr>
        <p:spPr>
          <a:xfrm>
            <a:off x="274320" y="1350000"/>
            <a:ext cx="3265680" cy="6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spcBef>
                <a:spcPts val="200"/>
              </a:spcBef>
              <a:buNone/>
            </a:pPr>
            <a:r>
              <a:rPr lang="ko-KR" sz="2600" dirty="0">
                <a:solidFill>
                  <a:srgbClr val="0D1B3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⚖️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mo">
    <p:bg>
      <p:bgPr>
        <a:solidFill>
          <a:srgbClr val="F0F4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S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3B9FE8"/>
          </a:solidFill>
          <a:ln/>
        </p:spPr>
      </p:sp>
      <p:sp>
        <p:nvSpPr>
          <p:cNvPr id="89" name="S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0B1E3D"/>
          </a:solidFill>
          <a:ln/>
        </p:spPr>
      </p:sp>
      <p:sp>
        <p:nvSpPr>
          <p:cNvPr id="90" name="T"/>
          <p:cNvSpPr/>
          <p:nvPr/>
        </p:nvSpPr>
        <p:spPr>
          <a:xfrm>
            <a:off x="274320" y="64008"/>
            <a:ext cx="8595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spcBef>
                <a:spcPts val="200"/>
              </a:spcBef>
              <a:buNone/>
            </a:pPr>
            <a:r>
              <a:rPr lang="ko-KR" sz="17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08   시연 ③   ·   비담당 사건 반복 접근</a:t>
            </a:r>
          </a:p>
        </p:txBody>
      </p:sp>
      <p:sp>
        <p:nvSpPr>
          <p:cNvPr id="91" name="S"/>
          <p:cNvSpPr/>
          <p:nvPr/>
        </p:nvSpPr>
        <p:spPr>
          <a:xfrm>
            <a:off x="274320" y="530352"/>
            <a:ext cx="310896" cy="201168"/>
          </a:xfrm>
          <a:prstGeom prst="rect">
            <a:avLst/>
          </a:prstGeom>
          <a:solidFill>
            <a:srgbClr val="1E5FA8"/>
          </a:solidFill>
          <a:ln/>
        </p:spPr>
      </p:sp>
      <p:sp>
        <p:nvSpPr>
          <p:cNvPr id="92" name="T"/>
          <p:cNvSpPr/>
          <p:nvPr/>
        </p:nvSpPr>
        <p:spPr>
          <a:xfrm>
            <a:off x="274320" y="524000"/>
            <a:ext cx="310896" cy="21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spcBef>
                <a:spcPts val="200"/>
              </a:spcBef>
              <a:buNone/>
            </a:pPr>
            <a:r>
              <a:rPr lang="ko-KR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▶</a:t>
            </a:r>
          </a:p>
        </p:txBody>
      </p:sp>
      <p:sp>
        <p:nvSpPr>
          <p:cNvPr id="93" name="T"/>
          <p:cNvSpPr/>
          <p:nvPr/>
        </p:nvSpPr>
        <p:spPr>
          <a:xfrm>
            <a:off x="658368" y="539496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spcBef>
                <a:spcPts val="200"/>
              </a:spcBef>
              <a:buNone/>
            </a:pPr>
            <a:r>
              <a:rPr lang="ko-KR" sz="105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실제 사건과 매핑 — 시연으로 시스템의 실시간 대응을 확인</a:t>
            </a:r>
          </a:p>
        </p:txBody>
      </p:sp>
      <p:sp>
        <p:nvSpPr>
          <p:cNvPr id="94" name="S"/>
          <p:cNvSpPr/>
          <p:nvPr/>
        </p:nvSpPr>
        <p:spPr>
          <a:xfrm>
            <a:off x="274320" y="920000"/>
            <a:ext cx="3265680" cy="406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</p:sp>
      <p:sp>
        <p:nvSpPr>
          <p:cNvPr id="95" name="S"/>
          <p:cNvSpPr/>
          <p:nvPr/>
        </p:nvSpPr>
        <p:spPr>
          <a:xfrm>
            <a:off x="274320" y="920000"/>
            <a:ext cx="3265680" cy="7315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96" name="T"/>
          <p:cNvSpPr/>
          <p:nvPr/>
        </p:nvSpPr>
        <p:spPr>
          <a:xfrm>
            <a:off x="274320" y="1040000"/>
            <a:ext cx="3265680" cy="2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spcBef>
                <a:spcPts val="200"/>
              </a:spcBef>
              <a:buNone/>
            </a:pPr>
            <a:r>
              <a:rPr lang="ko-KR" sz="1150" b="1" dirty="0">
                <a:solidFill>
                  <a:srgbClr val="DC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실제 사건</a:t>
            </a:r>
          </a:p>
        </p:txBody>
      </p:sp>
      <p:sp>
        <p:nvSpPr>
          <p:cNvPr id="97" name="T"/>
          <p:cNvSpPr/>
          <p:nvPr/>
        </p:nvSpPr>
        <p:spPr>
          <a:xfrm>
            <a:off x="274320" y="1350000"/>
            <a:ext cx="3265680" cy="6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spcBef>
                <a:spcPts val="200"/>
              </a:spcBef>
              <a:buNone/>
            </a:pPr>
            <a:r>
              <a:rPr lang="ko-KR" sz="2600" dirty="0">
                <a:solidFill>
                  <a:srgbClr val="0D1B3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⚖️</a:t>
            </a:r>
          </a:p>
        </p:txBody>
      </p:sp>
      <p:sp>
        <p:nvSpPr>
          <p:cNvPr id="98" name="T"/>
          <p:cNvSpPr/>
          <p:nvPr/>
        </p:nvSpPr>
        <p:spPr>
          <a:xfrm>
            <a:off x="454320" y="2040000"/>
            <a:ext cx="2905680" cy="5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spcBef>
                <a:spcPts val="200"/>
              </a:spcBef>
              <a:buNone/>
            </a:pPr>
            <a:r>
              <a:rPr lang="ko-KR" sz="1300" b="1" dirty="0">
                <a:solidFill>
                  <a:srgbClr val="0D1B3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KICS 비담당 사건 반복 무단 열람</a:t>
            </a:r>
          </a:p>
        </p:txBody>
      </p:sp>
      <p:sp>
        <p:nvSpPr>
          <p:cNvPr id="99" name="T"/>
          <p:cNvSpPr/>
          <p:nvPr/>
        </p:nvSpPr>
        <p:spPr>
          <a:xfrm>
            <a:off x="454320" y="2680000"/>
            <a:ext cx="2905680" cy="11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30000"/>
              </a:lnSpc>
              <a:spcBef>
                <a:spcPts val="200"/>
              </a:spcBef>
              <a:buNone/>
            </a:pPr>
            <a:r>
              <a:rPr lang="ko-KR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지인 부탁으로 사건정보 무단 열람</a:t>
            </a:r>
          </a:p>
          <a:p>
            <a:pPr marL="0" indent="0" algn="ctr">
              <a:lnSpc>
                <a:spcPct val="130000"/>
              </a:lnSpc>
              <a:spcBef>
                <a:spcPts val="200"/>
              </a:spcBef>
              <a:buNone/>
            </a:pPr>
            <a:r>
              <a:rPr lang="ko-KR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유사 범행으로 전보된 뒤에도 재차 열람</a:t>
            </a:r>
          </a:p>
          <a:p>
            <a:pPr marL="0" indent="0" algn="ctr">
              <a:lnSpc>
                <a:spcPct val="130000"/>
              </a:lnSpc>
              <a:spcBef>
                <a:spcPts val="200"/>
              </a:spcBef>
              <a:buNone/>
            </a:pPr>
            <a:r>
              <a:rPr lang="ko-KR" sz="10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감찰·수사 중에도 재범</a:t>
            </a:r>
          </a:p>
        </p:txBody>
      </p:sp>
      <p:sp>
        <p:nvSpPr>
          <p:cNvPr id="100" name="S"/>
          <p:cNvSpPr/>
          <p:nvPr/>
        </p:nvSpPr>
        <p:spPr>
          <a:xfrm>
            <a:off x="534320" y="4440000"/>
            <a:ext cx="2745680" cy="360000"/>
          </a:xfrm>
          <a:prstGeom prst="roundRect">
            <a:avLst/>
          </a:prstGeom>
          <a:solidFill>
            <a:srgbClr val="FEF2F2"/>
          </a:solidFill>
          <a:ln w="9525">
            <a:solidFill>
              <a:srgbClr val="FECACA"/>
            </a:solidFill>
          </a:ln>
        </p:spPr>
      </p:sp>
      <p:sp>
        <p:nvSpPr>
          <p:cNvPr id="101" name="T"/>
          <p:cNvSpPr/>
          <p:nvPr/>
        </p:nvSpPr>
        <p:spPr>
          <a:xfrm>
            <a:off x="534320" y="4440000"/>
            <a:ext cx="2745680" cy="3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spcBef>
                <a:spcPts val="200"/>
              </a:spcBef>
              <a:buNone/>
            </a:pPr>
            <a:r>
              <a:rPr lang="ko-KR" sz="870" b="1" dirty="0">
                <a:solidFill>
                  <a:srgbClr val="B9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징역 8개월·집유 2년 (형사사법절차전자화촉진법 위반)</a:t>
            </a:r>
          </a:p>
        </p:txBody>
      </p:sp>
      <p:sp>
        <p:nvSpPr>
          <p:cNvPr id="102" name="S"/>
          <p:cNvSpPr/>
          <p:nvPr/>
        </p:nvSpPr>
        <p:spPr>
          <a:xfrm>
            <a:off x="3680000" y="920000"/>
            <a:ext cx="5189680" cy="194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</p:sp>
      <p:sp>
        <p:nvSpPr>
          <p:cNvPr id="103" name="S"/>
          <p:cNvSpPr/>
          <p:nvPr/>
        </p:nvSpPr>
        <p:spPr>
          <a:xfrm>
            <a:off x="3680000" y="920000"/>
            <a:ext cx="5189680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04" name="T"/>
          <p:cNvSpPr/>
          <p:nvPr/>
        </p:nvSpPr>
        <p:spPr>
          <a:xfrm>
            <a:off x="3880000" y="1025000"/>
            <a:ext cx="4789680" cy="2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spcBef>
                <a:spcPts val="200"/>
              </a:spcBef>
              <a:buNone/>
            </a:pPr>
            <a:r>
              <a:rPr lang="ko-KR" sz="115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시연 시나리오</a:t>
            </a:r>
            <a:r>
              <a:rPr lang="ko-KR" sz="9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   이렇게 재현합니다</a:t>
            </a:r>
          </a:p>
        </p:txBody>
      </p:sp>
      <p:sp>
        <p:nvSpPr>
          <p:cNvPr id="105" name="S"/>
          <p:cNvSpPr/>
          <p:nvPr/>
        </p:nvSpPr>
        <p:spPr>
          <a:xfrm>
            <a:off x="3880000" y="1390000"/>
            <a:ext cx="300000" cy="3000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06" name="T"/>
          <p:cNvSpPr/>
          <p:nvPr/>
        </p:nvSpPr>
        <p:spPr>
          <a:xfrm>
            <a:off x="3880000" y="1378000"/>
            <a:ext cx="300000" cy="3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spcBef>
                <a:spcPts val="200"/>
              </a:spcBef>
              <a:buNone/>
            </a:pPr>
            <a:r>
              <a:rPr lang="ko-KR" sz="10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</a:p>
        </p:txBody>
      </p:sp>
      <p:sp>
        <p:nvSpPr>
          <p:cNvPr id="107" name="T"/>
          <p:cNvSpPr/>
          <p:nvPr/>
        </p:nvSpPr>
        <p:spPr>
          <a:xfrm>
            <a:off x="4280000" y="1360000"/>
            <a:ext cx="4350000" cy="3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5000"/>
              </a:lnSpc>
              <a:spcBef>
                <a:spcPts val="200"/>
              </a:spcBef>
              <a:buNone/>
            </a:pPr>
            <a:r>
              <a:rPr lang="ko-KR" sz="10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김형사(악의적 내부자)가 비담당 사건 반복 접근</a:t>
            </a:r>
          </a:p>
        </p:txBody>
      </p:sp>
      <p:sp>
        <p:nvSpPr>
          <p:cNvPr id="108" name="S"/>
          <p:cNvSpPr/>
          <p:nvPr/>
        </p:nvSpPr>
        <p:spPr>
          <a:xfrm>
            <a:off x="3880000" y="1850000"/>
            <a:ext cx="300000" cy="3000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09" name="T"/>
          <p:cNvSpPr/>
          <p:nvPr/>
        </p:nvSpPr>
        <p:spPr>
          <a:xfrm>
            <a:off x="3880000" y="1838000"/>
            <a:ext cx="300000" cy="3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spcBef>
                <a:spcPts val="200"/>
              </a:spcBef>
              <a:buNone/>
            </a:pPr>
            <a:r>
              <a:rPr lang="ko-KR" sz="10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</a:p>
        </p:txBody>
      </p:sp>
      <p:sp>
        <p:nvSpPr>
          <p:cNvPr id="110" name="T"/>
          <p:cNvSpPr/>
          <p:nvPr/>
        </p:nvSpPr>
        <p:spPr>
          <a:xfrm>
            <a:off x="4280000" y="1820000"/>
            <a:ext cx="4350000" cy="3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5000"/>
              </a:lnSpc>
              <a:spcBef>
                <a:spcPts val="200"/>
              </a:spcBef>
              <a:buNone/>
            </a:pPr>
            <a:r>
              <a:rPr lang="ko-KR" sz="10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접근할 때마다 행동위험도 누적 (회당 가산)</a:t>
            </a:r>
          </a:p>
        </p:txBody>
      </p:sp>
      <p:sp>
        <p:nvSpPr>
          <p:cNvPr id="111" name="S"/>
          <p:cNvSpPr/>
          <p:nvPr/>
        </p:nvSpPr>
        <p:spPr>
          <a:xfrm>
            <a:off x="3880000" y="2310000"/>
            <a:ext cx="300000" cy="3000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12" name="T"/>
          <p:cNvSpPr/>
          <p:nvPr/>
        </p:nvSpPr>
        <p:spPr>
          <a:xfrm>
            <a:off x="3880000" y="2298000"/>
            <a:ext cx="300000" cy="3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spcBef>
                <a:spcPts val="200"/>
              </a:spcBef>
              <a:buNone/>
            </a:pPr>
            <a:r>
              <a:rPr lang="ko-KR" sz="10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</a:p>
        </p:txBody>
      </p:sp>
      <p:sp>
        <p:nvSpPr>
          <p:cNvPr id="113" name="T"/>
          <p:cNvSpPr/>
          <p:nvPr/>
        </p:nvSpPr>
        <p:spPr>
          <a:xfrm>
            <a:off x="4280000" y="2280000"/>
            <a:ext cx="4350000" cy="3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5000"/>
              </a:lnSpc>
              <a:spcBef>
                <a:spcPts val="200"/>
              </a:spcBef>
              <a:buNone/>
            </a:pPr>
            <a:r>
              <a:rPr lang="ko-KR" sz="10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위험 점수 상승 → 레벨·권한 실시간 갱신</a:t>
            </a:r>
          </a:p>
        </p:txBody>
      </p:sp>
      <p:sp>
        <p:nvSpPr>
          <p:cNvPr id="114" name="S"/>
          <p:cNvSpPr/>
          <p:nvPr/>
        </p:nvSpPr>
        <p:spPr>
          <a:xfrm>
            <a:off x="3680000" y="3060000"/>
            <a:ext cx="5189680" cy="192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</p:sp>
      <p:sp>
        <p:nvSpPr>
          <p:cNvPr id="115" name="S"/>
          <p:cNvSpPr/>
          <p:nvPr/>
        </p:nvSpPr>
        <p:spPr>
          <a:xfrm>
            <a:off x="3680000" y="3060000"/>
            <a:ext cx="5189680" cy="7315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16" name="T"/>
          <p:cNvSpPr/>
          <p:nvPr/>
        </p:nvSpPr>
        <p:spPr>
          <a:xfrm>
            <a:off x="3880000" y="3165000"/>
            <a:ext cx="4789680" cy="2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spcBef>
                <a:spcPts val="200"/>
              </a:spcBef>
              <a:buNone/>
            </a:pPr>
            <a:r>
              <a:rPr lang="ko-KR" sz="1150" b="1" dirty="0">
                <a:solidFill>
                  <a:srgbClr val="16A3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시스템 대응</a:t>
            </a:r>
            <a:r>
              <a:rPr lang="ko-KR" sz="9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   남용 가능 접근을 통제</a:t>
            </a:r>
          </a:p>
        </p:txBody>
      </p:sp>
      <p:sp>
        <p:nvSpPr>
          <p:cNvPr id="117" name="T"/>
          <p:cNvSpPr/>
          <p:nvPr/>
        </p:nvSpPr>
        <p:spPr>
          <a:xfrm>
            <a:off x="3880000" y="3500000"/>
            <a:ext cx="300000" cy="34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spcBef>
                <a:spcPts val="200"/>
              </a:spcBef>
              <a:buNone/>
            </a:pPr>
            <a:r>
              <a:rPr lang="ko-KR" sz="1100" b="1" dirty="0">
                <a:solidFill>
                  <a:srgbClr val="16A3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✓</a:t>
            </a:r>
          </a:p>
        </p:txBody>
      </p:sp>
      <p:sp>
        <p:nvSpPr>
          <p:cNvPr id="118" name="T"/>
          <p:cNvSpPr/>
          <p:nvPr/>
        </p:nvSpPr>
        <p:spPr>
          <a:xfrm>
            <a:off x="4210000" y="3500000"/>
            <a:ext cx="4400000" cy="3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5000"/>
              </a:lnSpc>
              <a:spcBef>
                <a:spcPts val="200"/>
              </a:spcBef>
              <a:buNone/>
            </a:pPr>
            <a:r>
              <a:rPr lang="ko-KR" sz="10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비담당 반복 접근 → 행동위험도 누적</a:t>
            </a:r>
          </a:p>
        </p:txBody>
      </p:sp>
      <p:sp>
        <p:nvSpPr>
          <p:cNvPr id="119" name="T"/>
          <p:cNvSpPr/>
          <p:nvPr/>
        </p:nvSpPr>
        <p:spPr>
          <a:xfrm>
            <a:off x="3880000" y="3840000"/>
            <a:ext cx="300000" cy="34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spcBef>
                <a:spcPts val="200"/>
              </a:spcBef>
              <a:buNone/>
            </a:pPr>
            <a:r>
              <a:rPr lang="ko-KR" sz="1100" b="1" dirty="0">
                <a:solidFill>
                  <a:srgbClr val="16A3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✓</a:t>
            </a:r>
          </a:p>
        </p:txBody>
      </p:sp>
      <p:sp>
        <p:nvSpPr>
          <p:cNvPr id="120" name="T"/>
          <p:cNvSpPr/>
          <p:nvPr/>
        </p:nvSpPr>
        <p:spPr>
          <a:xfrm>
            <a:off x="4210000" y="3840000"/>
            <a:ext cx="4400000" cy="3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5000"/>
              </a:lnSpc>
              <a:spcBef>
                <a:spcPts val="200"/>
              </a:spcBef>
              <a:buNone/>
            </a:pPr>
            <a:r>
              <a:rPr lang="ko-KR" sz="10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위험 점수 상승 → 접근 레벨 상향</a:t>
            </a:r>
          </a:p>
        </p:txBody>
      </p:sp>
      <p:sp>
        <p:nvSpPr>
          <p:cNvPr id="121" name="T"/>
          <p:cNvSpPr/>
          <p:nvPr/>
        </p:nvSpPr>
        <p:spPr>
          <a:xfrm>
            <a:off x="3880000" y="4180000"/>
            <a:ext cx="300000" cy="34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spcBef>
                <a:spcPts val="200"/>
              </a:spcBef>
              <a:buNone/>
            </a:pPr>
            <a:r>
              <a:rPr lang="ko-KR" sz="1100" b="1" dirty="0">
                <a:solidFill>
                  <a:srgbClr val="16A3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✓</a:t>
            </a:r>
          </a:p>
        </p:txBody>
      </p:sp>
      <p:sp>
        <p:nvSpPr>
          <p:cNvPr id="122" name="T"/>
          <p:cNvSpPr/>
          <p:nvPr/>
        </p:nvSpPr>
        <p:spPr>
          <a:xfrm>
            <a:off x="4210000" y="4180000"/>
            <a:ext cx="4400000" cy="3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5000"/>
              </a:lnSpc>
              <a:spcBef>
                <a:spcPts val="200"/>
              </a:spcBef>
              <a:buNone/>
            </a:pPr>
            <a:r>
              <a:rPr lang="ko-KR" sz="10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권한 실시간 강등 → 담당 사건까지 차단</a:t>
            </a:r>
          </a:p>
        </p:txBody>
      </p:sp>
      <p:sp>
        <p:nvSpPr>
          <p:cNvPr id="123" name="T"/>
          <p:cNvSpPr/>
          <p:nvPr/>
        </p:nvSpPr>
        <p:spPr>
          <a:xfrm>
            <a:off x="3880000" y="4520000"/>
            <a:ext cx="300000" cy="34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spcBef>
                <a:spcPts val="200"/>
              </a:spcBef>
              <a:buNone/>
            </a:pPr>
            <a:r>
              <a:rPr lang="ko-KR" sz="1100" b="1" dirty="0">
                <a:solidFill>
                  <a:srgbClr val="16A3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✓</a:t>
            </a:r>
          </a:p>
        </p:txBody>
      </p:sp>
      <p:sp>
        <p:nvSpPr>
          <p:cNvPr id="124" name="T"/>
          <p:cNvSpPr/>
          <p:nvPr/>
        </p:nvSpPr>
        <p:spPr>
          <a:xfrm>
            <a:off x="4210000" y="4520000"/>
            <a:ext cx="4400000" cy="3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5000"/>
              </a:lnSpc>
              <a:spcBef>
                <a:spcPts val="200"/>
              </a:spcBef>
              <a:buNone/>
            </a:pPr>
            <a:r>
              <a:rPr lang="ko-KR" sz="10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시도·차단 전 과정 감사 로그 기록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E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3B9FE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860036"/>
            <a:ext cx="9144000" cy="283464"/>
          </a:xfrm>
          <a:prstGeom prst="rect">
            <a:avLst/>
          </a:prstGeom>
          <a:solidFill>
            <a:srgbClr val="061525"/>
          </a:solidFill>
          <a:ln/>
        </p:spPr>
      </p:sp>
      <p:sp>
        <p:nvSpPr>
          <p:cNvPr id="4" name="Text 2"/>
          <p:cNvSpPr/>
          <p:nvPr/>
        </p:nvSpPr>
        <p:spPr>
          <a:xfrm>
            <a:off x="347472" y="144018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감사합니다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457200" y="2804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3B9FE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경찰 전용 동적 제로트러스트 접근제어 시스템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2767504"/>
            <a:ext cx="4572000" cy="22860"/>
          </a:xfrm>
          <a:prstGeom prst="rect">
            <a:avLst/>
          </a:prstGeom>
          <a:solidFill>
            <a:srgbClr val="3B9FE8"/>
          </a:solidFill>
          <a:ln/>
        </p:spPr>
      </p:sp>
      <p:sp>
        <p:nvSpPr>
          <p:cNvPr id="16" name="Text 14"/>
          <p:cNvSpPr/>
          <p:nvPr/>
        </p:nvSpPr>
        <p:spPr>
          <a:xfrm>
            <a:off x="347472" y="4905756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7F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무신뢰 보안단  |  정재홍 · 허준 · 홍준원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KR" panose="020F0302020204030204"/>
        <a:ea typeface="Noto Sans KR"/>
        <a:cs typeface=""/>
        <a:font script="Jpan" typeface="游ゴシック Light"/>
        <a:font script="Hang" typeface="Noto Sans KR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KR" panose="020F0502020204030204"/>
        <a:ea typeface="Noto Sans KR"/>
        <a:cs typeface=""/>
        <a:font script="Jpan" typeface="游ゴシック"/>
        <a:font script="Hang" typeface="Noto Sans KR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1748</Words>
  <Application>Microsoft Office PowerPoint</Application>
  <PresentationFormat>화면 슬라이드 쇼(16:9)</PresentationFormat>
  <Paragraphs>383</Paragraphs>
  <Slides>15</Slides>
  <Notes>10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19" baseType="lpstr">
      <vt:lpstr>Noto Sans KR</vt:lpstr>
      <vt:lpstr>Arial</vt:lpstr>
      <vt:lpstr>Segoe UI Emoji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지연 오</cp:lastModifiedBy>
  <cp:revision>6</cp:revision>
  <dcterms:created xsi:type="dcterms:W3CDTF">2026-06-06T07:43:13Z</dcterms:created>
  <dcterms:modified xsi:type="dcterms:W3CDTF">2026-06-08T09:56:32Z</dcterms:modified>
</cp:coreProperties>
</file>